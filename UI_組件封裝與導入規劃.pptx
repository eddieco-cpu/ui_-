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17c31909c04eed" /><Relationship Type="http://schemas.openxmlformats.org/officeDocument/2006/relationships/extended-properties" Target="/docProps/app.xml" Id="R2bb6dc4f6a4042d5" /><Relationship Type="http://schemas.openxmlformats.org/officeDocument/2006/relationships/officeDocument" Target="/ppt/presentation.xml" Id="R405cdf18039e42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d85c860e3b412b"/>
  </p:sldMasterIdLst>
  <p:notesMasterIdLst>
    <p:notesMasterId xmlns:r="http://schemas.openxmlformats.org/officeDocument/2006/relationships" r:id="Re4deba7438184299"/>
  </p:notesMasterIdLst>
  <p:sldIdLst>
    <p:sldId xmlns:r="http://schemas.openxmlformats.org/officeDocument/2006/relationships" id="256" r:id="R6c1eb434463c4d36"/>
    <p:sldId xmlns:r="http://schemas.openxmlformats.org/officeDocument/2006/relationships" id="257" r:id="Rc5db5e6919c847c6"/>
    <p:sldId xmlns:r="http://schemas.openxmlformats.org/officeDocument/2006/relationships" id="258" r:id="R40078d5d66994079"/>
    <p:sldId xmlns:r="http://schemas.openxmlformats.org/officeDocument/2006/relationships" id="259" r:id="Rd1c6a97500a74260"/>
    <p:sldId xmlns:r="http://schemas.openxmlformats.org/officeDocument/2006/relationships" id="260" r:id="Rbd786dcb63ae4ad3"/>
    <p:sldId xmlns:r="http://schemas.openxmlformats.org/officeDocument/2006/relationships" id="261" r:id="R1934c33a079d43b6"/>
    <p:sldId xmlns:r="http://schemas.openxmlformats.org/officeDocument/2006/relationships" id="262" r:id="R951d1cdf58c144f2"/>
    <p:sldId xmlns:r="http://schemas.openxmlformats.org/officeDocument/2006/relationships" id="263" r:id="R616892c02d5e4ab0"/>
    <p:sldId xmlns:r="http://schemas.openxmlformats.org/officeDocument/2006/relationships" id="264" r:id="Rf6bf2d8e8327461e"/>
    <p:sldId xmlns:r="http://schemas.openxmlformats.org/officeDocument/2006/relationships" id="265" r:id="R2c5314354af745ef"/>
    <p:sldId xmlns:r="http://schemas.openxmlformats.org/officeDocument/2006/relationships" id="266" r:id="Rde2beeaa1c2e48c3"/>
    <p:sldId xmlns:r="http://schemas.openxmlformats.org/officeDocument/2006/relationships" id="267" r:id="R70c0d323dcdc4b9a"/>
    <p:sldId xmlns:r="http://schemas.openxmlformats.org/officeDocument/2006/relationships" id="268" r:id="R7c3c41e4cde540b9"/>
    <p:sldId xmlns:r="http://schemas.openxmlformats.org/officeDocument/2006/relationships" id="269" r:id="Rf38aa5d7483b4c83"/>
    <p:sldId xmlns:r="http://schemas.openxmlformats.org/officeDocument/2006/relationships" id="270" r:id="Race0b10872914720"/>
    <p:sldId xmlns:r="http://schemas.openxmlformats.org/officeDocument/2006/relationships" id="271" r:id="Rb6be2c3ca7cd4be4"/>
    <p:sldId xmlns:r="http://schemas.openxmlformats.org/officeDocument/2006/relationships" id="272" r:id="R65609418fbde42fd"/>
    <p:sldId xmlns:r="http://schemas.openxmlformats.org/officeDocument/2006/relationships" id="273" r:id="R6373a50f73094d8e"/>
    <p:sldId xmlns:r="http://schemas.openxmlformats.org/officeDocument/2006/relationships" id="274" r:id="R8338dbb8b41f4c12"/>
    <p:sldId xmlns:r="http://schemas.openxmlformats.org/officeDocument/2006/relationships" id="275" r:id="R46c3b4899a3b4faf"/>
    <p:sldId xmlns:r="http://schemas.openxmlformats.org/officeDocument/2006/relationships" id="276" r:id="R1a82cb4c181e4b83"/>
    <p:sldId xmlns:r="http://schemas.openxmlformats.org/officeDocument/2006/relationships" id="277" r:id="R06ba74b5339540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394ccb90e64776" /><Relationship Type="http://schemas.openxmlformats.org/officeDocument/2006/relationships/slideMaster" Target="/ppt/slideMasters/slideMaster1.xml" Id="Recd85c860e3b412b" /><Relationship Type="http://schemas.openxmlformats.org/officeDocument/2006/relationships/notesMaster" Target="/ppt/notesMasters/notesMaster1.xml" Id="Re4deba7438184299" /><Relationship Type="http://schemas.openxmlformats.org/officeDocument/2006/relationships/presProps" Target="/ppt/presProps.xml" Id="Rb5f1e3552ca04cec" /><Relationship Type="http://schemas.openxmlformats.org/officeDocument/2006/relationships/tableStyles" Target="/ppt/tableStyles.xml" Id="R36d7cd6b97544c14" /><Relationship Type="http://schemas.openxmlformats.org/officeDocument/2006/relationships/slide" Target="/ppt/slides/slide1.xml" Id="R6c1eb434463c4d36" /><Relationship Type="http://schemas.openxmlformats.org/officeDocument/2006/relationships/slide" Target="/ppt/slides/slide2.xml" Id="Rc5db5e6919c847c6" /><Relationship Type="http://schemas.openxmlformats.org/officeDocument/2006/relationships/slide" Target="/ppt/slides/slide3.xml" Id="R40078d5d66994079" /><Relationship Type="http://schemas.openxmlformats.org/officeDocument/2006/relationships/slide" Target="/ppt/slides/slide4.xml" Id="Rd1c6a97500a74260" /><Relationship Type="http://schemas.openxmlformats.org/officeDocument/2006/relationships/slide" Target="/ppt/slides/slide5.xml" Id="Rbd786dcb63ae4ad3" /><Relationship Type="http://schemas.openxmlformats.org/officeDocument/2006/relationships/slide" Target="/ppt/slides/slide6.xml" Id="R1934c33a079d43b6" /><Relationship Type="http://schemas.openxmlformats.org/officeDocument/2006/relationships/slide" Target="/ppt/slides/slide7.xml" Id="R951d1cdf58c144f2" /><Relationship Type="http://schemas.openxmlformats.org/officeDocument/2006/relationships/slide" Target="/ppt/slides/slide8.xml" Id="R616892c02d5e4ab0" /><Relationship Type="http://schemas.openxmlformats.org/officeDocument/2006/relationships/slide" Target="/ppt/slides/slide9.xml" Id="Rf6bf2d8e8327461e" /><Relationship Type="http://schemas.openxmlformats.org/officeDocument/2006/relationships/slide" Target="/ppt/slides/slide10.xml" Id="R2c5314354af745ef" /><Relationship Type="http://schemas.openxmlformats.org/officeDocument/2006/relationships/slide" Target="/ppt/slides/slide11.xml" Id="Rde2beeaa1c2e48c3" /><Relationship Type="http://schemas.openxmlformats.org/officeDocument/2006/relationships/slide" Target="/ppt/slides/slide12.xml" Id="R70c0d323dcdc4b9a" /><Relationship Type="http://schemas.openxmlformats.org/officeDocument/2006/relationships/slide" Target="/ppt/slides/slide13.xml" Id="R7c3c41e4cde540b9" /><Relationship Type="http://schemas.openxmlformats.org/officeDocument/2006/relationships/slide" Target="/ppt/slides/slide14.xml" Id="Rf38aa5d7483b4c83" /><Relationship Type="http://schemas.openxmlformats.org/officeDocument/2006/relationships/slide" Target="/ppt/slides/slide15.xml" Id="Race0b10872914720" /><Relationship Type="http://schemas.openxmlformats.org/officeDocument/2006/relationships/slide" Target="/ppt/slides/slide16.xml" Id="Rb6be2c3ca7cd4be4" /><Relationship Type="http://schemas.openxmlformats.org/officeDocument/2006/relationships/slide" Target="/ppt/slides/slide17.xml" Id="R65609418fbde42fd" /><Relationship Type="http://schemas.openxmlformats.org/officeDocument/2006/relationships/slide" Target="/ppt/slides/slide18.xml" Id="R6373a50f73094d8e" /><Relationship Type="http://schemas.openxmlformats.org/officeDocument/2006/relationships/slide" Target="/ppt/slides/slide19.xml" Id="R8338dbb8b41f4c12" /><Relationship Type="http://schemas.openxmlformats.org/officeDocument/2006/relationships/slide" Target="/ppt/slides/slide20.xml" Id="R46c3b4899a3b4faf" /><Relationship Type="http://schemas.openxmlformats.org/officeDocument/2006/relationships/slide" Target="/ppt/slides/slide21.xml" Id="R1a82cb4c181e4b83" /><Relationship Type="http://schemas.openxmlformats.org/officeDocument/2006/relationships/slide" Target="/ppt/slides/slide22.xml" Id="R06ba74b5339540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68e4d159e54d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805a11887e4f6f" /><Relationship Type="http://schemas.openxmlformats.org/officeDocument/2006/relationships/notesMaster" Target="/ppt/notesMasters/notesMaster1.xml" Id="R578e64da1b3244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88aec5021d4dae" /><Relationship Type="http://schemas.openxmlformats.org/officeDocument/2006/relationships/notesMaster" Target="/ppt/notesMasters/notesMaster1.xml" Id="R421da510a9cb4c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f96fcffc064650" /><Relationship Type="http://schemas.openxmlformats.org/officeDocument/2006/relationships/notesMaster" Target="/ppt/notesMasters/notesMaster1.xml" Id="R5320cc3b23474d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aa904a4c014350" /><Relationship Type="http://schemas.openxmlformats.org/officeDocument/2006/relationships/notesMaster" Target="/ppt/notesMasters/notesMaster1.xml" Id="Rb19fb861888f4a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2eead643fe4483" /><Relationship Type="http://schemas.openxmlformats.org/officeDocument/2006/relationships/notesMaster" Target="/ppt/notesMasters/notesMaster1.xml" Id="Ra3144b9ef4d54f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b90e813cae4470" /><Relationship Type="http://schemas.openxmlformats.org/officeDocument/2006/relationships/notesMaster" Target="/ppt/notesMasters/notesMaster1.xml" Id="R3f4ce4297dab41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c3b859b45d4f4a" /><Relationship Type="http://schemas.openxmlformats.org/officeDocument/2006/relationships/notesMaster" Target="/ppt/notesMasters/notesMaster1.xml" Id="R74c4fc971c7543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5aa30276044cf3" /><Relationship Type="http://schemas.openxmlformats.org/officeDocument/2006/relationships/notesMaster" Target="/ppt/notesMasters/notesMaster1.xml" Id="Racf12ed9858546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e1d18428ee4dba" /><Relationship Type="http://schemas.openxmlformats.org/officeDocument/2006/relationships/notesMaster" Target="/ppt/notesMasters/notesMaster1.xml" Id="Rbcb4c9c070c84f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46b14106c94654" /><Relationship Type="http://schemas.openxmlformats.org/officeDocument/2006/relationships/notesMaster" Target="/ppt/notesMasters/notesMaster1.xml" Id="R5251b19d0b4e48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1cfdbd06e44465" /><Relationship Type="http://schemas.openxmlformats.org/officeDocument/2006/relationships/notesMaster" Target="/ppt/notesMasters/notesMaster1.xml" Id="R0bd7d25279844a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f8aec1466c449a" /><Relationship Type="http://schemas.openxmlformats.org/officeDocument/2006/relationships/notesMaster" Target="/ppt/notesMasters/notesMaster1.xml" Id="Rada0739ae3104d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4b845a2b454916" /><Relationship Type="http://schemas.openxmlformats.org/officeDocument/2006/relationships/notesMaster" Target="/ppt/notesMasters/notesMaster1.xml" Id="R7b8331f663a745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2ac2651efd45db" /><Relationship Type="http://schemas.openxmlformats.org/officeDocument/2006/relationships/notesMaster" Target="/ppt/notesMasters/notesMaster1.xml" Id="R34d02d58f1444d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38f59e87094ebc" /><Relationship Type="http://schemas.openxmlformats.org/officeDocument/2006/relationships/notesMaster" Target="/ppt/notesMasters/notesMaster1.xml" Id="R364a1bac94444b5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86d8d446354657" /><Relationship Type="http://schemas.openxmlformats.org/officeDocument/2006/relationships/notesMaster" Target="/ppt/notesMasters/notesMaster1.xml" Id="R243194a75c9446e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4f6655f724941cd" /><Relationship Type="http://schemas.openxmlformats.org/officeDocument/2006/relationships/notesMaster" Target="/ppt/notesMasters/notesMaster1.xml" Id="R637120b0b8f74be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a864c57df674cf0" /><Relationship Type="http://schemas.openxmlformats.org/officeDocument/2006/relationships/notesMaster" Target="/ppt/notesMasters/notesMaster1.xml" Id="R7d3649c9d5e8451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6ec449aafaa47d9" /><Relationship Type="http://schemas.openxmlformats.org/officeDocument/2006/relationships/notesMaster" Target="/ppt/notesMasters/notesMaster1.xml" Id="R18de67c9ee644b6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239716de84c4a8c" /><Relationship Type="http://schemas.openxmlformats.org/officeDocument/2006/relationships/notesMaster" Target="/ppt/notesMasters/notesMaster1.xml" Id="R5867e092c5e3405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15e75a4dde04e97" /><Relationship Type="http://schemas.openxmlformats.org/officeDocument/2006/relationships/notesMaster" Target="/ppt/notesMasters/notesMaster1.xml" Id="R69aa5d080975452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b398d324d1c49ba" /><Relationship Type="http://schemas.openxmlformats.org/officeDocument/2006/relationships/notesMaster" Target="/ppt/notesMasters/notesMaster1.xml" Id="R141ee6d354ac45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本次報告說明 UI 組件封裝要依序完成哪些工作，以及各階段會產出什麼。UI 組件可理解為畫面上重複出現的按鈕、輸入欄位、表格等零件。我們會先整理共同設計，再把設計落實成可重複使用的程式，透過實際頁面試用後，才發布供其他專案安裝。此份為建議規劃，尚未代表已完成進度、核定時程或效益承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體依序分成六個階段。首先確認我們要解決哪些重複畫面，其次確立設計規範，再研究現有技術如何承接設計。接著封裝與試用，確認足以共用後才正式發布套件，最後安排新專案導入與後續維護。階段之間有依賴，但不是要等全部設計完才寫程式。代表頁、設計與實作可以小批次往返，讓問題早點浮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這一步先確認要做哪些共用內容。建議選擇能同時涵蓋表格、查詢條件、輸入欄位和操作按鈕的代表頁，避免只完成漂亮的單一按鈕，卻沒有驗證整頁如何組合。首波頁面只是建議，應由 BA／PM 提供真實情境，設計與前端共同盤點。這裡先界定 Vue／Nuxt 的使用範圍，既有 MVC 是否嵌入 Vue、另做樣式實作或維持原狀，必須依專案評估。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Figma 的工作不只畫常用頁面，也要從頁面抽出可重複使用的組件，以及控制整體外觀的設定。組件需要說清楚大小、類型與狀態，像是輸入欄位錯誤時怎麼呈現、按鈕送出中是否停用。文字排版可搭配文字樣式管理，不需要把所有設定硬塞進變數。例頁也能作為 AI 輔助產稿的參考，但仍需依規格檢查。Figma 變數與程式設定的對照和同步流程，需要另外建立。</a:t>
            </a:r>
          </a:p>
          <a:p xmlns:a="http://schemas.openxmlformats.org/drawingml/2006/main">
            <a:r>
              <a:t>來源：https://help.figma.com/hc/en-us/articles/15339657135383-Guide-to-variables-in-Figma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執行上採用反覆迭代的方式。先畫代表頁，抽出共同規則，再以程式試作，最後共同校對。校對時可能發現規格漏了錯誤狀態，也可能發現現有組件無法直接支援某種互動，這時就回到頁面與規格修正。每一輪確認後保留對應版本，才能知道哪些規格已經可以實作。用迭代描述這個過程比較容易理解，也能避免主管誤以為整套設計必須一次定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可以把 Nuxt／Vue 理解為應用程式的基礎架構，Element Plus 是可利用的現成組件，Tailwind 協助排版，公司共用層則決定這些零件要呈現的外觀與使用方式。圖中是責任分層，不是程式依賴鏈。前端先盤點 Element Plus 的全域及各組件 CSS／SCSS 變數，把公司設計對應進去，再確認 Tailwind 的 reset 與樣式載入順序。若採用 Tailwind v4，其處理流程與 Element Plus 的 Sass 主題編譯應分開規劃。完成條件是代表頁中的設定與組件樣式能一起正常運作。</a:t>
            </a:r>
          </a:p>
          <a:p xmlns:a="http://schemas.openxmlformats.org/drawingml/2006/main">
            <a:r>
              <a:t>來源：https://element-plus.org/en-US/guide/theming</a:t>
            </a:r>
          </a:p>
          <a:p xmlns:a="http://schemas.openxmlformats.org/drawingml/2006/main">
            <a:r>
              <a:t>來源：https://tailwindcss.com/docs/preflight</a:t>
            </a:r>
          </a:p>
          <a:p xmlns:a="http://schemas.openxmlformats.org/drawingml/2006/main">
            <a:r>
              <a:t>來源：https://tailwindcss.com/docs/compatibility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裝可理解為把現成零件整理成公司容易使用的版本。有些差異只需要改主題變數，不必額外包一層。有穩定的共用行為時，再建立公司組件，例如統一欄位標籤、提示與預設值。必要時才調整局部樣式，並記錄原因。保留屬性、事件與插槽等合理擴充方式，避免組件只能支援單一頁面。業務 API、權限與特定審核流程仍由專案負責，讓 UI 組件維持可重用性。</a:t>
            </a:r>
          </a:p>
          <a:p xmlns:a="http://schemas.openxmlformats.org/drawingml/2006/main">
            <a:r>
              <a:t>來源：https://element-plus.org/en-US/guide/theming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先提到完成度不足時先留在各專案內，方向合理，建議再指定一個試點與來源，避免每個專案各自修改成不同版本。初期保留清楚的模組邊界與變更紀錄，待實際驗證後再抽出。驗證涵蓋設計、互動、操作與跨頁重用，對容易反覆出錯的行為建立必要的自動化檢查。完成條件不應只有畫面能顯示，也要能在第二個情境使用，並清楚區分共用規格與專案例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npm 可以理解為前端的套件交付機制，概念上類似 .NET 透過 NuGet 安裝共用函式庫。實際可使用公司核准的內部 registry 或私有套件來源，不代表必須公開發布。Demo 從正式交付的套件安裝，而不是直接引用試點專案的原始碼，才能證明其他專案可依文件使用。發布前還需確認依賴版本、CSS 如何載入、字型及圖示來源，以及發生問題如何退回已知版本。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用套件要在有人使用後持續維護。專案固定相依版本，套件更新時先查看變更內容並驗證，再安排升級，不能假設中央修改後所有系統都應立即跟進。針對新增需求，由維護窗口判斷是否具共通性。效益可以觀察重複頁面的開發與修改時間、UI 驗收缺失、實際採用範圍及升級成本。先取得試點資料，再訂目標，避免沒有基準就承諾節省比例。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這張表用來說明設計與程式不是由單一角色獨立完成。BA／PM 提供真實情境與使用需求，設計負責外觀與互動規格，前端負責技術對接與封裝，試點團隊協助確認是否真的可用。發布所需的套件來源與權限，可由平台或相關窗口協作。這是建議的角色分工，沒有預設現有組織配置，也沒有指定尚未確認的人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先用四個可檢視的里程碑管理工作，而不是現在就給出缺少依據的完成日期。第一個里程碑確認設計可實作，第二個確認組件可用，第三個確認可作為套件交付，第四個確認實際專案可採用。若首波範圍太大，就縮小批次，而不是跳過試用與驗收。人力、組件數量、現有資產及試點專案確認後，再依試作結果估算時程。這份簡報不將建議規劃視為已核定計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公司層的設定以語意命名，例如主要操作色，而不是只綁定某一個工具的變數名稱。對照表也記錄來源版本、維護人及驗證頁。Element Plus 提供 CSS 與 SCSS 主題變數，但版型寬度與頁面布局仍要自行規劃。若使用 Tailwind，不能假設消費專案會自動掃描 node_modules 中的 class，可以預先輸出必要 CSS，或文件化來源掃描設定，並驗證動態 class 的處理。Nuxt 專屬依賴應放在整合層，降低 Vue 組件的耦合。</a:t>
            </a:r>
          </a:p>
          <a:p xmlns:a="http://schemas.openxmlformats.org/drawingml/2006/main">
            <a:r>
              <a:t>來源：https://element-plus.org/en-US/guide/theming</a:t>
            </a:r>
          </a:p>
          <a:p xmlns:a="http://schemas.openxmlformats.org/drawingml/2006/main">
            <a:r>
              <a:t>來源：https://tailwindcss.com/docs/detecting-classes-in-source-files</a:t>
            </a:r>
          </a:p>
          <a:p xmlns:a="http://schemas.openxmlformats.org/drawingml/2006/main">
            <a:r>
              <a:t>來源：https://tailwindcss.com/docs/compatibility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補充說明時可依長官關心的問題選用，不需要逐題朗讀。封裝有持續維護成本，包含設計與程式同步、相依工具升級、缺陷修正及導入支援。第一版建議優先支援常用頁面，效益應用實際導入資料判斷。AI 可以協助產稿與重複工作，但不保證設計稿可自動轉成符合公司規格的正式頁面。既有 MVC 的相容性屬於專案整合問題，不能以共用設計規範直接推論其程式可以直接安裝。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CSS 變數可理解為樣式用的設定名稱。例如 --el-color-primary 控制主要色，--el-font-size-base 控制預設字級。實際影響哪些部位，要看各組件有沒有引用該變數。全域設定可讓多個組件採用一致的外觀，但不能取代頁面配置設計，也不能保證所有組件的每個細節都受同一個變數控制。这里只列幾個大分類，其餘以省略號表示。</a:t>
            </a:r>
          </a:p>
          <a:p xmlns:a="http://schemas.openxmlformats.org/drawingml/2006/main">
            <a:r>
              <a:t>來源與範圍：Element Plus 2.11.5 原始碼及官方主題文件。這是報告用示例，不代表公司已核定規範或已使用此版本。公司色碼、尺寸與 @company/ui 套件名稱均為示意。</a:t>
            </a:r>
          </a:p>
          <a:p xmlns:a="http://schemas.openxmlformats.org/drawingml/2006/main">
            <a:r>
              <a:t>https://github.com/element-plus/element-plus/blob/2.11.5/packages/theme-chalk/src/common/var.scss</a:t>
            </a:r>
          </a:p>
          <a:p xmlns:a="http://schemas.openxmlformats.org/drawingml/2006/main">
            <a:r>
              <a:t>https://github.com/element-plus/element-plus/blob/2.11.5/packages/theme-chalk/src/button.scss</a:t>
            </a:r>
          </a:p>
          <a:p xmlns:a="http://schemas.openxmlformats.org/drawingml/2006/main">
            <a:r>
              <a:t>https://github.com/element-plus/element-plus/blob/2.11.5/packages/theme-chalk/src/mixins/_button.scss</a:t>
            </a:r>
          </a:p>
          <a:p xmlns:a="http://schemas.openxmlformats.org/drawingml/2006/main">
            <a:r>
              <a:t>https://element-plus.org/en-US/guide/theming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以下程式為精簡示例；省略的頁面上下文與完整設定列於講稿。</a:t>
            </a:r>
          </a:p>
          <a:p xmlns:a="http://schemas.openxmlformats.org/drawingml/2006/main">
            <a:r>
              <a:t>本次規劃只處理淺色模式，暗色模式不在範圍內。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左側是公司維護的樣式設定，右側是與 Element Plus 的對照。設計若把圓角從 6px 改成 8px，可修改公司設定，再由引用關係套用。Figma 與 CSS 之間仍需建立匯出或同步流程，不能因為兩邊名稱相同就視為已經自動同步。本例 light-3 對應公司核定的 hover 色，不主張色碼依 Element Plus 的預設公式計算。完整檔另列在講稿，包含 light-5／7／8／9 及 dark-2 等，避免只改主要色留下舊色階。載入順序為 Element Plus 基礎 CSS、公司 tokens、Element Plus 對接檔，再載入公司組件 CSS。</a:t>
            </a:r>
          </a:p>
          <a:p xmlns:a="http://schemas.openxmlformats.org/drawingml/2006/main">
            <a:r>
              <a:t>來源與範圍：Element Plus 2.11.5 原始碼及官方主題文件。這是報告用示例，不代表公司已核定規範或已使用此版本。公司色碼、尺寸與 @company/ui 套件名稱均為示意。</a:t>
            </a:r>
          </a:p>
          <a:p xmlns:a="http://schemas.openxmlformats.org/drawingml/2006/main">
            <a:r>
              <a:t>https://github.com/element-plus/element-plus/blob/2.11.5/packages/theme-chalk/src/common/var.scss</a:t>
            </a:r>
          </a:p>
          <a:p xmlns:a="http://schemas.openxmlformats.org/drawingml/2006/main">
            <a:r>
              <a:t>https://github.com/element-plus/element-plus/blob/2.11.5/packages/theme-chalk/src/button.scss</a:t>
            </a:r>
          </a:p>
          <a:p xmlns:a="http://schemas.openxmlformats.org/drawingml/2006/main">
            <a:r>
              <a:t>https://github.com/element-plus/element-plus/blob/2.11.5/packages/theme-chalk/src/mixins/_button.scss</a:t>
            </a:r>
          </a:p>
          <a:p xmlns:a="http://schemas.openxmlformats.org/drawingml/2006/main">
            <a:r>
              <a:t>https://element-plus.org/en-US/guide/theming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以下程式為精簡示例；省略的頁面上下文與完整設定列於講稿。</a:t>
            </a:r>
          </a:p>
          <a:p xmlns:a="http://schemas.openxmlformats.org/drawingml/2006/main">
            <a:r>
              <a:t>本頁公司色碼為淺色模式示意。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本頁依提供的追溯樹整理，只保留淺色模式。完整列出 Backtop 的背景色、圖示文字色、滑鼠移入背景與陰影。background-color 引用 --el-backtop-bg-color，再引用 --el-bg-color-overlay，預設為 #ffffff。color 引用 --el-backtop-text-color，再引用 --el-color-primary，預設為 #409eff；內建 SVG path 以 currentColor 使用該顏色。hover 背景由 --el-backtop-hover-bg-color 對應 --el-border-color-extra-light，預設 #f2f6fc。陰影直接引用 --el-box-shadow-lighter，淺色預設為 0px 0px 6px rgba(0,0,0,.12)。這張是樣式變數的完整追溯範圍，不列出定位、尺寸等固定 CSS 屬性。全部數值以 Element Plus 2.11.5 的 el-backtop.css 與 index.css 核對，屬原廠預設，與前頁公司主題的示意色碼分開理解。</a:t>
            </a:r>
          </a:p>
          <a:p xmlns:a="http://schemas.openxmlformats.org/drawingml/2006/main">
            <a:r>
              <a:t>來源：https://github.com/element-plus/element-plus/blob/2.11.5/packages/theme-chalk/src/backtop.scss</a:t>
            </a:r>
          </a:p>
          <a:p xmlns:a="http://schemas.openxmlformats.org/drawingml/2006/main">
            <a:r>
              <a:t>來源：https://github.com/element-plus/element-plus/blob/2.11.5/packages/theme-chalk/src/common/var.scss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這裡先排除「只有封裝才可以改主題」的誤解。直接使用 Element Plus 一樣可以套用上一個案例的主題。頁面同時要重複寫 primary、native-type、loading 時 disabled 及按鈕尺寸。若許多頁面都需要同一組規則，才有抽成共用組件的價值。頁面中的 saving、canSubmit、submit 分別表示送出中、業務上是否允許送出及送出流程，完整上下文見講稿。僅使用一次且沒有共通規格的組件，可以先維持直接使用。</a:t>
            </a:r>
          </a:p>
          <a:p xmlns:a="http://schemas.openxmlformats.org/drawingml/2006/main">
            <a:r>
              <a:t>來源與範圍：Element Plus 2.11.5 原始碼及官方主題文件。這是報告用示例，不代表公司已核定規範或已使用此版本。公司色碼、尺寸與 @company/ui 套件名稱均為示意。</a:t>
            </a:r>
          </a:p>
          <a:p xmlns:a="http://schemas.openxmlformats.org/drawingml/2006/main">
            <a:r>
              <a:t>https://github.com/element-plus/element-plus/blob/2.11.5/packages/theme-chalk/src/common/var.scss</a:t>
            </a:r>
          </a:p>
          <a:p xmlns:a="http://schemas.openxmlformats.org/drawingml/2006/main">
            <a:r>
              <a:t>https://github.com/element-plus/element-plus/blob/2.11.5/packages/theme-chalk/src/button.scss</a:t>
            </a:r>
          </a:p>
          <a:p xmlns:a="http://schemas.openxmlformats.org/drawingml/2006/main">
            <a:r>
              <a:t>https://github.com/element-plus/element-plus/blob/2.11.5/packages/theme-chalk/src/mixins/_button.scss</a:t>
            </a:r>
          </a:p>
          <a:p xmlns:a="http://schemas.openxmlformats.org/drawingml/2006/main">
            <a:r>
              <a:t>https://element-plus.org/en-US/guide/theming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以下程式為精簡示例；省略的頁面上下文與完整設定列於講稿。</a:t>
            </a:r>
          </a:p>
          <a:p xmlns:a="http://schemas.openxmlformats.org/drawingml/2006/main">
            <a:r>
              <a:t>目錄中的 styles 保存共用主題，頁面內的 submit-button 樣式是封裝前需要自行維護的設定。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AppButton 是本案例的「公司主要操作按鈕」，不是完整替代 Element Plus 的全部按鈕類型。內部固定 primary 與 native-type=button，loading 時停用，避免各頁重複設定。以 inheritAttrs:false 搭配 v-bind="$attrs" 把外部的 click 監聽與 aria-label 等轉交給內部按鈕。固定設定寫在 v-bind 之後，讓公司預設不被同名的一般屬性覆蓋。預設 slot 提供按鈕文字。這個版本沒有包辦所有插槽與 expose 方法，也沒有混入 API 或權限規則。原本按鈕的鍵盤與焦點行為由 Element Plus 提供，仍需導入驗證。</a:t>
            </a:r>
          </a:p>
          <a:p xmlns:a="http://schemas.openxmlformats.org/drawingml/2006/main">
            <a:r>
              <a:t>https://vuejs.org/guide/components/attrs.html</a:t>
            </a:r>
          </a:p>
          <a:p xmlns:a="http://schemas.openxmlformats.org/drawingml/2006/main">
            <a:r>
              <a:t>https://element-plus.org/en-US/component/button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以下程式為精簡示例；省略的頁面上下文與完整設定列於講稿。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封裝後，頁面仍傳 saving、canSubmit 並實作 submit，但省去固定類型、重複尺寸與 disabled||loading 的處理。共用 CSS 以 .app-button.el-button 設定 min-height:var(--app-control-height) 及左右 padding，主題仍由 tokens 與對接檔控制。試點階段先放在同一專案也可以，文件需指定唯一維護來源。這個案例只封裝主要操作按鈕，未聲稱所有 Element Plus 組件都必須再包一層。</a:t>
            </a:r>
          </a:p>
          <a:p xmlns:a="http://schemas.openxmlformats.org/drawingml/2006/main">
            <a:r>
              <a:t>來源與範圍：Element Plus 2.11.5 原始碼及官方主題文件。這是報告用示例，不代表公司已核定規範或已使用此版本。公司色碼、尺寸與 @company/ui 套件名稱均為示意。</a:t>
            </a:r>
          </a:p>
          <a:p xmlns:a="http://schemas.openxmlformats.org/drawingml/2006/main">
            <a:r>
              <a:t>https://github.com/element-plus/element-plus/blob/2.11.5/packages/theme-chalk/src/common/var.scss</a:t>
            </a:r>
          </a:p>
          <a:p xmlns:a="http://schemas.openxmlformats.org/drawingml/2006/main">
            <a:r>
              <a:t>https://github.com/element-plus/element-plus/blob/2.11.5/packages/theme-chalk/src/button.scss</a:t>
            </a:r>
          </a:p>
          <a:p xmlns:a="http://schemas.openxmlformats.org/drawingml/2006/main">
            <a:r>
              <a:t>https://github.com/element-plus/element-plus/blob/2.11.5/packages/theme-chalk/src/mixins/_button.scss</a:t>
            </a:r>
          </a:p>
          <a:p xmlns:a="http://schemas.openxmlformats.org/drawingml/2006/main">
            <a:r>
              <a:t>https://element-plus.org/en-US/guide/theming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以下程式為精簡示例；省略的頁面上下文與完整設定列於講稿。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這張表就是原始碼與建置輸出的檔案地圖。src/index.ts 匯出 AppButton，建置工具把 .vue 編譯為 JavaScript，型別工具產出 .d.ts，CSS 則獨立交付。package.json 的 exports 定義使用者可以引用哪些入口，Vue 與 Element Plus 列為 peerDependencies，與使用專案共用，不打包另一份進來。Nuxt 保留在應用層，這個單一按鈕套件不依賴 Nuxt。完整最小示例包含 build 設定，示例版本固定 Element Plus 2.11.5，實務上相容範圍要經驗證後再開放。npmjs 私有套件需要對應帳號／組織權限及支援方案，使用 restricted，不是 package.json 的 private:true。</a:t>
            </a:r>
          </a:p>
          <a:p xmlns:a="http://schemas.openxmlformats.org/drawingml/2006/main">
            <a:r>
              <a:t>https://docs.npmjs.com/creating-and-publishing-private-packages/</a:t>
            </a:r>
          </a:p>
          <a:p xmlns:a="http://schemas.openxmlformats.org/drawingml/2006/main">
            <a:r>
              <a:t>https://docs.npmjs.com/cli/v11/configuring-npm/package-json/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以下程式為精簡示例；省略的頁面上下文與完整設定列於講稿。</a:t>
            </a:r>
          </a:p>
          <a:p xmlns:a="http://schemas.openxmlformats.org/drawingml/2006/main">
            <a:r>
              <a:t>目錄樹保留原始碼及建置輸出的主要結構，其餘以 ... 表示。src/index.ts 同時載入樣式並匯出 AppButton；本頁只節錄組件匯出，完整設定列於講稿。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新專案安裝可取得權限的指定版本。Nuxt 的 css 陣列先載入 Element Plus，再載入公司 style.css，該檔已包含 tokens、對照檔與公司按鈕樣式，避免缺少主題。元件在 script setup 明確 import，不預設自動註冊。直接安裝 @company/ui 時，使用專案也要有符合相容範圍的 Vue 與 Element Plus。安裝後可用與原頁相同的 saving、canSubmit 及 submit。實際 npmjs 發布需換成公司擁有的 scope，完成登入、權限及驗收後再執行；這裡只示範，不進行發布。若公司採內部 registry，可維持套件結構並調整來源設定。</a:t>
            </a:r>
          </a:p>
          <a:p xmlns:a="http://schemas.openxmlformats.org/drawingml/2006/main">
            <a:r>
              <a:t>https://docs.npmjs.com/creating-and-publishing-private-packages/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以下程式為精簡示例；省略的頁面上下文與完整設定列於講稿。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8649f35d5542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8d2ce939941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586e4016742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a73a12e70048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0fe00f8ce44d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dacf3a229446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B759C7-7E9E-44E3-B016-7C52280966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DB3DA1-B844-488F-8AF3-A22C11D2B1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168EB57-CF6B-49AF-B974-E86D52C0AA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DD9DC3-6299-4873-B8A7-F9EAA32B39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5DBBA5C-59E3-4684-88E9-0269E0567A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3691432-BA42-452B-B6F3-8529382B04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50FED5-615E-4F36-8CB3-DD9746B8D6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91A1B40-5B00-4F21-97F1-3225AF5FE2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87335A-922B-47DD-AFA5-9ACE0C15C0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9A28DD-1ABE-4978-BBDD-B98254A4BA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f0550ab8474f53" /><Relationship Type="http://schemas.openxmlformats.org/officeDocument/2006/relationships/slideLayout" Target="/ppt/slideLayouts/slideLayout1.xml" Id="R65a3199082ff4cee" /><Relationship Type="http://schemas.openxmlformats.org/officeDocument/2006/relationships/slideLayout" Target="/ppt/slideLayouts/slideLayout2.xml" Id="R3880d0a44dc84428" /><Relationship Type="http://schemas.openxmlformats.org/officeDocument/2006/relationships/slideLayout" Target="/ppt/slideLayouts/slideLayout3.xml" Id="Rde199737f4eb44c4" /><Relationship Type="http://schemas.openxmlformats.org/officeDocument/2006/relationships/slideLayout" Target="/ppt/slideLayouts/slideLayout4.xml" Id="R5a58e687cfaf4fc4" /><Relationship Type="http://schemas.openxmlformats.org/officeDocument/2006/relationships/slideLayout" Target="/ppt/slideLayouts/slideLayout5.xml" Id="R88a633c1b6a74848" /><Relationship Type="http://schemas.openxmlformats.org/officeDocument/2006/relationships/slideLayout" Target="/ppt/slideLayouts/slideLayout6.xml" Id="R7d7feffffe0448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a3199082ff4cee"/>
    <p:sldLayoutId xmlns:r="http://schemas.openxmlformats.org/officeDocument/2006/relationships" id="2147483650" r:id="R3880d0a44dc84428"/>
    <p:sldLayoutId xmlns:r="http://schemas.openxmlformats.org/officeDocument/2006/relationships" id="2147483651" r:id="Rde199737f4eb44c4"/>
    <p:sldLayoutId xmlns:r="http://schemas.openxmlformats.org/officeDocument/2006/relationships" id="2147483652" r:id="R5a58e687cfaf4fc4"/>
    <p:sldLayoutId xmlns:r="http://schemas.openxmlformats.org/officeDocument/2006/relationships" id="2147483653" r:id="R88a633c1b6a74848"/>
    <p:sldLayoutId xmlns:r="http://schemas.openxmlformats.org/officeDocument/2006/relationships" id="2147483654" r:id="R7d7feffffe0448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33b3dcba494c12" /><Relationship Type="http://schemas.openxmlformats.org/officeDocument/2006/relationships/notesSlide" Target="/ppt/notesSlides/notesSlide1.xml" Id="Rb207d3c7e95746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aa66a44eb340dd" /><Relationship Type="http://schemas.openxmlformats.org/officeDocument/2006/relationships/notesSlide" Target="/ppt/notesSlides/notesSlide2.xml" Id="Rc0a96154c4044c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c1fff52f8e448d" /><Relationship Type="http://schemas.openxmlformats.org/officeDocument/2006/relationships/notesSlide" Target="/ppt/notesSlides/notesSlide3.xml" Id="R3ebc1efb0d974b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aedb8966e34784" /><Relationship Type="http://schemas.openxmlformats.org/officeDocument/2006/relationships/notesSlide" Target="/ppt/notesSlides/notesSlide4.xml" Id="Rd8d040ae5c2c42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1d2f671a6d404b" /><Relationship Type="http://schemas.openxmlformats.org/officeDocument/2006/relationships/notesSlide" Target="/ppt/notesSlides/notesSlide5.xml" Id="Rc4b07d42476b48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35e548459149e4" /><Relationship Type="http://schemas.openxmlformats.org/officeDocument/2006/relationships/notesSlide" Target="/ppt/notesSlides/notesSlide6.xml" Id="R89832f895e0042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ea6b0eee214361" /><Relationship Type="http://schemas.openxmlformats.org/officeDocument/2006/relationships/notesSlide" Target="/ppt/notesSlides/notesSlide7.xml" Id="Rda93a1c30bba46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0d311d88354220" /><Relationship Type="http://schemas.openxmlformats.org/officeDocument/2006/relationships/notesSlide" Target="/ppt/notesSlides/notesSlide8.xml" Id="Re134ba656ae94e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8e816819fa41a5" /><Relationship Type="http://schemas.openxmlformats.org/officeDocument/2006/relationships/notesSlide" Target="/ppt/notesSlides/notesSlide9.xml" Id="Ra37aba158d714d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fd190b7355454f" /><Relationship Type="http://schemas.openxmlformats.org/officeDocument/2006/relationships/notesSlide" Target="/ppt/notesSlides/notesSlide10.xml" Id="R871fb28f30ed40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dd4d9ecabe437d" /><Relationship Type="http://schemas.openxmlformats.org/officeDocument/2006/relationships/notesSlide" Target="/ppt/notesSlides/notesSlide11.xml" Id="R9b83681d7cde49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0d8c5e447b4ecf" /><Relationship Type="http://schemas.openxmlformats.org/officeDocument/2006/relationships/notesSlide" Target="/ppt/notesSlides/notesSlide12.xml" Id="R66dbc7cf66ab49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f3216cb4c543e6" /><Relationship Type="http://schemas.openxmlformats.org/officeDocument/2006/relationships/notesSlide" Target="/ppt/notesSlides/notesSlide13.xml" Id="R02dd21e1f93e46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ba2d75a03745eb" /><Relationship Type="http://schemas.openxmlformats.org/officeDocument/2006/relationships/notesSlide" Target="/ppt/notesSlides/notesSlide14.xml" Id="Rf48bada840fe431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73adcf632c4c8b" /><Relationship Type="http://schemas.openxmlformats.org/officeDocument/2006/relationships/notesSlide" Target="/ppt/notesSlides/notesSlide15.xml" Id="Ra264710c86154bb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958bc95d6742a8" /><Relationship Type="http://schemas.openxmlformats.org/officeDocument/2006/relationships/notesSlide" Target="/ppt/notesSlides/notesSlide16.xml" Id="R59f34de3256c40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f3a3bc82554b05" /><Relationship Type="http://schemas.openxmlformats.org/officeDocument/2006/relationships/notesSlide" Target="/ppt/notesSlides/notesSlide17.xml" Id="Rbf6095121b61448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64c96b7a644f88" /><Relationship Type="http://schemas.openxmlformats.org/officeDocument/2006/relationships/notesSlide" Target="/ppt/notesSlides/notesSlide18.xml" Id="R4166b191938946b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3da6e3e346486c" /><Relationship Type="http://schemas.openxmlformats.org/officeDocument/2006/relationships/notesSlide" Target="/ppt/notesSlides/notesSlide19.xml" Id="Re8eaa525f8f6431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cb133906e34b16" /><Relationship Type="http://schemas.openxmlformats.org/officeDocument/2006/relationships/notesSlide" Target="/ppt/notesSlides/notesSlide20.xml" Id="Rdaa39910dda3476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74c7c0048e4394" /><Relationship Type="http://schemas.openxmlformats.org/officeDocument/2006/relationships/notesSlide" Target="/ppt/notesSlides/notesSlide21.xml" Id="R37d9736a834441c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66d96926894887" /><Relationship Type="http://schemas.openxmlformats.org/officeDocument/2006/relationships/notesSlide" Target="/ppt/notesSlides/notesSlide22.xml" Id="Re273bc64bdb943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hape-1">
            <a:extLst xmlns:a="http://schemas.openxmlformats.org/drawingml/2006/main">
              <a:ext uri="{FF2B5EF4-FFF2-40B4-BE49-F238E27FC236}">
                <a16:creationId xmlns:a16="http://schemas.microsoft.com/office/drawing/2014/main" id="{3F6EB96C-C9BB-4986-872E-FCE6EE8E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457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087C5BC-0CAA-44F8-83BB-E046BD21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725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725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725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725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725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725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725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725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725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rPr>
              <a:t>規劃草案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454C342-05DA-4309-9EDF-CDD5420E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57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5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5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5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5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5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5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5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5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5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5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UI 組件封裝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51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與導入規劃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B1F944C1-B3D4-4D7B-96D5-28A712F9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2907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3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3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3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3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3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3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3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3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3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設計規範、共用程式與專案應用的執行順序</a:t>
            </a:r>
          </a:p>
        </p:txBody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99711B91-0CD7-487B-A73C-12A88264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84FDC2A-6349-407D-B4DA-A272E9C0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100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100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100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100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100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100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100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100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100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B7DBC9"/>
                </a:solidFill>
                <a:latin typeface="Noto Sans CJK TC"/>
                <a:ea typeface="Noto Sans CJK TC"/>
                <a:cs typeface="Noto Sans CJK TC"/>
              </a:rPr>
              <a:t>以代表頁驗證，再逐步形成公司共用的 UI 資產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4C1E253C-2994-4533-B3A4-7549FF13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579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5BBC3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425" b="0">
                <a:solidFill>
                  <a:srgbClr val="A5BBC3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425" b="0">
                <a:solidFill>
                  <a:srgbClr val="A5BBC3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425" b="0">
                <a:solidFill>
                  <a:srgbClr val="A5BBC3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425" b="0">
                <a:solidFill>
                  <a:srgbClr val="A5BBC3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425" b="0">
                <a:solidFill>
                  <a:srgbClr val="A5BBC3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425" b="0">
                <a:solidFill>
                  <a:srgbClr val="A5BBC3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425" b="0">
                <a:solidFill>
                  <a:srgbClr val="A5BBC3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425" b="0">
                <a:solidFill>
                  <a:srgbClr val="A5BBC3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425" b="0">
                <a:solidFill>
                  <a:srgbClr val="A5BBC3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A5BBC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>
                <a:solidFill>
                  <a:srgbClr val="A5BBC3"/>
                </a:solidFill>
                <a:latin typeface="Noto Sans CJK TC"/>
                <a:ea typeface="Noto Sans CJK TC"/>
                <a:cs typeface="Noto Sans CJK TC"/>
              </a:rPr>
              <a:t>2026.10.26</a:t>
            </a:r>
          </a:p>
        </p:txBody>
      </p:sp>
    </p:spTree>
    <p:extLst>
      <p:ext uri="{BB962C8B-B14F-4D97-AF65-F5344CB8AC3E}">
        <p14:creationId xmlns:p14="http://schemas.microsoft.com/office/powerpoint/2010/main" val="18426793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hape-8">
            <a:extLst xmlns:a="http://schemas.openxmlformats.org/drawingml/2006/main">
              <a:ext uri="{FF2B5EF4-FFF2-40B4-BE49-F238E27FC236}">
                <a16:creationId xmlns:a16="http://schemas.microsoft.com/office/drawing/2014/main" id="{C2F1D980-E9BD-4F01-92DD-12E7557D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9">
            <a:extLst xmlns:a="http://schemas.openxmlformats.org/drawingml/2006/main">
              <a:ext uri="{FF2B5EF4-FFF2-40B4-BE49-F238E27FC236}">
                <a16:creationId xmlns:a16="http://schemas.microsoft.com/office/drawing/2014/main" id="{24BD4EC7-72A3-4694-9AAF-912439AB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六個階段的執行順序</a:t>
            </a:r>
          </a:p>
        </p:txBody>
      </p:sp>
      <p:sp>
        <p:nvSpPr>
          <p:cNvPr id="3" name="text-10">
            <a:extLst xmlns:a="http://schemas.openxmlformats.org/drawingml/2006/main">
              <a:ext uri="{FF2B5EF4-FFF2-40B4-BE49-F238E27FC236}">
                <a16:creationId xmlns:a16="http://schemas.microsoft.com/office/drawing/2014/main" id="{A415C9EE-2759-453A-9710-648149BF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每一階段都有可檢視的產出，設計與實作持續互相校正</a:t>
            </a:r>
          </a:p>
        </p:txBody>
      </p:sp>
      <p:sp>
        <p:nvSpPr>
          <p:cNvPr id="4" name="shape-11">
            <a:extLst xmlns:a="http://schemas.openxmlformats.org/drawingml/2006/main">
              <a:ext uri="{FF2B5EF4-FFF2-40B4-BE49-F238E27FC236}">
                <a16:creationId xmlns:a16="http://schemas.microsoft.com/office/drawing/2014/main" id="{D15E9BA4-1413-43AE-9B23-5A29E08F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2">
            <a:extLst xmlns:a="http://schemas.openxmlformats.org/drawingml/2006/main">
              <a:ext uri="{FF2B5EF4-FFF2-40B4-BE49-F238E27FC236}">
                <a16:creationId xmlns:a16="http://schemas.microsoft.com/office/drawing/2014/main" id="{CB75806C-E614-41D5-A771-36C01467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UI 組件封裝與導入規劃</a:t>
            </a:r>
          </a:p>
        </p:txBody>
      </p:sp>
      <p:sp>
        <p:nvSpPr>
          <p:cNvPr id="6" name="text-13">
            <a:extLst xmlns:a="http://schemas.openxmlformats.org/drawingml/2006/main">
              <a:ext uri="{FF2B5EF4-FFF2-40B4-BE49-F238E27FC236}">
                <a16:creationId xmlns:a16="http://schemas.microsoft.com/office/drawing/2014/main" id="{DAD37315-25C0-4235-A30D-FFF00C76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7" name="text-14">
            <a:extLst xmlns:a="http://schemas.openxmlformats.org/drawingml/2006/main">
              <a:ext uri="{FF2B5EF4-FFF2-40B4-BE49-F238E27FC236}">
                <a16:creationId xmlns:a16="http://schemas.microsoft.com/office/drawing/2014/main" id="{C7EF18A9-ADF4-43FB-9946-A2F8B429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0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8" name="text-15">
            <a:extLst xmlns:a="http://schemas.openxmlformats.org/drawingml/2006/main">
              <a:ext uri="{FF2B5EF4-FFF2-40B4-BE49-F238E27FC236}">
                <a16:creationId xmlns:a16="http://schemas.microsoft.com/office/drawing/2014/main" id="{06E95641-46BC-40C5-9232-6A928788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812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範圍盤點</a:t>
            </a:r>
          </a:p>
        </p:txBody>
      </p:sp>
      <p:sp>
        <p:nvSpPr>
          <p:cNvPr id="9" name="text-16">
            <a:extLst xmlns:a="http://schemas.openxmlformats.org/drawingml/2006/main">
              <a:ext uri="{FF2B5EF4-FFF2-40B4-BE49-F238E27FC236}">
                <a16:creationId xmlns:a16="http://schemas.microsoft.com/office/drawing/2014/main" id="{1BC31E49-236E-44B7-A1A9-EFC99384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57450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代表頁、優先組件</a:t>
            </a:r>
          </a:p>
        </p:txBody>
      </p:sp>
      <p:sp>
        <p:nvSpPr>
          <p:cNvPr id="10" name="shape-17">
            <a:extLst xmlns:a="http://schemas.openxmlformats.org/drawingml/2006/main">
              <a:ext uri="{FF2B5EF4-FFF2-40B4-BE49-F238E27FC236}">
                <a16:creationId xmlns:a16="http://schemas.microsoft.com/office/drawing/2014/main" id="{3FA403EF-2FBD-442C-A5B3-6DF41ABA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8">
            <a:extLst xmlns:a="http://schemas.openxmlformats.org/drawingml/2006/main">
              <a:ext uri="{FF2B5EF4-FFF2-40B4-BE49-F238E27FC236}">
                <a16:creationId xmlns:a16="http://schemas.microsoft.com/office/drawing/2014/main" id="{6BDD06B2-5E3D-47CF-BB66-5A46AFBB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70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2" name="text-19">
            <a:extLst xmlns:a="http://schemas.openxmlformats.org/drawingml/2006/main">
              <a:ext uri="{FF2B5EF4-FFF2-40B4-BE49-F238E27FC236}">
                <a16:creationId xmlns:a16="http://schemas.microsoft.com/office/drawing/2014/main" id="{CC24B21E-B894-4EFB-A27F-5993385E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812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設計規範</a:t>
            </a:r>
          </a:p>
        </p:txBody>
      </p:sp>
      <p:sp>
        <p:nvSpPr>
          <p:cNvPr id="13" name="text-20">
            <a:extLst xmlns:a="http://schemas.openxmlformats.org/drawingml/2006/main">
              <a:ext uri="{FF2B5EF4-FFF2-40B4-BE49-F238E27FC236}">
                <a16:creationId xmlns:a16="http://schemas.microsoft.com/office/drawing/2014/main" id="{76E12FD8-94F9-451D-AB35-5E0F9710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Figma、樣式與狀態</a:t>
            </a:r>
          </a:p>
        </p:txBody>
      </p:sp>
      <p:sp>
        <p:nvSpPr>
          <p:cNvPr id="14" name="shape-21">
            <a:extLst xmlns:a="http://schemas.openxmlformats.org/drawingml/2006/main">
              <a:ext uri="{FF2B5EF4-FFF2-40B4-BE49-F238E27FC236}">
                <a16:creationId xmlns:a16="http://schemas.microsoft.com/office/drawing/2014/main" id="{847F4205-AF5E-4B57-892D-B544B509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8132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22">
            <a:extLst xmlns:a="http://schemas.openxmlformats.org/drawingml/2006/main">
              <a:ext uri="{FF2B5EF4-FFF2-40B4-BE49-F238E27FC236}">
                <a16:creationId xmlns:a16="http://schemas.microsoft.com/office/drawing/2014/main" id="{84F639A5-D184-4002-A21B-FBFB32D4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70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6" name="text-23">
            <a:extLst xmlns:a="http://schemas.openxmlformats.org/drawingml/2006/main">
              <a:ext uri="{FF2B5EF4-FFF2-40B4-BE49-F238E27FC236}">
                <a16:creationId xmlns:a16="http://schemas.microsoft.com/office/drawing/2014/main" id="{F6921B2A-338A-4E16-9B70-5CDB9B0F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004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技術對接</a:t>
            </a:r>
          </a:p>
        </p:txBody>
      </p:sp>
      <p:sp>
        <p:nvSpPr>
          <p:cNvPr id="17" name="text-24">
            <a:extLst xmlns:a="http://schemas.openxmlformats.org/drawingml/2006/main">
              <a:ext uri="{FF2B5EF4-FFF2-40B4-BE49-F238E27FC236}">
                <a16:creationId xmlns:a16="http://schemas.microsoft.com/office/drawing/2014/main" id="{310AF410-5C49-47FE-AE1D-EBF7611E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76650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設計與程式對照</a:t>
            </a:r>
          </a:p>
        </p:txBody>
      </p:sp>
      <p:sp>
        <p:nvSpPr>
          <p:cNvPr id="18" name="shape-25">
            <a:extLst xmlns:a="http://schemas.openxmlformats.org/drawingml/2006/main">
              <a:ext uri="{FF2B5EF4-FFF2-40B4-BE49-F238E27FC236}">
                <a16:creationId xmlns:a16="http://schemas.microsoft.com/office/drawing/2014/main" id="{0271B4EC-1173-42E3-9497-26484E5B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26">
            <a:extLst xmlns:a="http://schemas.openxmlformats.org/drawingml/2006/main">
              <a:ext uri="{FF2B5EF4-FFF2-40B4-BE49-F238E27FC236}">
                <a16:creationId xmlns:a16="http://schemas.microsoft.com/office/drawing/2014/main" id="{969A0225-0393-4BE4-B9C2-5307C414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70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20" name="text-27">
            <a:extLst xmlns:a="http://schemas.openxmlformats.org/drawingml/2006/main">
              <a:ext uri="{FF2B5EF4-FFF2-40B4-BE49-F238E27FC236}">
                <a16:creationId xmlns:a16="http://schemas.microsoft.com/office/drawing/2014/main" id="{6DDD6BC9-D880-435B-AADF-A789E4C5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004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封裝與試用</a:t>
            </a:r>
          </a:p>
        </p:txBody>
      </p:sp>
      <p:sp>
        <p:nvSpPr>
          <p:cNvPr id="21" name="text-28">
            <a:extLst xmlns:a="http://schemas.openxmlformats.org/drawingml/2006/main">
              <a:ext uri="{FF2B5EF4-FFF2-40B4-BE49-F238E27FC236}">
                <a16:creationId xmlns:a16="http://schemas.microsoft.com/office/drawing/2014/main" id="{19FCB819-5893-48CA-9A8F-C6D1AAB7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76650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共用組件、驗證頁</a:t>
            </a:r>
          </a:p>
        </p:txBody>
      </p:sp>
      <p:sp>
        <p:nvSpPr>
          <p:cNvPr id="22" name="shape-29">
            <a:extLst xmlns:a="http://schemas.openxmlformats.org/drawingml/2006/main">
              <a:ext uri="{FF2B5EF4-FFF2-40B4-BE49-F238E27FC236}">
                <a16:creationId xmlns:a16="http://schemas.microsoft.com/office/drawing/2014/main" id="{D34319C7-81FE-43D0-8E0F-E797A2F5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0052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30">
            <a:extLst xmlns:a="http://schemas.openxmlformats.org/drawingml/2006/main">
              <a:ext uri="{FF2B5EF4-FFF2-40B4-BE49-F238E27FC236}">
                <a16:creationId xmlns:a16="http://schemas.microsoft.com/office/drawing/2014/main" id="{13A053D6-08EF-43AC-8BE1-AA135E45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0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24" name="text-31">
            <a:extLst xmlns:a="http://schemas.openxmlformats.org/drawingml/2006/main">
              <a:ext uri="{FF2B5EF4-FFF2-40B4-BE49-F238E27FC236}">
                <a16:creationId xmlns:a16="http://schemas.microsoft.com/office/drawing/2014/main" id="{9EDFC370-4933-4B0F-BC62-EA1B8E93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196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套件發布</a:t>
            </a:r>
          </a:p>
        </p:txBody>
      </p:sp>
      <p:sp>
        <p:nvSpPr>
          <p:cNvPr id="25" name="text-32">
            <a:extLst xmlns:a="http://schemas.openxmlformats.org/drawingml/2006/main">
              <a:ext uri="{FF2B5EF4-FFF2-40B4-BE49-F238E27FC236}">
                <a16:creationId xmlns:a16="http://schemas.microsoft.com/office/drawing/2014/main" id="{9FAFFCB1-2DD2-4C65-874B-5A3FBBFB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95850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npm、Demo 與文件</a:t>
            </a:r>
          </a:p>
        </p:txBody>
      </p:sp>
      <p:sp>
        <p:nvSpPr>
          <p:cNvPr id="26" name="shape-33">
            <a:extLst xmlns:a="http://schemas.openxmlformats.org/drawingml/2006/main">
              <a:ext uri="{FF2B5EF4-FFF2-40B4-BE49-F238E27FC236}">
                <a16:creationId xmlns:a16="http://schemas.microsoft.com/office/drawing/2014/main" id="{7FCE8825-852B-4F05-8100-F2D02C7E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34">
            <a:extLst xmlns:a="http://schemas.openxmlformats.org/drawingml/2006/main">
              <a:ext uri="{FF2B5EF4-FFF2-40B4-BE49-F238E27FC236}">
                <a16:creationId xmlns:a16="http://schemas.microsoft.com/office/drawing/2014/main" id="{F6CF7112-ED6A-49A4-85C1-DE0CEFA0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19600"/>
            <a:ext cx="70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0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06</a:t>
            </a:r>
          </a:p>
        </p:txBody>
      </p:sp>
      <p:sp>
        <p:nvSpPr>
          <p:cNvPr id="28" name="text-35">
            <a:extLst xmlns:a="http://schemas.openxmlformats.org/drawingml/2006/main">
              <a:ext uri="{FF2B5EF4-FFF2-40B4-BE49-F238E27FC236}">
                <a16:creationId xmlns:a16="http://schemas.microsoft.com/office/drawing/2014/main" id="{526A2949-8E5E-459F-B34B-D034B4C8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196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導入與維護</a:t>
            </a:r>
          </a:p>
        </p:txBody>
      </p:sp>
      <p:sp>
        <p:nvSpPr>
          <p:cNvPr id="29" name="text-36">
            <a:extLst xmlns:a="http://schemas.openxmlformats.org/drawingml/2006/main">
              <a:ext uri="{FF2B5EF4-FFF2-40B4-BE49-F238E27FC236}">
                <a16:creationId xmlns:a16="http://schemas.microsoft.com/office/drawing/2014/main" id="{AB5F1CB2-34DA-441B-A495-273A7901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95850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新案套用、版本管理</a:t>
            </a:r>
          </a:p>
        </p:txBody>
      </p:sp>
      <p:sp>
        <p:nvSpPr>
          <p:cNvPr id="30" name="shape-37">
            <a:extLst xmlns:a="http://schemas.openxmlformats.org/drawingml/2006/main">
              <a:ext uri="{FF2B5EF4-FFF2-40B4-BE49-F238E27FC236}">
                <a16:creationId xmlns:a16="http://schemas.microsoft.com/office/drawing/2014/main" id="{AC9F72DD-BCDD-4F72-AA2D-EFE8F751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1972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hape-38">
            <a:extLst xmlns:a="http://schemas.openxmlformats.org/drawingml/2006/main">
              <a:ext uri="{FF2B5EF4-FFF2-40B4-BE49-F238E27FC236}">
                <a16:creationId xmlns:a16="http://schemas.microsoft.com/office/drawing/2014/main" id="{1AEE0E06-20F5-49A5-9AEF-A5B44B70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hape-39">
            <a:extLst xmlns:a="http://schemas.openxmlformats.org/drawingml/2006/main">
              <a:ext uri="{FF2B5EF4-FFF2-40B4-BE49-F238E27FC236}">
                <a16:creationId xmlns:a16="http://schemas.microsoft.com/office/drawing/2014/main" id="{8EBD80D9-E191-4878-977A-A8B2C6AD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40">
            <a:extLst xmlns:a="http://schemas.openxmlformats.org/drawingml/2006/main">
              <a:ext uri="{FF2B5EF4-FFF2-40B4-BE49-F238E27FC236}">
                <a16:creationId xmlns:a16="http://schemas.microsoft.com/office/drawing/2014/main" id="{458DA58E-DF51-467E-8690-4656A390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首波先完成一組可實際使用的頁面與組件，再擴充涵蓋範圍</a:t>
            </a:r>
          </a:p>
        </p:txBody>
      </p:sp>
    </p:spTree>
    <p:extLst>
      <p:ext uri="{BB962C8B-B14F-4D97-AF65-F5344CB8AC3E}">
        <p14:creationId xmlns:p14="http://schemas.microsoft.com/office/powerpoint/2010/main" val="3705863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hape-41">
            <a:extLst xmlns:a="http://schemas.openxmlformats.org/drawingml/2006/main">
              <a:ext uri="{FF2B5EF4-FFF2-40B4-BE49-F238E27FC236}">
                <a16:creationId xmlns:a16="http://schemas.microsoft.com/office/drawing/2014/main" id="{7A407031-1135-43DB-BAF3-406B075C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42">
            <a:extLst xmlns:a="http://schemas.openxmlformats.org/drawingml/2006/main">
              <a:ext uri="{FF2B5EF4-FFF2-40B4-BE49-F238E27FC236}">
                <a16:creationId xmlns:a16="http://schemas.microsoft.com/office/drawing/2014/main" id="{D2F3D11A-7886-489D-BA05-4EEE5A94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第一階段：盤點頁面與首波範圍</a:t>
            </a:r>
          </a:p>
        </p:txBody>
      </p:sp>
      <p:sp>
        <p:nvSpPr>
          <p:cNvPr id="3" name="text-43">
            <a:extLst xmlns:a="http://schemas.openxmlformats.org/drawingml/2006/main">
              <a:ext uri="{FF2B5EF4-FFF2-40B4-BE49-F238E27FC236}">
                <a16:creationId xmlns:a16="http://schemas.microsoft.com/office/drawing/2014/main" id="{145576EF-E986-4F07-829B-6ABF4391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以實際需求決定要共用的內容</a:t>
            </a:r>
          </a:p>
        </p:txBody>
      </p:sp>
      <p:sp>
        <p:nvSpPr>
          <p:cNvPr id="4" name="shape-44">
            <a:extLst xmlns:a="http://schemas.openxmlformats.org/drawingml/2006/main">
              <a:ext uri="{FF2B5EF4-FFF2-40B4-BE49-F238E27FC236}">
                <a16:creationId xmlns:a16="http://schemas.microsoft.com/office/drawing/2014/main" id="{08DAC6E6-04EF-4904-AEF3-CEFCC4F2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5">
            <a:extLst xmlns:a="http://schemas.openxmlformats.org/drawingml/2006/main">
              <a:ext uri="{FF2B5EF4-FFF2-40B4-BE49-F238E27FC236}">
                <a16:creationId xmlns:a16="http://schemas.microsoft.com/office/drawing/2014/main" id="{545CD888-64B6-4575-814B-6F9A5B5E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UI 組件封裝與導入規劃</a:t>
            </a:r>
          </a:p>
        </p:txBody>
      </p:sp>
      <p:sp>
        <p:nvSpPr>
          <p:cNvPr id="6" name="text-46">
            <a:extLst xmlns:a="http://schemas.openxmlformats.org/drawingml/2006/main">
              <a:ext uri="{FF2B5EF4-FFF2-40B4-BE49-F238E27FC236}">
                <a16:creationId xmlns:a16="http://schemas.microsoft.com/office/drawing/2014/main" id="{87B3C3E6-6B20-4E2F-86DE-343759EC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7" name="text-47">
            <a:extLst xmlns:a="http://schemas.openxmlformats.org/drawingml/2006/main">
              <a:ext uri="{FF2B5EF4-FFF2-40B4-BE49-F238E27FC236}">
                <a16:creationId xmlns:a16="http://schemas.microsoft.com/office/drawing/2014/main" id="{55FB9C3F-5011-4241-A152-C6402C1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要做的工作</a:t>
            </a:r>
          </a:p>
        </p:txBody>
      </p:sp>
      <p:sp>
        <p:nvSpPr>
          <p:cNvPr id="8" name="text-48">
            <a:extLst xmlns:a="http://schemas.openxmlformats.org/drawingml/2006/main">
              <a:ext uri="{FF2B5EF4-FFF2-40B4-BE49-F238E27FC236}">
                <a16:creationId xmlns:a16="http://schemas.microsoft.com/office/drawing/2014/main" id="{817387B9-DD41-48C5-9191-8F2E29DF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62150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交付與完成條件</a:t>
            </a:r>
          </a:p>
        </p:txBody>
      </p:sp>
      <p:sp>
        <p:nvSpPr>
          <p:cNvPr id="9" name="shape-49">
            <a:extLst xmlns:a="http://schemas.openxmlformats.org/drawingml/2006/main">
              <a:ext uri="{FF2B5EF4-FFF2-40B4-BE49-F238E27FC236}">
                <a16:creationId xmlns:a16="http://schemas.microsoft.com/office/drawing/2014/main" id="{0CA1F807-F1A1-4CD7-89DE-11040F13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002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50">
            <a:extLst xmlns:a="http://schemas.openxmlformats.org/drawingml/2006/main">
              <a:ext uri="{FF2B5EF4-FFF2-40B4-BE49-F238E27FC236}">
                <a16:creationId xmlns:a16="http://schemas.microsoft.com/office/drawing/2014/main" id="{FC4FAF09-7BFF-469E-84AE-64D7EFCB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00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盤點常用頁面</a:t>
            </a:r>
          </a:p>
        </p:txBody>
      </p:sp>
      <p:sp>
        <p:nvSpPr>
          <p:cNvPr id="11" name="text-51">
            <a:extLst xmlns:a="http://schemas.openxmlformats.org/drawingml/2006/main">
              <a:ext uri="{FF2B5EF4-FFF2-40B4-BE49-F238E27FC236}">
                <a16:creationId xmlns:a16="http://schemas.microsoft.com/office/drawing/2014/main" id="{FB04BCB2-4D11-4F7C-AF91-263A092A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00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例如查詢清單、新增／編輯表單、資料明細</a:t>
            </a:r>
          </a:p>
        </p:txBody>
      </p:sp>
      <p:sp>
        <p:nvSpPr>
          <p:cNvPr id="12" name="text-52">
            <a:extLst xmlns:a="http://schemas.openxmlformats.org/drawingml/2006/main">
              <a:ext uri="{FF2B5EF4-FFF2-40B4-BE49-F238E27FC236}">
                <a16:creationId xmlns:a16="http://schemas.microsoft.com/office/drawing/2014/main" id="{A00456EF-FF9E-447A-8D30-FF9432D5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00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找出重複元素</a:t>
            </a:r>
          </a:p>
        </p:txBody>
      </p:sp>
      <p:sp>
        <p:nvSpPr>
          <p:cNvPr id="13" name="text-53">
            <a:extLst xmlns:a="http://schemas.openxmlformats.org/drawingml/2006/main">
              <a:ext uri="{FF2B5EF4-FFF2-40B4-BE49-F238E27FC236}">
                <a16:creationId xmlns:a16="http://schemas.microsoft.com/office/drawing/2014/main" id="{502F3B86-2B74-48A4-8A62-7BCAA1B2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500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按鈕、欄位、提示、表格、分頁與頁面配置</a:t>
            </a:r>
          </a:p>
        </p:txBody>
      </p:sp>
      <p:sp>
        <p:nvSpPr>
          <p:cNvPr id="14" name="text-54">
            <a:extLst xmlns:a="http://schemas.openxmlformats.org/drawingml/2006/main">
              <a:ext uri="{FF2B5EF4-FFF2-40B4-BE49-F238E27FC236}">
                <a16:creationId xmlns:a16="http://schemas.microsoft.com/office/drawing/2014/main" id="{7D170CB8-A225-4A4B-8613-DFED07A7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500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安排首波優先順序</a:t>
            </a:r>
          </a:p>
        </p:txBody>
      </p:sp>
      <p:sp>
        <p:nvSpPr>
          <p:cNvPr id="15" name="text-55">
            <a:extLst xmlns:a="http://schemas.openxmlformats.org/drawingml/2006/main">
              <a:ext uri="{FF2B5EF4-FFF2-40B4-BE49-F238E27FC236}">
                <a16:creationId xmlns:a16="http://schemas.microsoft.com/office/drawing/2014/main" id="{61EE6BC7-EEDD-4E6D-A9CB-F0BC3667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500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依使用頻率、差異程度及導入需求選擇</a:t>
            </a:r>
          </a:p>
        </p:txBody>
      </p:sp>
      <p:sp>
        <p:nvSpPr>
          <p:cNvPr id="16" name="text-56">
            <a:extLst xmlns:a="http://schemas.openxmlformats.org/drawingml/2006/main">
              <a:ext uri="{FF2B5EF4-FFF2-40B4-BE49-F238E27FC236}">
                <a16:creationId xmlns:a16="http://schemas.microsoft.com/office/drawing/2014/main" id="{4424C576-ED0B-42AA-ABD6-0B4EC117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520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交付物</a:t>
            </a:r>
          </a:p>
        </p:txBody>
      </p:sp>
      <p:sp>
        <p:nvSpPr>
          <p:cNvPr id="17" name="text-57">
            <a:extLst xmlns:a="http://schemas.openxmlformats.org/drawingml/2006/main">
              <a:ext uri="{FF2B5EF4-FFF2-40B4-BE49-F238E27FC236}">
                <a16:creationId xmlns:a16="http://schemas.microsoft.com/office/drawing/2014/main" id="{35C73451-2982-4692-8312-9F89D84D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4650"/>
            <a:ext cx="520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代表頁清單、優先組件清單、適用範圍</a:t>
            </a:r>
          </a:p>
        </p:txBody>
      </p:sp>
      <p:sp>
        <p:nvSpPr>
          <p:cNvPr id="18" name="text-58">
            <a:extLst xmlns:a="http://schemas.openxmlformats.org/drawingml/2006/main">
              <a:ext uri="{FF2B5EF4-FFF2-40B4-BE49-F238E27FC236}">
                <a16:creationId xmlns:a16="http://schemas.microsoft.com/office/drawing/2014/main" id="{F948CED3-F82C-4C1B-AE80-015103AB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29025"/>
            <a:ext cx="520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完成條件</a:t>
            </a:r>
          </a:p>
        </p:txBody>
      </p:sp>
      <p:sp>
        <p:nvSpPr>
          <p:cNvPr id="19" name="text-59">
            <a:extLst xmlns:a="http://schemas.openxmlformats.org/drawingml/2006/main">
              <a:ext uri="{FF2B5EF4-FFF2-40B4-BE49-F238E27FC236}">
                <a16:creationId xmlns:a16="http://schemas.microsoft.com/office/drawing/2014/main" id="{52F11EF4-EEA3-4405-B5E9-FF0F043A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0025"/>
            <a:ext cx="520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BA／PM、設計與前端對首波範圍有共同認知</a:t>
            </a:r>
          </a:p>
        </p:txBody>
      </p:sp>
      <p:sp>
        <p:nvSpPr>
          <p:cNvPr id="20" name="text-60">
            <a:extLst xmlns:a="http://schemas.openxmlformats.org/drawingml/2006/main">
              <a:ext uri="{FF2B5EF4-FFF2-40B4-BE49-F238E27FC236}">
                <a16:creationId xmlns:a16="http://schemas.microsoft.com/office/drawing/2014/main" id="{D7795F7E-C6F7-4E0F-BA22-0DB4E74B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24400"/>
            <a:ext cx="520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範圍界線</a:t>
            </a:r>
          </a:p>
        </p:txBody>
      </p:sp>
      <p:sp>
        <p:nvSpPr>
          <p:cNvPr id="21" name="text-61">
            <a:extLst xmlns:a="http://schemas.openxmlformats.org/drawingml/2006/main">
              <a:ext uri="{FF2B5EF4-FFF2-40B4-BE49-F238E27FC236}">
                <a16:creationId xmlns:a16="http://schemas.microsoft.com/office/drawing/2014/main" id="{383DE86A-3186-4CE0-BBD1-147251E8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05400"/>
            <a:ext cx="520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先支援 Vue／Nuxt 新案，舊 MVC 另評估整合</a:t>
            </a:r>
          </a:p>
        </p:txBody>
      </p:sp>
      <p:sp>
        <p:nvSpPr>
          <p:cNvPr id="22" name="shape-62">
            <a:extLst xmlns:a="http://schemas.openxmlformats.org/drawingml/2006/main">
              <a:ext uri="{FF2B5EF4-FFF2-40B4-BE49-F238E27FC236}">
                <a16:creationId xmlns:a16="http://schemas.microsoft.com/office/drawing/2014/main" id="{28B42CAD-E259-4E5C-94B0-4382AB3D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pe-63">
            <a:extLst xmlns:a="http://schemas.openxmlformats.org/drawingml/2006/main">
              <a:ext uri="{FF2B5EF4-FFF2-40B4-BE49-F238E27FC236}">
                <a16:creationId xmlns:a16="http://schemas.microsoft.com/office/drawing/2014/main" id="{4BB1D0C6-796F-427A-AAA0-9D7C29E6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64">
            <a:extLst xmlns:a="http://schemas.openxmlformats.org/drawingml/2006/main">
              <a:ext uri="{FF2B5EF4-FFF2-40B4-BE49-F238E27FC236}">
                <a16:creationId xmlns:a16="http://schemas.microsoft.com/office/drawing/2014/main" id="{09624526-9660-4247-82F8-EFE5B3C6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建議先選「查詢清單＋編輯表單」作為第一組試點，實際頁面待確認</a:t>
            </a:r>
          </a:p>
        </p:txBody>
      </p:sp>
    </p:spTree>
    <p:extLst>
      <p:ext uri="{BB962C8B-B14F-4D97-AF65-F5344CB8AC3E}">
        <p14:creationId xmlns:p14="http://schemas.microsoft.com/office/powerpoint/2010/main" val="13413520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hape-65">
            <a:extLst xmlns:a="http://schemas.openxmlformats.org/drawingml/2006/main">
              <a:ext uri="{FF2B5EF4-FFF2-40B4-BE49-F238E27FC236}">
                <a16:creationId xmlns:a16="http://schemas.microsoft.com/office/drawing/2014/main" id="{6EC66F00-899F-407B-8608-E5EEDCEF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66">
            <a:extLst xmlns:a="http://schemas.openxmlformats.org/drawingml/2006/main">
              <a:ext uri="{FF2B5EF4-FFF2-40B4-BE49-F238E27FC236}">
                <a16:creationId xmlns:a16="http://schemas.microsoft.com/office/drawing/2014/main" id="{6BC8D8F9-0F4C-4C9B-8372-5C446ED5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第二階段：建立可重複使用的設計規範</a:t>
            </a:r>
          </a:p>
        </p:txBody>
      </p:sp>
      <p:sp>
        <p:nvSpPr>
          <p:cNvPr id="3" name="text-67">
            <a:extLst xmlns:a="http://schemas.openxmlformats.org/drawingml/2006/main">
              <a:ext uri="{FF2B5EF4-FFF2-40B4-BE49-F238E27FC236}">
                <a16:creationId xmlns:a16="http://schemas.microsoft.com/office/drawing/2014/main" id="{3E41A12F-CB1C-4C6C-85E7-A6FE42BD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在 Figma 同時整理頁面、組件與全域樣式設定</a:t>
            </a:r>
          </a:p>
        </p:txBody>
      </p:sp>
      <p:sp>
        <p:nvSpPr>
          <p:cNvPr id="4" name="shape-68">
            <a:extLst xmlns:a="http://schemas.openxmlformats.org/drawingml/2006/main">
              <a:ext uri="{FF2B5EF4-FFF2-40B4-BE49-F238E27FC236}">
                <a16:creationId xmlns:a16="http://schemas.microsoft.com/office/drawing/2014/main" id="{50946B99-4C10-4A3B-B49C-5EB307CF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69">
            <a:extLst xmlns:a="http://schemas.openxmlformats.org/drawingml/2006/main">
              <a:ext uri="{FF2B5EF4-FFF2-40B4-BE49-F238E27FC236}">
                <a16:creationId xmlns:a16="http://schemas.microsoft.com/office/drawing/2014/main" id="{571CF7A3-49D7-40C5-BADA-CB1A756C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UI 組件封裝與導入規劃</a:t>
            </a:r>
          </a:p>
        </p:txBody>
      </p:sp>
      <p:sp>
        <p:nvSpPr>
          <p:cNvPr id="6" name="text-70">
            <a:extLst xmlns:a="http://schemas.openxmlformats.org/drawingml/2006/main">
              <a:ext uri="{FF2B5EF4-FFF2-40B4-BE49-F238E27FC236}">
                <a16:creationId xmlns:a16="http://schemas.microsoft.com/office/drawing/2014/main" id="{917006B8-23A1-4107-9656-3C9EEBA1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7" name="text-71">
            <a:extLst xmlns:a="http://schemas.openxmlformats.org/drawingml/2006/main">
              <a:ext uri="{FF2B5EF4-FFF2-40B4-BE49-F238E27FC236}">
                <a16:creationId xmlns:a16="http://schemas.microsoft.com/office/drawing/2014/main" id="{D73A8235-BCA7-4DC2-8303-E2FC091C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設計內容</a:t>
            </a:r>
          </a:p>
        </p:txBody>
      </p:sp>
      <p:sp>
        <p:nvSpPr>
          <p:cNvPr id="8" name="text-72">
            <a:extLst xmlns:a="http://schemas.openxmlformats.org/drawingml/2006/main">
              <a:ext uri="{FF2B5EF4-FFF2-40B4-BE49-F238E27FC236}">
                <a16:creationId xmlns:a16="http://schemas.microsoft.com/office/drawing/2014/main" id="{85B67C12-2CE9-40D5-9F2C-42036617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62150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系統化管理</a:t>
            </a:r>
          </a:p>
        </p:txBody>
      </p:sp>
      <p:sp>
        <p:nvSpPr>
          <p:cNvPr id="9" name="shape-73">
            <a:extLst xmlns:a="http://schemas.openxmlformats.org/drawingml/2006/main">
              <a:ext uri="{FF2B5EF4-FFF2-40B4-BE49-F238E27FC236}">
                <a16:creationId xmlns:a16="http://schemas.microsoft.com/office/drawing/2014/main" id="{BAFA2E5B-9303-4A9B-BBAC-ACC4A4D4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002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74">
            <a:extLst xmlns:a="http://schemas.openxmlformats.org/drawingml/2006/main">
              <a:ext uri="{FF2B5EF4-FFF2-40B4-BE49-F238E27FC236}">
                <a16:creationId xmlns:a16="http://schemas.microsoft.com/office/drawing/2014/main" id="{A661581D-1F6E-406E-B662-40DBA5EA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00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頁面與配置</a:t>
            </a:r>
          </a:p>
        </p:txBody>
      </p:sp>
      <p:sp>
        <p:nvSpPr>
          <p:cNvPr id="11" name="text-75">
            <a:extLst xmlns:a="http://schemas.openxmlformats.org/drawingml/2006/main">
              <a:ext uri="{FF2B5EF4-FFF2-40B4-BE49-F238E27FC236}">
                <a16:creationId xmlns:a16="http://schemas.microsoft.com/office/drawing/2014/main" id="{1802FADA-5A59-41A0-AC50-8A4CB832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00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常用頁面、欄位排列、區塊間距、不同螢幕尺寸</a:t>
            </a:r>
          </a:p>
        </p:txBody>
      </p:sp>
      <p:sp>
        <p:nvSpPr>
          <p:cNvPr id="12" name="text-76">
            <a:extLst xmlns:a="http://schemas.openxmlformats.org/drawingml/2006/main">
              <a:ext uri="{FF2B5EF4-FFF2-40B4-BE49-F238E27FC236}">
                <a16:creationId xmlns:a16="http://schemas.microsoft.com/office/drawing/2014/main" id="{DC0C21BC-DBE7-423C-B150-4BD0412A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00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組件規格</a:t>
            </a:r>
          </a:p>
        </p:txBody>
      </p:sp>
      <p:sp>
        <p:nvSpPr>
          <p:cNvPr id="13" name="text-77">
            <a:extLst xmlns:a="http://schemas.openxmlformats.org/drawingml/2006/main">
              <a:ext uri="{FF2B5EF4-FFF2-40B4-BE49-F238E27FC236}">
                <a16:creationId xmlns:a16="http://schemas.microsoft.com/office/drawing/2014/main" id="{81E4CE02-4537-4993-847A-02A6ADFE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500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類型、大小、屬性及各種互動狀態</a:t>
            </a:r>
          </a:p>
        </p:txBody>
      </p:sp>
      <p:sp>
        <p:nvSpPr>
          <p:cNvPr id="14" name="text-78">
            <a:extLst xmlns:a="http://schemas.openxmlformats.org/drawingml/2006/main">
              <a:ext uri="{FF2B5EF4-FFF2-40B4-BE49-F238E27FC236}">
                <a16:creationId xmlns:a16="http://schemas.microsoft.com/office/drawing/2014/main" id="{339B4215-107D-4B0E-8801-75C8EBD0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500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全域設定</a:t>
            </a:r>
          </a:p>
        </p:txBody>
      </p:sp>
      <p:sp>
        <p:nvSpPr>
          <p:cNvPr id="15" name="text-79">
            <a:extLst xmlns:a="http://schemas.openxmlformats.org/drawingml/2006/main">
              <a:ext uri="{FF2B5EF4-FFF2-40B4-BE49-F238E27FC236}">
                <a16:creationId xmlns:a16="http://schemas.microsoft.com/office/drawing/2014/main" id="{11CFA72F-FAB8-4FF8-A646-8952D0FC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500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顏色、字級、行高、間距、圓角與陰影</a:t>
            </a:r>
          </a:p>
        </p:txBody>
      </p:sp>
      <p:sp>
        <p:nvSpPr>
          <p:cNvPr id="16" name="text-80">
            <a:extLst xmlns:a="http://schemas.openxmlformats.org/drawingml/2006/main">
              <a:ext uri="{FF2B5EF4-FFF2-40B4-BE49-F238E27FC236}">
                <a16:creationId xmlns:a16="http://schemas.microsoft.com/office/drawing/2014/main" id="{2A146B27-767B-4571-8221-B3D0D956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520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Figma 共用資產</a:t>
            </a:r>
          </a:p>
        </p:txBody>
      </p:sp>
      <p:sp>
        <p:nvSpPr>
          <p:cNvPr id="17" name="text-81">
            <a:extLst xmlns:a="http://schemas.openxmlformats.org/drawingml/2006/main">
              <a:ext uri="{FF2B5EF4-FFF2-40B4-BE49-F238E27FC236}">
                <a16:creationId xmlns:a16="http://schemas.microsoft.com/office/drawing/2014/main" id="{E0A78D2B-A9E1-4B7A-8528-40AEA66B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4650"/>
            <a:ext cx="520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使用組件、變體、變數與文字樣式管理</a:t>
            </a:r>
          </a:p>
        </p:txBody>
      </p:sp>
      <p:sp>
        <p:nvSpPr>
          <p:cNvPr id="18" name="text-82">
            <a:extLst xmlns:a="http://schemas.openxmlformats.org/drawingml/2006/main">
              <a:ext uri="{FF2B5EF4-FFF2-40B4-BE49-F238E27FC236}">
                <a16:creationId xmlns:a16="http://schemas.microsoft.com/office/drawing/2014/main" id="{DB5C154C-5A6E-47C0-91E8-82227042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29025"/>
            <a:ext cx="520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可延伸的例頁</a:t>
            </a:r>
          </a:p>
        </p:txBody>
      </p:sp>
      <p:sp>
        <p:nvSpPr>
          <p:cNvPr id="19" name="text-83">
            <a:extLst xmlns:a="http://schemas.openxmlformats.org/drawingml/2006/main">
              <a:ext uri="{FF2B5EF4-FFF2-40B4-BE49-F238E27FC236}">
                <a16:creationId xmlns:a16="http://schemas.microsoft.com/office/drawing/2014/main" id="{E29C5383-5F6E-47B2-8B8B-1BCE61E4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0025"/>
            <a:ext cx="520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提供 BA／PM 可組合參考的範例與使用原則</a:t>
            </a:r>
          </a:p>
        </p:txBody>
      </p:sp>
      <p:sp>
        <p:nvSpPr>
          <p:cNvPr id="20" name="text-84">
            <a:extLst xmlns:a="http://schemas.openxmlformats.org/drawingml/2006/main">
              <a:ext uri="{FF2B5EF4-FFF2-40B4-BE49-F238E27FC236}">
                <a16:creationId xmlns:a16="http://schemas.microsoft.com/office/drawing/2014/main" id="{764E4DFF-CD75-4F2C-A158-FDD62AE9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24400"/>
            <a:ext cx="520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交付與完成條件</a:t>
            </a:r>
          </a:p>
        </p:txBody>
      </p:sp>
      <p:sp>
        <p:nvSpPr>
          <p:cNvPr id="21" name="text-85">
            <a:extLst xmlns:a="http://schemas.openxmlformats.org/drawingml/2006/main">
              <a:ext uri="{FF2B5EF4-FFF2-40B4-BE49-F238E27FC236}">
                <a16:creationId xmlns:a16="http://schemas.microsoft.com/office/drawing/2014/main" id="{06458C48-4328-4051-8916-693B34EB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05400"/>
            <a:ext cx="520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首波頁面與狀態有規格，設計可重複套用並供實作</a:t>
            </a:r>
          </a:p>
        </p:txBody>
      </p:sp>
      <p:sp>
        <p:nvSpPr>
          <p:cNvPr id="22" name="shape-86">
            <a:extLst xmlns:a="http://schemas.openxmlformats.org/drawingml/2006/main">
              <a:ext uri="{FF2B5EF4-FFF2-40B4-BE49-F238E27FC236}">
                <a16:creationId xmlns:a16="http://schemas.microsoft.com/office/drawing/2014/main" id="{6CCD614E-9BB5-4EDF-B46C-E9681DF1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pe-87">
            <a:extLst xmlns:a="http://schemas.openxmlformats.org/drawingml/2006/main">
              <a:ext uri="{FF2B5EF4-FFF2-40B4-BE49-F238E27FC236}">
                <a16:creationId xmlns:a16="http://schemas.microsoft.com/office/drawing/2014/main" id="{C2A67B00-71FF-4753-855C-B19DEEBA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88">
            <a:extLst xmlns:a="http://schemas.openxmlformats.org/drawingml/2006/main">
              <a:ext uri="{FF2B5EF4-FFF2-40B4-BE49-F238E27FC236}">
                <a16:creationId xmlns:a16="http://schemas.microsoft.com/office/drawing/2014/main" id="{63A24590-A43B-4D4B-8F15-26D34D30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變數如同共用設定：調整一次，引用該設定的設計即可同步調整</a:t>
            </a:r>
          </a:p>
        </p:txBody>
      </p:sp>
    </p:spTree>
    <p:extLst>
      <p:ext uri="{BB962C8B-B14F-4D97-AF65-F5344CB8AC3E}">
        <p14:creationId xmlns:p14="http://schemas.microsoft.com/office/powerpoint/2010/main" val="13630878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hape-89">
            <a:extLst xmlns:a="http://schemas.openxmlformats.org/drawingml/2006/main">
              <a:ext uri="{FF2B5EF4-FFF2-40B4-BE49-F238E27FC236}">
                <a16:creationId xmlns:a16="http://schemas.microsoft.com/office/drawing/2014/main" id="{D1307174-92F8-4387-88A9-D84D7BAF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90">
            <a:extLst xmlns:a="http://schemas.openxmlformats.org/drawingml/2006/main">
              <a:ext uri="{FF2B5EF4-FFF2-40B4-BE49-F238E27FC236}">
                <a16:creationId xmlns:a16="http://schemas.microsoft.com/office/drawing/2014/main" id="{7D48D561-3DD3-49B3-BAC8-091DE2C2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設計與實作的迭代方式</a:t>
            </a:r>
          </a:p>
        </p:txBody>
      </p:sp>
      <p:sp>
        <p:nvSpPr>
          <p:cNvPr id="3" name="text-91">
            <a:extLst xmlns:a="http://schemas.openxmlformats.org/drawingml/2006/main">
              <a:ext uri="{FF2B5EF4-FFF2-40B4-BE49-F238E27FC236}">
                <a16:creationId xmlns:a16="http://schemas.microsoft.com/office/drawing/2014/main" id="{0740D431-C656-4E2C-8F39-28F82140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以小批次頁面確認規則，每一輪都同步更新設計與程式</a:t>
            </a:r>
          </a:p>
        </p:txBody>
      </p:sp>
      <p:sp>
        <p:nvSpPr>
          <p:cNvPr id="4" name="shape-92">
            <a:extLst xmlns:a="http://schemas.openxmlformats.org/drawingml/2006/main">
              <a:ext uri="{FF2B5EF4-FFF2-40B4-BE49-F238E27FC236}">
                <a16:creationId xmlns:a16="http://schemas.microsoft.com/office/drawing/2014/main" id="{3F523053-74DB-4137-9E9A-EDA398E1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93">
            <a:extLst xmlns:a="http://schemas.openxmlformats.org/drawingml/2006/main">
              <a:ext uri="{FF2B5EF4-FFF2-40B4-BE49-F238E27FC236}">
                <a16:creationId xmlns:a16="http://schemas.microsoft.com/office/drawing/2014/main" id="{06BA465A-6DE2-48D4-8E80-D02E3AAC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UI 組件封裝與導入規劃</a:t>
            </a:r>
          </a:p>
        </p:txBody>
      </p:sp>
      <p:sp>
        <p:nvSpPr>
          <p:cNvPr id="6" name="text-94">
            <a:extLst xmlns:a="http://schemas.openxmlformats.org/drawingml/2006/main">
              <a:ext uri="{FF2B5EF4-FFF2-40B4-BE49-F238E27FC236}">
                <a16:creationId xmlns:a16="http://schemas.microsoft.com/office/drawing/2014/main" id="{08B16387-75A5-45F2-ADF7-AFF358E3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7" name="text-95">
            <a:extLst xmlns:a="http://schemas.openxmlformats.org/drawingml/2006/main">
              <a:ext uri="{FF2B5EF4-FFF2-40B4-BE49-F238E27FC236}">
                <a16:creationId xmlns:a16="http://schemas.microsoft.com/office/drawing/2014/main" id="{7683A3BA-9DF4-44CA-B512-C06C97C0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8" name="text-96">
            <a:extLst xmlns:a="http://schemas.openxmlformats.org/drawingml/2006/main">
              <a:ext uri="{FF2B5EF4-FFF2-40B4-BE49-F238E27FC236}">
                <a16:creationId xmlns:a16="http://schemas.microsoft.com/office/drawing/2014/main" id="{7FAE1BDB-4C47-4E17-8EAB-E17BADFE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812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代表頁</a:t>
            </a:r>
          </a:p>
        </p:txBody>
      </p:sp>
      <p:sp>
        <p:nvSpPr>
          <p:cNvPr id="9" name="text-97">
            <a:extLst xmlns:a="http://schemas.openxmlformats.org/drawingml/2006/main">
              <a:ext uri="{FF2B5EF4-FFF2-40B4-BE49-F238E27FC236}">
                <a16:creationId xmlns:a16="http://schemas.microsoft.com/office/drawing/2014/main" id="{FE7194AB-A556-401E-88B9-25A1DAF8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28825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用真實情境提出畫面需求</a:t>
            </a:r>
          </a:p>
        </p:txBody>
      </p:sp>
      <p:sp>
        <p:nvSpPr>
          <p:cNvPr id="10" name="shape-98">
            <a:extLst xmlns:a="http://schemas.openxmlformats.org/drawingml/2006/main">
              <a:ext uri="{FF2B5EF4-FFF2-40B4-BE49-F238E27FC236}">
                <a16:creationId xmlns:a16="http://schemas.microsoft.com/office/drawing/2014/main" id="{0C7B8CDA-6F92-4601-B48A-83AC121A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0985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99">
            <a:extLst xmlns:a="http://schemas.openxmlformats.org/drawingml/2006/main">
              <a:ext uri="{FF2B5EF4-FFF2-40B4-BE49-F238E27FC236}">
                <a16:creationId xmlns:a16="http://schemas.microsoft.com/office/drawing/2014/main" id="{0664C03F-C83C-4977-AC74-820D482C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2" name="text-100">
            <a:extLst xmlns:a="http://schemas.openxmlformats.org/drawingml/2006/main">
              <a:ext uri="{FF2B5EF4-FFF2-40B4-BE49-F238E27FC236}">
                <a16:creationId xmlns:a16="http://schemas.microsoft.com/office/drawing/2014/main" id="{555BFB57-1A14-45F8-A965-C35F2D39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194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設計規範</a:t>
            </a:r>
          </a:p>
        </p:txBody>
      </p:sp>
      <p:sp>
        <p:nvSpPr>
          <p:cNvPr id="13" name="text-101">
            <a:extLst xmlns:a="http://schemas.openxmlformats.org/drawingml/2006/main">
              <a:ext uri="{FF2B5EF4-FFF2-40B4-BE49-F238E27FC236}">
                <a16:creationId xmlns:a16="http://schemas.microsoft.com/office/drawing/2014/main" id="{C0135B4B-4395-4155-AFC4-E45A8948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67025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抽出共同組件與樣式設定</a:t>
            </a:r>
          </a:p>
        </p:txBody>
      </p:sp>
      <p:sp>
        <p:nvSpPr>
          <p:cNvPr id="14" name="shape-102">
            <a:extLst xmlns:a="http://schemas.openxmlformats.org/drawingml/2006/main">
              <a:ext uri="{FF2B5EF4-FFF2-40B4-BE49-F238E27FC236}">
                <a16:creationId xmlns:a16="http://schemas.microsoft.com/office/drawing/2014/main" id="{54F13AE1-76B8-4F2B-A3F3-A26C57A4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4805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03">
            <a:extLst xmlns:a="http://schemas.openxmlformats.org/drawingml/2006/main">
              <a:ext uri="{FF2B5EF4-FFF2-40B4-BE49-F238E27FC236}">
                <a16:creationId xmlns:a16="http://schemas.microsoft.com/office/drawing/2014/main" id="{5764DD38-2B77-48E2-AFD2-E828DE58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6" name="text-104">
            <a:extLst xmlns:a="http://schemas.openxmlformats.org/drawingml/2006/main">
              <a:ext uri="{FF2B5EF4-FFF2-40B4-BE49-F238E27FC236}">
                <a16:creationId xmlns:a16="http://schemas.microsoft.com/office/drawing/2014/main" id="{6C5889ED-3340-413A-8797-B2991A38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576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程式試作</a:t>
            </a:r>
          </a:p>
        </p:txBody>
      </p:sp>
      <p:sp>
        <p:nvSpPr>
          <p:cNvPr id="17" name="text-105">
            <a:extLst xmlns:a="http://schemas.openxmlformats.org/drawingml/2006/main">
              <a:ext uri="{FF2B5EF4-FFF2-40B4-BE49-F238E27FC236}">
                <a16:creationId xmlns:a16="http://schemas.microsoft.com/office/drawing/2014/main" id="{94732A40-19D1-4C0C-BBA1-42363266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05225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確認現有技術可以承接</a:t>
            </a:r>
          </a:p>
        </p:txBody>
      </p:sp>
      <p:sp>
        <p:nvSpPr>
          <p:cNvPr id="18" name="shape-106">
            <a:extLst xmlns:a="http://schemas.openxmlformats.org/drawingml/2006/main">
              <a:ext uri="{FF2B5EF4-FFF2-40B4-BE49-F238E27FC236}">
                <a16:creationId xmlns:a16="http://schemas.microsoft.com/office/drawing/2014/main" id="{3FB4C90C-3E2F-4E39-A545-E785C910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8625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107">
            <a:extLst xmlns:a="http://schemas.openxmlformats.org/drawingml/2006/main">
              <a:ext uri="{FF2B5EF4-FFF2-40B4-BE49-F238E27FC236}">
                <a16:creationId xmlns:a16="http://schemas.microsoft.com/office/drawing/2014/main" id="{35FD211B-62B6-42F1-8381-4EB9E315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20" name="text-108">
            <a:extLst xmlns:a="http://schemas.openxmlformats.org/drawingml/2006/main">
              <a:ext uri="{FF2B5EF4-FFF2-40B4-BE49-F238E27FC236}">
                <a16:creationId xmlns:a16="http://schemas.microsoft.com/office/drawing/2014/main" id="{C53BF329-5B5B-4F7C-9B51-A047E17F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958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共同校對</a:t>
            </a:r>
          </a:p>
        </p:txBody>
      </p:sp>
      <p:sp>
        <p:nvSpPr>
          <p:cNvPr id="21" name="text-109">
            <a:extLst xmlns:a="http://schemas.openxmlformats.org/drawingml/2006/main">
              <a:ext uri="{FF2B5EF4-FFF2-40B4-BE49-F238E27FC236}">
                <a16:creationId xmlns:a16="http://schemas.microsoft.com/office/drawing/2014/main" id="{F6B4F042-9A6D-4732-9591-99413B49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43425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BA／PM、設計與前端確認差異</a:t>
            </a:r>
          </a:p>
        </p:txBody>
      </p:sp>
      <p:sp>
        <p:nvSpPr>
          <p:cNvPr id="22" name="shape-110">
            <a:extLst xmlns:a="http://schemas.openxmlformats.org/drawingml/2006/main">
              <a:ext uri="{FF2B5EF4-FFF2-40B4-BE49-F238E27FC236}">
                <a16:creationId xmlns:a16="http://schemas.microsoft.com/office/drawing/2014/main" id="{8A651DB1-3F99-43F8-BA8E-CEAC43C2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2445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pe-111">
            <a:extLst xmlns:a="http://schemas.openxmlformats.org/drawingml/2006/main">
              <a:ext uri="{FF2B5EF4-FFF2-40B4-BE49-F238E27FC236}">
                <a16:creationId xmlns:a16="http://schemas.microsoft.com/office/drawing/2014/main" id="{1AEEA63A-1A6E-4D75-99A2-87655070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hape-112">
            <a:extLst xmlns:a="http://schemas.openxmlformats.org/drawingml/2006/main">
              <a:ext uri="{FF2B5EF4-FFF2-40B4-BE49-F238E27FC236}">
                <a16:creationId xmlns:a16="http://schemas.microsoft.com/office/drawing/2014/main" id="{2DFC519F-C8E4-4029-9FB9-62C47FE4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113">
            <a:extLst xmlns:a="http://schemas.openxmlformats.org/drawingml/2006/main">
              <a:ext uri="{FF2B5EF4-FFF2-40B4-BE49-F238E27FC236}">
                <a16:creationId xmlns:a16="http://schemas.microsoft.com/office/drawing/2014/main" id="{66CB9CA4-3B36-472E-96C7-A96C5BAD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校對發現缺口時，回到頁面與規格修正，再進行下一輪試作</a:t>
            </a:r>
          </a:p>
        </p:txBody>
      </p:sp>
    </p:spTree>
    <p:extLst>
      <p:ext uri="{BB962C8B-B14F-4D97-AF65-F5344CB8AC3E}">
        <p14:creationId xmlns:p14="http://schemas.microsoft.com/office/powerpoint/2010/main" val="12385957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hape-114">
            <a:extLst xmlns:a="http://schemas.openxmlformats.org/drawingml/2006/main">
              <a:ext uri="{FF2B5EF4-FFF2-40B4-BE49-F238E27FC236}">
                <a16:creationId xmlns:a16="http://schemas.microsoft.com/office/drawing/2014/main" id="{EC2B8E27-A965-4335-966F-C2752635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15">
            <a:extLst xmlns:a="http://schemas.openxmlformats.org/drawingml/2006/main">
              <a:ext uri="{FF2B5EF4-FFF2-40B4-BE49-F238E27FC236}">
                <a16:creationId xmlns:a16="http://schemas.microsoft.com/office/drawing/2014/main" id="{9A71327A-B756-4028-9691-4F8F46ED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第三階段：公司設計與既有技術對接</a:t>
            </a:r>
          </a:p>
        </p:txBody>
      </p:sp>
      <p:sp>
        <p:nvSpPr>
          <p:cNvPr id="3" name="text-116">
            <a:extLst xmlns:a="http://schemas.openxmlformats.org/drawingml/2006/main">
              <a:ext uri="{FF2B5EF4-FFF2-40B4-BE49-F238E27FC236}">
                <a16:creationId xmlns:a16="http://schemas.microsoft.com/office/drawing/2014/main" id="{0F82E238-E222-4E52-992E-82851E62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Nuxt、Element Plus、Tailwind 分別負責不同工作</a:t>
            </a:r>
          </a:p>
        </p:txBody>
      </p:sp>
      <p:sp>
        <p:nvSpPr>
          <p:cNvPr id="4" name="shape-117">
            <a:extLst xmlns:a="http://schemas.openxmlformats.org/drawingml/2006/main">
              <a:ext uri="{FF2B5EF4-FFF2-40B4-BE49-F238E27FC236}">
                <a16:creationId xmlns:a16="http://schemas.microsoft.com/office/drawing/2014/main" id="{4A1907E4-BFF0-40BB-8F68-819F7CFA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18">
            <a:extLst xmlns:a="http://schemas.openxmlformats.org/drawingml/2006/main">
              <a:ext uri="{FF2B5EF4-FFF2-40B4-BE49-F238E27FC236}">
                <a16:creationId xmlns:a16="http://schemas.microsoft.com/office/drawing/2014/main" id="{44BB09E8-FA01-4C73-B798-3387345C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UI 組件封裝與導入規劃</a:t>
            </a:r>
          </a:p>
        </p:txBody>
      </p:sp>
      <p:sp>
        <p:nvSpPr>
          <p:cNvPr id="6" name="text-119">
            <a:extLst xmlns:a="http://schemas.openxmlformats.org/drawingml/2006/main">
              <a:ext uri="{FF2B5EF4-FFF2-40B4-BE49-F238E27FC236}">
                <a16:creationId xmlns:a16="http://schemas.microsoft.com/office/drawing/2014/main" id="{30C1F759-80C0-460B-981B-C04524B5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06</a:t>
            </a:r>
          </a:p>
        </p:txBody>
      </p:sp>
      <p:sp>
        <p:nvSpPr>
          <p:cNvPr id="7" name="shape-120">
            <a:extLst xmlns:a="http://schemas.openxmlformats.org/drawingml/2006/main">
              <a:ext uri="{FF2B5EF4-FFF2-40B4-BE49-F238E27FC236}">
                <a16:creationId xmlns:a16="http://schemas.microsoft.com/office/drawing/2014/main" id="{6E09ACD7-E733-4220-BC5A-E6E5A468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68008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21">
            <a:extLst xmlns:a="http://schemas.openxmlformats.org/drawingml/2006/main">
              <a:ext uri="{FF2B5EF4-FFF2-40B4-BE49-F238E27FC236}">
                <a16:creationId xmlns:a16="http://schemas.microsoft.com/office/drawing/2014/main" id="{3C84395B-CAEA-49E4-B781-8BBF72C7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633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公司共用層</a:t>
            </a:r>
          </a:p>
        </p:txBody>
      </p:sp>
      <p:sp>
        <p:nvSpPr>
          <p:cNvPr id="9" name="text-122">
            <a:extLst xmlns:a="http://schemas.openxmlformats.org/drawingml/2006/main">
              <a:ext uri="{FF2B5EF4-FFF2-40B4-BE49-F238E27FC236}">
                <a16:creationId xmlns:a16="http://schemas.microsoft.com/office/drawing/2014/main" id="{BE26EFEE-039E-4447-B19E-E60D4912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33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5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5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5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5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5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5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5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5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5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公司樣式設定、共用組件與頁面範例</a:t>
            </a:r>
          </a:p>
        </p:txBody>
      </p:sp>
      <p:sp>
        <p:nvSpPr>
          <p:cNvPr id="10" name="shape-123">
            <a:extLst xmlns:a="http://schemas.openxmlformats.org/drawingml/2006/main">
              <a:ext uri="{FF2B5EF4-FFF2-40B4-BE49-F238E27FC236}">
                <a16:creationId xmlns:a16="http://schemas.microsoft.com/office/drawing/2014/main" id="{2828E8DE-64D6-4060-A353-71F3BC94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68008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24">
            <a:extLst xmlns:a="http://schemas.openxmlformats.org/drawingml/2006/main">
              <a:ext uri="{FF2B5EF4-FFF2-40B4-BE49-F238E27FC236}">
                <a16:creationId xmlns:a16="http://schemas.microsoft.com/office/drawing/2014/main" id="{E52EC532-27F2-4FD5-BA2E-87DC6EB6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81325"/>
            <a:ext cx="633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Element Plus</a:t>
            </a:r>
          </a:p>
        </p:txBody>
      </p:sp>
      <p:sp>
        <p:nvSpPr>
          <p:cNvPr id="12" name="text-125">
            <a:extLst xmlns:a="http://schemas.openxmlformats.org/drawingml/2006/main">
              <a:ext uri="{FF2B5EF4-FFF2-40B4-BE49-F238E27FC236}">
                <a16:creationId xmlns:a16="http://schemas.microsoft.com/office/drawing/2014/main" id="{52E3F3E8-0F1C-4A9B-B0E8-82BEDBDD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05175"/>
            <a:ext cx="633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提供按鈕、欄位、表格等基礎組件</a:t>
            </a:r>
          </a:p>
        </p:txBody>
      </p:sp>
      <p:sp>
        <p:nvSpPr>
          <p:cNvPr id="13" name="shape-126">
            <a:extLst xmlns:a="http://schemas.openxmlformats.org/drawingml/2006/main">
              <a:ext uri="{FF2B5EF4-FFF2-40B4-BE49-F238E27FC236}">
                <a16:creationId xmlns:a16="http://schemas.microsoft.com/office/drawing/2014/main" id="{A355D4FB-3D0F-47D4-92E5-0876FDC3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68008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27">
            <a:extLst xmlns:a="http://schemas.openxmlformats.org/drawingml/2006/main">
              <a:ext uri="{FF2B5EF4-FFF2-40B4-BE49-F238E27FC236}">
                <a16:creationId xmlns:a16="http://schemas.microsoft.com/office/drawing/2014/main" id="{EC2E819B-0132-4FFB-838A-595F19E3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633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Tailwind</a:t>
            </a:r>
          </a:p>
        </p:txBody>
      </p:sp>
      <p:sp>
        <p:nvSpPr>
          <p:cNvPr id="15" name="text-128">
            <a:extLst xmlns:a="http://schemas.openxmlformats.org/drawingml/2006/main">
              <a:ext uri="{FF2B5EF4-FFF2-40B4-BE49-F238E27FC236}">
                <a16:creationId xmlns:a16="http://schemas.microsoft.com/office/drawing/2014/main" id="{C4D6FD43-58B9-41AB-AAD4-1BA4EC85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633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協助間距、配置與不同螢幕尺寸的排版</a:t>
            </a:r>
          </a:p>
        </p:txBody>
      </p:sp>
      <p:sp>
        <p:nvSpPr>
          <p:cNvPr id="16" name="shape-129">
            <a:extLst xmlns:a="http://schemas.openxmlformats.org/drawingml/2006/main">
              <a:ext uri="{FF2B5EF4-FFF2-40B4-BE49-F238E27FC236}">
                <a16:creationId xmlns:a16="http://schemas.microsoft.com/office/drawing/2014/main" id="{22303B84-5A2C-4AB0-94A5-DB33BCFB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68008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130">
            <a:extLst xmlns:a="http://schemas.openxmlformats.org/drawingml/2006/main">
              <a:ext uri="{FF2B5EF4-FFF2-40B4-BE49-F238E27FC236}">
                <a16:creationId xmlns:a16="http://schemas.microsoft.com/office/drawing/2014/main" id="{17CB243F-F374-4646-8159-A8A71091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38675"/>
            <a:ext cx="633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Nuxt／Vue</a:t>
            </a:r>
          </a:p>
        </p:txBody>
      </p:sp>
      <p:sp>
        <p:nvSpPr>
          <p:cNvPr id="18" name="text-131">
            <a:extLst xmlns:a="http://schemas.openxmlformats.org/drawingml/2006/main">
              <a:ext uri="{FF2B5EF4-FFF2-40B4-BE49-F238E27FC236}">
                <a16:creationId xmlns:a16="http://schemas.microsoft.com/office/drawing/2014/main" id="{14987D87-173E-4578-86F9-548F3F26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62525"/>
            <a:ext cx="633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承載頁面、路由與組件運作</a:t>
            </a:r>
          </a:p>
        </p:txBody>
      </p:sp>
      <p:sp>
        <p:nvSpPr>
          <p:cNvPr id="19" name="text-132">
            <a:extLst xmlns:a="http://schemas.openxmlformats.org/drawingml/2006/main">
              <a:ext uri="{FF2B5EF4-FFF2-40B4-BE49-F238E27FC236}">
                <a16:creationId xmlns:a16="http://schemas.microsoft.com/office/drawing/2014/main" id="{13B50A87-9686-4092-A66A-8B53DD11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574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本階段交付</a:t>
            </a:r>
          </a:p>
        </p:txBody>
      </p:sp>
      <p:sp>
        <p:nvSpPr>
          <p:cNvPr id="20" name="text-133">
            <a:extLst xmlns:a="http://schemas.openxmlformats.org/drawingml/2006/main">
              <a:ext uri="{FF2B5EF4-FFF2-40B4-BE49-F238E27FC236}">
                <a16:creationId xmlns:a16="http://schemas.microsoft.com/office/drawing/2014/main" id="{7DB38070-0CBD-4F37-BEA7-9569D248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860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21" name="text-134">
            <a:extLst xmlns:a="http://schemas.openxmlformats.org/drawingml/2006/main">
              <a:ext uri="{FF2B5EF4-FFF2-40B4-BE49-F238E27FC236}">
                <a16:creationId xmlns:a16="http://schemas.microsoft.com/office/drawing/2014/main" id="{67408323-38B9-4846-ACDA-D4318855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86050"/>
            <a:ext cx="309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rPr>
              <a:t>公司設定與技術變數的對照表</a:t>
            </a:r>
          </a:p>
        </p:txBody>
      </p:sp>
      <p:sp>
        <p:nvSpPr>
          <p:cNvPr id="22" name="text-135">
            <a:extLst xmlns:a="http://schemas.openxmlformats.org/drawingml/2006/main">
              <a:ext uri="{FF2B5EF4-FFF2-40B4-BE49-F238E27FC236}">
                <a16:creationId xmlns:a16="http://schemas.microsoft.com/office/drawing/2014/main" id="{A96D7049-D5C7-43D2-A50B-83E7189D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9567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23" name="text-136">
            <a:extLst xmlns:a="http://schemas.openxmlformats.org/drawingml/2006/main">
              <a:ext uri="{FF2B5EF4-FFF2-40B4-BE49-F238E27FC236}">
                <a16:creationId xmlns:a16="http://schemas.microsoft.com/office/drawing/2014/main" id="{08BF8E91-42C3-4A4C-9271-B1136D8E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95675"/>
            <a:ext cx="309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rPr>
              <a:t>全域及各組件的樣式變數盤點</a:t>
            </a:r>
          </a:p>
        </p:txBody>
      </p:sp>
      <p:sp>
        <p:nvSpPr>
          <p:cNvPr id="24" name="text-137">
            <a:extLst xmlns:a="http://schemas.openxmlformats.org/drawingml/2006/main">
              <a:ext uri="{FF2B5EF4-FFF2-40B4-BE49-F238E27FC236}">
                <a16:creationId xmlns:a16="http://schemas.microsoft.com/office/drawing/2014/main" id="{0A15E232-6A11-4522-8A98-9FC1F75D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053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3</a:t>
            </a:r>
          </a:p>
        </p:txBody>
      </p:sp>
      <p:sp>
        <p:nvSpPr>
          <p:cNvPr id="25" name="text-138">
            <a:extLst xmlns:a="http://schemas.openxmlformats.org/drawingml/2006/main">
              <a:ext uri="{FF2B5EF4-FFF2-40B4-BE49-F238E27FC236}">
                <a16:creationId xmlns:a16="http://schemas.microsoft.com/office/drawing/2014/main" id="{9AA7F7E9-B003-4E20-884B-7C0B80AC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05300"/>
            <a:ext cx="309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rPr>
              <a:t>相容性與樣式衝突的驗證結果</a:t>
            </a:r>
          </a:p>
        </p:txBody>
      </p:sp>
      <p:sp>
        <p:nvSpPr>
          <p:cNvPr id="26" name="shape-139">
            <a:extLst xmlns:a="http://schemas.openxmlformats.org/drawingml/2006/main">
              <a:ext uri="{FF2B5EF4-FFF2-40B4-BE49-F238E27FC236}">
                <a16:creationId xmlns:a16="http://schemas.microsoft.com/office/drawing/2014/main" id="{79471361-862E-4381-9EF7-48A3B693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hape-140">
            <a:extLst xmlns:a="http://schemas.openxmlformats.org/drawingml/2006/main">
              <a:ext uri="{FF2B5EF4-FFF2-40B4-BE49-F238E27FC236}">
                <a16:creationId xmlns:a16="http://schemas.microsoft.com/office/drawing/2014/main" id="{46E4CACB-E705-4003-AD10-46C43A4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141">
            <a:extLst xmlns:a="http://schemas.openxmlformats.org/drawingml/2006/main">
              <a:ext uri="{FF2B5EF4-FFF2-40B4-BE49-F238E27FC236}">
                <a16:creationId xmlns:a16="http://schemas.microsoft.com/office/drawing/2014/main" id="{2F96CF92-3A77-47EA-9A5E-EF1DB2C7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頁面配置與全域樣式分開管理，避免以單一設定檔承擔所有責任</a:t>
            </a:r>
          </a:p>
        </p:txBody>
      </p:sp>
    </p:spTree>
    <p:extLst>
      <p:ext uri="{BB962C8B-B14F-4D97-AF65-F5344CB8AC3E}">
        <p14:creationId xmlns:p14="http://schemas.microsoft.com/office/powerpoint/2010/main" val="2705221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hape-142">
            <a:extLst xmlns:a="http://schemas.openxmlformats.org/drawingml/2006/main">
              <a:ext uri="{FF2B5EF4-FFF2-40B4-BE49-F238E27FC236}">
                <a16:creationId xmlns:a16="http://schemas.microsoft.com/office/drawing/2014/main" id="{8ED1BC5E-FAAD-4F69-B090-7E7F122C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43">
            <a:extLst xmlns:a="http://schemas.openxmlformats.org/drawingml/2006/main">
              <a:ext uri="{FF2B5EF4-FFF2-40B4-BE49-F238E27FC236}">
                <a16:creationId xmlns:a16="http://schemas.microsoft.com/office/drawing/2014/main" id="{C6569817-E9FD-4A4D-AD6C-8BECF2C6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第四階段：依共用需求封裝組件</a:t>
            </a:r>
          </a:p>
        </p:txBody>
      </p:sp>
      <p:sp>
        <p:nvSpPr>
          <p:cNvPr id="3" name="text-144">
            <a:extLst xmlns:a="http://schemas.openxmlformats.org/drawingml/2006/main">
              <a:ext uri="{FF2B5EF4-FFF2-40B4-BE49-F238E27FC236}">
                <a16:creationId xmlns:a16="http://schemas.microsoft.com/office/drawing/2014/main" id="{1E08FAC3-2FEC-47AD-A42C-433885B7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在 Element Plus 基礎上落實公司規格</a:t>
            </a:r>
          </a:p>
        </p:txBody>
      </p:sp>
      <p:sp>
        <p:nvSpPr>
          <p:cNvPr id="4" name="shape-145">
            <a:extLst xmlns:a="http://schemas.openxmlformats.org/drawingml/2006/main">
              <a:ext uri="{FF2B5EF4-FFF2-40B4-BE49-F238E27FC236}">
                <a16:creationId xmlns:a16="http://schemas.microsoft.com/office/drawing/2014/main" id="{FD8582E7-24C4-44A7-BB80-7CA9465B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46">
            <a:extLst xmlns:a="http://schemas.openxmlformats.org/drawingml/2006/main">
              <a:ext uri="{FF2B5EF4-FFF2-40B4-BE49-F238E27FC236}">
                <a16:creationId xmlns:a16="http://schemas.microsoft.com/office/drawing/2014/main" id="{93BD8C82-AEAB-4C88-85D2-1AD09DED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UI 組件封裝與導入規劃</a:t>
            </a:r>
          </a:p>
        </p:txBody>
      </p:sp>
      <p:sp>
        <p:nvSpPr>
          <p:cNvPr id="6" name="text-147">
            <a:extLst xmlns:a="http://schemas.openxmlformats.org/drawingml/2006/main">
              <a:ext uri="{FF2B5EF4-FFF2-40B4-BE49-F238E27FC236}">
                <a16:creationId xmlns:a16="http://schemas.microsoft.com/office/drawing/2014/main" id="{0442746E-FAB4-43ED-9320-0706B1E3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07</a:t>
            </a:r>
          </a:p>
        </p:txBody>
      </p:sp>
      <p:sp>
        <p:nvSpPr>
          <p:cNvPr id="7" name="text-148">
            <a:extLst xmlns:a="http://schemas.openxmlformats.org/drawingml/2006/main">
              <a:ext uri="{FF2B5EF4-FFF2-40B4-BE49-F238E27FC236}">
                <a16:creationId xmlns:a16="http://schemas.microsoft.com/office/drawing/2014/main" id="{43A03A93-DC7E-423D-9EB7-2F68C802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先調整樣式設定</a:t>
            </a:r>
          </a:p>
        </p:txBody>
      </p:sp>
      <p:sp>
        <p:nvSpPr>
          <p:cNvPr id="8" name="text-149">
            <a:extLst xmlns:a="http://schemas.openxmlformats.org/drawingml/2006/main">
              <a:ext uri="{FF2B5EF4-FFF2-40B4-BE49-F238E27FC236}">
                <a16:creationId xmlns:a16="http://schemas.microsoft.com/office/drawing/2014/main" id="{7DEEAACA-226D-4D1E-B15B-5DA15EAF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62150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再封裝需要共用的行為</a:t>
            </a:r>
          </a:p>
        </p:txBody>
      </p:sp>
      <p:sp>
        <p:nvSpPr>
          <p:cNvPr id="9" name="shape-150">
            <a:extLst xmlns:a="http://schemas.openxmlformats.org/drawingml/2006/main">
              <a:ext uri="{FF2B5EF4-FFF2-40B4-BE49-F238E27FC236}">
                <a16:creationId xmlns:a16="http://schemas.microsoft.com/office/drawing/2014/main" id="{EA064F3B-22E7-4368-91AB-FEFD689C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002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51">
            <a:extLst xmlns:a="http://schemas.openxmlformats.org/drawingml/2006/main">
              <a:ext uri="{FF2B5EF4-FFF2-40B4-BE49-F238E27FC236}">
                <a16:creationId xmlns:a16="http://schemas.microsoft.com/office/drawing/2014/main" id="{97E3253E-8EF3-466F-B628-38F1448A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00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可用設定完成的差異</a:t>
            </a:r>
          </a:p>
        </p:txBody>
      </p:sp>
      <p:sp>
        <p:nvSpPr>
          <p:cNvPr id="11" name="text-152">
            <a:extLst xmlns:a="http://schemas.openxmlformats.org/drawingml/2006/main">
              <a:ext uri="{FF2B5EF4-FFF2-40B4-BE49-F238E27FC236}">
                <a16:creationId xmlns:a16="http://schemas.microsoft.com/office/drawing/2014/main" id="{3BBF9AAC-C420-479F-8353-F3D34387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00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顏色、字級、圓角、尺寸與部分狀態樣式</a:t>
            </a:r>
          </a:p>
        </p:txBody>
      </p:sp>
      <p:sp>
        <p:nvSpPr>
          <p:cNvPr id="12" name="text-153">
            <a:extLst xmlns:a="http://schemas.openxmlformats.org/drawingml/2006/main">
              <a:ext uri="{FF2B5EF4-FFF2-40B4-BE49-F238E27FC236}">
                <a16:creationId xmlns:a16="http://schemas.microsoft.com/office/drawing/2014/main" id="{55BB95F5-9470-4C37-BF25-AC6057E6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00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建立對照關係</a:t>
            </a:r>
          </a:p>
        </p:txBody>
      </p:sp>
      <p:sp>
        <p:nvSpPr>
          <p:cNvPr id="13" name="text-154">
            <a:extLst xmlns:a="http://schemas.openxmlformats.org/drawingml/2006/main">
              <a:ext uri="{FF2B5EF4-FFF2-40B4-BE49-F238E27FC236}">
                <a16:creationId xmlns:a16="http://schemas.microsoft.com/office/drawing/2014/main" id="{0F8979C8-ECBE-4BC3-891B-303CBD26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500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公司樣式名稱對應 Element Plus 等技術設定</a:t>
            </a:r>
          </a:p>
        </p:txBody>
      </p:sp>
      <p:sp>
        <p:nvSpPr>
          <p:cNvPr id="14" name="text-155">
            <a:extLst xmlns:a="http://schemas.openxmlformats.org/drawingml/2006/main">
              <a:ext uri="{FF2B5EF4-FFF2-40B4-BE49-F238E27FC236}">
                <a16:creationId xmlns:a16="http://schemas.microsoft.com/office/drawing/2014/main" id="{87A03D73-4C7A-486C-9979-1B2CA480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500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留下例外紀錄</a:t>
            </a:r>
          </a:p>
        </p:txBody>
      </p:sp>
      <p:sp>
        <p:nvSpPr>
          <p:cNvPr id="15" name="text-156">
            <a:extLst xmlns:a="http://schemas.openxmlformats.org/drawingml/2006/main">
              <a:ext uri="{FF2B5EF4-FFF2-40B4-BE49-F238E27FC236}">
                <a16:creationId xmlns:a16="http://schemas.microsoft.com/office/drawing/2014/main" id="{10201F68-CA28-4C04-8A8A-9E0665DD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500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設定無法涵蓋的部分，再評估局部樣式調整</a:t>
            </a:r>
          </a:p>
        </p:txBody>
      </p:sp>
      <p:sp>
        <p:nvSpPr>
          <p:cNvPr id="16" name="text-157">
            <a:extLst xmlns:a="http://schemas.openxmlformats.org/drawingml/2006/main">
              <a:ext uri="{FF2B5EF4-FFF2-40B4-BE49-F238E27FC236}">
                <a16:creationId xmlns:a16="http://schemas.microsoft.com/office/drawing/2014/main" id="{8756F4CE-E5DB-4B04-9FB8-ECBAA67F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520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共用規格</a:t>
            </a:r>
          </a:p>
        </p:txBody>
      </p:sp>
      <p:sp>
        <p:nvSpPr>
          <p:cNvPr id="17" name="text-158">
            <a:extLst xmlns:a="http://schemas.openxmlformats.org/drawingml/2006/main">
              <a:ext uri="{FF2B5EF4-FFF2-40B4-BE49-F238E27FC236}">
                <a16:creationId xmlns:a16="http://schemas.microsoft.com/office/drawing/2014/main" id="{1E594E84-FF1F-4647-B223-877519C3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4650"/>
            <a:ext cx="520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統一預設值、欄位標籤、提示與操作介面</a:t>
            </a:r>
          </a:p>
        </p:txBody>
      </p:sp>
      <p:sp>
        <p:nvSpPr>
          <p:cNvPr id="18" name="text-159">
            <a:extLst xmlns:a="http://schemas.openxmlformats.org/drawingml/2006/main">
              <a:ext uri="{FF2B5EF4-FFF2-40B4-BE49-F238E27FC236}">
                <a16:creationId xmlns:a16="http://schemas.microsoft.com/office/drawing/2014/main" id="{4E85690D-39E8-4DC4-948F-12E53F94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29025"/>
            <a:ext cx="520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保留擴充方式</a:t>
            </a:r>
          </a:p>
        </p:txBody>
      </p:sp>
      <p:sp>
        <p:nvSpPr>
          <p:cNvPr id="19" name="text-160">
            <a:extLst xmlns:a="http://schemas.openxmlformats.org/drawingml/2006/main">
              <a:ext uri="{FF2B5EF4-FFF2-40B4-BE49-F238E27FC236}">
                <a16:creationId xmlns:a16="http://schemas.microsoft.com/office/drawing/2014/main" id="{29FE881B-10F9-4485-8B10-6CA63982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0025"/>
            <a:ext cx="520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定義可設定屬性、事件與內容插槽</a:t>
            </a:r>
          </a:p>
        </p:txBody>
      </p:sp>
      <p:sp>
        <p:nvSpPr>
          <p:cNvPr id="20" name="text-161">
            <a:extLst xmlns:a="http://schemas.openxmlformats.org/drawingml/2006/main">
              <a:ext uri="{FF2B5EF4-FFF2-40B4-BE49-F238E27FC236}">
                <a16:creationId xmlns:a16="http://schemas.microsoft.com/office/drawing/2014/main" id="{9AF1F0FE-5F0B-4CB4-BE0B-454B790A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24400"/>
            <a:ext cx="520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控制封裝範圍</a:t>
            </a:r>
          </a:p>
        </p:txBody>
      </p:sp>
      <p:sp>
        <p:nvSpPr>
          <p:cNvPr id="21" name="text-162">
            <a:extLst xmlns:a="http://schemas.openxmlformats.org/drawingml/2006/main">
              <a:ext uri="{FF2B5EF4-FFF2-40B4-BE49-F238E27FC236}">
                <a16:creationId xmlns:a16="http://schemas.microsoft.com/office/drawing/2014/main" id="{11FE1528-CA31-4CFB-B867-8BBD6781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05400"/>
            <a:ext cx="520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由專案處理業務 API、權限判斷與特定流程</a:t>
            </a:r>
          </a:p>
        </p:txBody>
      </p:sp>
      <p:sp>
        <p:nvSpPr>
          <p:cNvPr id="22" name="shape-163">
            <a:extLst xmlns:a="http://schemas.openxmlformats.org/drawingml/2006/main">
              <a:ext uri="{FF2B5EF4-FFF2-40B4-BE49-F238E27FC236}">
                <a16:creationId xmlns:a16="http://schemas.microsoft.com/office/drawing/2014/main" id="{1E1396DA-E33E-465F-BF17-EE511AEE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pe-164">
            <a:extLst xmlns:a="http://schemas.openxmlformats.org/drawingml/2006/main">
              <a:ext uri="{FF2B5EF4-FFF2-40B4-BE49-F238E27FC236}">
                <a16:creationId xmlns:a16="http://schemas.microsoft.com/office/drawing/2014/main" id="{D0086AF6-F52E-4A6D-A06E-7AA6ABAF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165">
            <a:extLst xmlns:a="http://schemas.openxmlformats.org/drawingml/2006/main">
              <a:ext uri="{FF2B5EF4-FFF2-40B4-BE49-F238E27FC236}">
                <a16:creationId xmlns:a16="http://schemas.microsoft.com/office/drawing/2014/main" id="{044F8FE1-9E9C-404C-971B-A5FDEA13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交付物：首波共用組件、使用介面說明與對應範例</a:t>
            </a:r>
          </a:p>
        </p:txBody>
      </p:sp>
    </p:spTree>
    <p:extLst>
      <p:ext uri="{BB962C8B-B14F-4D97-AF65-F5344CB8AC3E}">
        <p14:creationId xmlns:p14="http://schemas.microsoft.com/office/powerpoint/2010/main" val="358611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hape-166">
            <a:extLst xmlns:a="http://schemas.openxmlformats.org/drawingml/2006/main">
              <a:ext uri="{FF2B5EF4-FFF2-40B4-BE49-F238E27FC236}">
                <a16:creationId xmlns:a16="http://schemas.microsoft.com/office/drawing/2014/main" id="{80B6A927-FE5F-4CB7-9C5F-5AC5FBD0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67">
            <a:extLst xmlns:a="http://schemas.openxmlformats.org/drawingml/2006/main">
              <a:ext uri="{FF2B5EF4-FFF2-40B4-BE49-F238E27FC236}">
                <a16:creationId xmlns:a16="http://schemas.microsoft.com/office/drawing/2014/main" id="{C687A908-882D-4DCB-BA43-64F49667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第四階段：代表頁驗證與試用</a:t>
            </a:r>
          </a:p>
        </p:txBody>
      </p:sp>
      <p:sp>
        <p:nvSpPr>
          <p:cNvPr id="3" name="text-168">
            <a:extLst xmlns:a="http://schemas.openxmlformats.org/drawingml/2006/main">
              <a:ext uri="{FF2B5EF4-FFF2-40B4-BE49-F238E27FC236}">
                <a16:creationId xmlns:a16="http://schemas.microsoft.com/office/drawing/2014/main" id="{C633274C-4845-40D1-ADC5-834B5E39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初期可先在試點專案中驗證，確認穩定後再集中發布</a:t>
            </a:r>
          </a:p>
        </p:txBody>
      </p:sp>
      <p:sp>
        <p:nvSpPr>
          <p:cNvPr id="4" name="shape-169">
            <a:extLst xmlns:a="http://schemas.openxmlformats.org/drawingml/2006/main">
              <a:ext uri="{FF2B5EF4-FFF2-40B4-BE49-F238E27FC236}">
                <a16:creationId xmlns:a16="http://schemas.microsoft.com/office/drawing/2014/main" id="{B3040ECB-869A-4F72-8C6D-82C0FCD7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70">
            <a:extLst xmlns:a="http://schemas.openxmlformats.org/drawingml/2006/main">
              <a:ext uri="{FF2B5EF4-FFF2-40B4-BE49-F238E27FC236}">
                <a16:creationId xmlns:a16="http://schemas.microsoft.com/office/drawing/2014/main" id="{1B7AC0B9-8AC1-4CC7-B90D-45ED9046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UI 組件封裝與導入規劃</a:t>
            </a:r>
          </a:p>
        </p:txBody>
      </p:sp>
      <p:sp>
        <p:nvSpPr>
          <p:cNvPr id="6" name="text-171">
            <a:extLst xmlns:a="http://schemas.openxmlformats.org/drawingml/2006/main">
              <a:ext uri="{FF2B5EF4-FFF2-40B4-BE49-F238E27FC236}">
                <a16:creationId xmlns:a16="http://schemas.microsoft.com/office/drawing/2014/main" id="{84609D5B-5A58-430F-8B2D-1931CFD2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08</a:t>
            </a:r>
          </a:p>
        </p:txBody>
      </p:sp>
      <p:sp>
        <p:nvSpPr>
          <p:cNvPr id="7" name="text-172">
            <a:extLst xmlns:a="http://schemas.openxmlformats.org/drawingml/2006/main">
              <a:ext uri="{FF2B5EF4-FFF2-40B4-BE49-F238E27FC236}">
                <a16:creationId xmlns:a16="http://schemas.microsoft.com/office/drawing/2014/main" id="{D111B6A0-4E03-4C8F-94F9-06D73F57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8" name="text-173">
            <a:extLst xmlns:a="http://schemas.openxmlformats.org/drawingml/2006/main">
              <a:ext uri="{FF2B5EF4-FFF2-40B4-BE49-F238E27FC236}">
                <a16:creationId xmlns:a16="http://schemas.microsoft.com/office/drawing/2014/main" id="{B2AA7FB1-7CD2-4426-9ABC-15CC12D7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574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設計一致</a:t>
            </a:r>
          </a:p>
        </p:txBody>
      </p:sp>
      <p:sp>
        <p:nvSpPr>
          <p:cNvPr id="9" name="text-174">
            <a:extLst xmlns:a="http://schemas.openxmlformats.org/drawingml/2006/main">
              <a:ext uri="{FF2B5EF4-FFF2-40B4-BE49-F238E27FC236}">
                <a16:creationId xmlns:a16="http://schemas.microsoft.com/office/drawing/2014/main" id="{9CCDF8B4-96D1-4E5F-81C3-42EC09F4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7175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尺寸、間距、顏色與規格相符</a:t>
            </a:r>
          </a:p>
        </p:txBody>
      </p:sp>
      <p:sp>
        <p:nvSpPr>
          <p:cNvPr id="10" name="shape-175">
            <a:extLst xmlns:a="http://schemas.openxmlformats.org/drawingml/2006/main">
              <a:ext uri="{FF2B5EF4-FFF2-40B4-BE49-F238E27FC236}">
                <a16:creationId xmlns:a16="http://schemas.microsoft.com/office/drawing/2014/main" id="{1DF386F5-B19D-4578-B2D3-C6967EC9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76">
            <a:extLst xmlns:a="http://schemas.openxmlformats.org/drawingml/2006/main">
              <a:ext uri="{FF2B5EF4-FFF2-40B4-BE49-F238E27FC236}">
                <a16:creationId xmlns:a16="http://schemas.microsoft.com/office/drawing/2014/main" id="{33C20BD2-F210-487B-9649-C06B7AC0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2" name="text-177">
            <a:extLst xmlns:a="http://schemas.openxmlformats.org/drawingml/2006/main">
              <a:ext uri="{FF2B5EF4-FFF2-40B4-BE49-F238E27FC236}">
                <a16:creationId xmlns:a16="http://schemas.microsoft.com/office/drawing/2014/main" id="{39C18275-5146-4D46-9EA7-E456A852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574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互動完整</a:t>
            </a:r>
          </a:p>
        </p:txBody>
      </p:sp>
      <p:sp>
        <p:nvSpPr>
          <p:cNvPr id="13" name="text-178">
            <a:extLst xmlns:a="http://schemas.openxmlformats.org/drawingml/2006/main">
              <a:ext uri="{FF2B5EF4-FFF2-40B4-BE49-F238E27FC236}">
                <a16:creationId xmlns:a16="http://schemas.microsoft.com/office/drawing/2014/main" id="{C255FC92-BC51-4B8B-BA3F-284AEAAF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7175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錯誤、停用、載入中等狀態正常</a:t>
            </a:r>
          </a:p>
        </p:txBody>
      </p:sp>
      <p:sp>
        <p:nvSpPr>
          <p:cNvPr id="14" name="shape-179">
            <a:extLst xmlns:a="http://schemas.openxmlformats.org/drawingml/2006/main">
              <a:ext uri="{FF2B5EF4-FFF2-40B4-BE49-F238E27FC236}">
                <a16:creationId xmlns:a16="http://schemas.microsoft.com/office/drawing/2014/main" id="{F8E854F3-242F-4D7A-A18B-D644CF09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80">
            <a:extLst xmlns:a="http://schemas.openxmlformats.org/drawingml/2006/main">
              <a:ext uri="{FF2B5EF4-FFF2-40B4-BE49-F238E27FC236}">
                <a16:creationId xmlns:a16="http://schemas.microsoft.com/office/drawing/2014/main" id="{662EE710-92FA-4FBC-A211-8F7541CA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6" name="text-181">
            <a:extLst xmlns:a="http://schemas.openxmlformats.org/drawingml/2006/main">
              <a:ext uri="{FF2B5EF4-FFF2-40B4-BE49-F238E27FC236}">
                <a16:creationId xmlns:a16="http://schemas.microsoft.com/office/drawing/2014/main" id="{AD71D64C-D346-43E1-AA09-5B3ECC80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576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操作可用</a:t>
            </a:r>
          </a:p>
        </p:txBody>
      </p:sp>
      <p:sp>
        <p:nvSpPr>
          <p:cNvPr id="17" name="text-182">
            <a:extLst xmlns:a="http://schemas.openxmlformats.org/drawingml/2006/main">
              <a:ext uri="{FF2B5EF4-FFF2-40B4-BE49-F238E27FC236}">
                <a16:creationId xmlns:a16="http://schemas.microsoft.com/office/drawing/2014/main" id="{54AE4CCD-ECBD-4AAE-BFF5-A8468258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鍵盤、焦點、標籤及螢幕尺寸檢核</a:t>
            </a:r>
          </a:p>
        </p:txBody>
      </p:sp>
      <p:sp>
        <p:nvSpPr>
          <p:cNvPr id="18" name="shape-183">
            <a:extLst xmlns:a="http://schemas.openxmlformats.org/drawingml/2006/main">
              <a:ext uri="{FF2B5EF4-FFF2-40B4-BE49-F238E27FC236}">
                <a16:creationId xmlns:a16="http://schemas.microsoft.com/office/drawing/2014/main" id="{3DEA068E-9BD8-4734-885D-06783C58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184">
            <a:extLst xmlns:a="http://schemas.openxmlformats.org/drawingml/2006/main">
              <a:ext uri="{FF2B5EF4-FFF2-40B4-BE49-F238E27FC236}">
                <a16:creationId xmlns:a16="http://schemas.microsoft.com/office/drawing/2014/main" id="{4ED84283-628D-4C83-9651-726F6820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576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20" name="text-185">
            <a:extLst xmlns:a="http://schemas.openxmlformats.org/drawingml/2006/main">
              <a:ext uri="{FF2B5EF4-FFF2-40B4-BE49-F238E27FC236}">
                <a16:creationId xmlns:a16="http://schemas.microsoft.com/office/drawing/2014/main" id="{22141787-2058-4E10-BA17-D16CA764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576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可重複使用</a:t>
            </a:r>
          </a:p>
        </p:txBody>
      </p:sp>
      <p:sp>
        <p:nvSpPr>
          <p:cNvPr id="21" name="text-186">
            <a:extLst xmlns:a="http://schemas.openxmlformats.org/drawingml/2006/main">
              <a:ext uri="{FF2B5EF4-FFF2-40B4-BE49-F238E27FC236}">
                <a16:creationId xmlns:a16="http://schemas.microsoft.com/office/drawing/2014/main" id="{B21B71FE-88EB-4120-B33D-6CE31ABF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7195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跨頁套用，無須複製修改組件原始碼</a:t>
            </a:r>
          </a:p>
        </p:txBody>
      </p:sp>
      <p:sp>
        <p:nvSpPr>
          <p:cNvPr id="22" name="shape-187">
            <a:extLst xmlns:a="http://schemas.openxmlformats.org/drawingml/2006/main">
              <a:ext uri="{FF2B5EF4-FFF2-40B4-BE49-F238E27FC236}">
                <a16:creationId xmlns:a16="http://schemas.microsoft.com/office/drawing/2014/main" id="{EAAF2132-D944-40DB-9F0D-FFA3E7F9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815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pe-188">
            <a:extLst xmlns:a="http://schemas.openxmlformats.org/drawingml/2006/main">
              <a:ext uri="{FF2B5EF4-FFF2-40B4-BE49-F238E27FC236}">
                <a16:creationId xmlns:a16="http://schemas.microsoft.com/office/drawing/2014/main" id="{C6682D07-A2D5-46FC-BCFD-7C340FFC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hape-189">
            <a:extLst xmlns:a="http://schemas.openxmlformats.org/drawingml/2006/main">
              <a:ext uri="{FF2B5EF4-FFF2-40B4-BE49-F238E27FC236}">
                <a16:creationId xmlns:a16="http://schemas.microsoft.com/office/drawing/2014/main" id="{7560CB62-A13E-485A-9C67-F1DF8775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190">
            <a:extLst xmlns:a="http://schemas.openxmlformats.org/drawingml/2006/main">
              <a:ext uri="{FF2B5EF4-FFF2-40B4-BE49-F238E27FC236}">
                <a16:creationId xmlns:a16="http://schemas.microsoft.com/office/drawing/2014/main" id="{90F69740-03F3-4583-9023-4EBF06F6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完成條件：代表頁驗收通過，並確認哪些內容足以成為共用規格</a:t>
            </a:r>
          </a:p>
        </p:txBody>
      </p:sp>
    </p:spTree>
    <p:extLst>
      <p:ext uri="{BB962C8B-B14F-4D97-AF65-F5344CB8AC3E}">
        <p14:creationId xmlns:p14="http://schemas.microsoft.com/office/powerpoint/2010/main" val="18416857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hape-191">
            <a:extLst xmlns:a="http://schemas.openxmlformats.org/drawingml/2006/main">
              <a:ext uri="{FF2B5EF4-FFF2-40B4-BE49-F238E27FC236}">
                <a16:creationId xmlns:a16="http://schemas.microsoft.com/office/drawing/2014/main" id="{6C09C94F-1F60-4986-8BD2-ECBFAA9F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92">
            <a:extLst xmlns:a="http://schemas.openxmlformats.org/drawingml/2006/main">
              <a:ext uri="{FF2B5EF4-FFF2-40B4-BE49-F238E27FC236}">
                <a16:creationId xmlns:a16="http://schemas.microsoft.com/office/drawing/2014/main" id="{729A7B21-1453-41B2-A86A-DAD6CFE3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第五階段：發布共用套件與 Demo</a:t>
            </a:r>
          </a:p>
        </p:txBody>
      </p:sp>
      <p:sp>
        <p:nvSpPr>
          <p:cNvPr id="3" name="text-193">
            <a:extLst xmlns:a="http://schemas.openxmlformats.org/drawingml/2006/main">
              <a:ext uri="{FF2B5EF4-FFF2-40B4-BE49-F238E27FC236}">
                <a16:creationId xmlns:a16="http://schemas.microsoft.com/office/drawing/2014/main" id="{9D131890-A5A9-4CE6-AC09-5BF174C6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npm 套件是讓專案安裝指定版本的交付方式</a:t>
            </a:r>
          </a:p>
        </p:txBody>
      </p:sp>
      <p:sp>
        <p:nvSpPr>
          <p:cNvPr id="4" name="shape-194">
            <a:extLst xmlns:a="http://schemas.openxmlformats.org/drawingml/2006/main">
              <a:ext uri="{FF2B5EF4-FFF2-40B4-BE49-F238E27FC236}">
                <a16:creationId xmlns:a16="http://schemas.microsoft.com/office/drawing/2014/main" id="{57D58178-BAD8-4D6C-956E-B82ACF7A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95">
            <a:extLst xmlns:a="http://schemas.openxmlformats.org/drawingml/2006/main">
              <a:ext uri="{FF2B5EF4-FFF2-40B4-BE49-F238E27FC236}">
                <a16:creationId xmlns:a16="http://schemas.microsoft.com/office/drawing/2014/main" id="{75E18296-5115-4EE2-A8FB-7CE80AB2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UI 組件封裝與導入規劃</a:t>
            </a:r>
          </a:p>
        </p:txBody>
      </p:sp>
      <p:sp>
        <p:nvSpPr>
          <p:cNvPr id="6" name="text-196">
            <a:extLst xmlns:a="http://schemas.openxmlformats.org/drawingml/2006/main">
              <a:ext uri="{FF2B5EF4-FFF2-40B4-BE49-F238E27FC236}">
                <a16:creationId xmlns:a16="http://schemas.microsoft.com/office/drawing/2014/main" id="{E3E22305-63E1-45F1-9F4B-2F56714A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09</a:t>
            </a:r>
          </a:p>
        </p:txBody>
      </p:sp>
      <p:sp>
        <p:nvSpPr>
          <p:cNvPr id="7" name="text-197">
            <a:extLst xmlns:a="http://schemas.openxmlformats.org/drawingml/2006/main">
              <a:ext uri="{FF2B5EF4-FFF2-40B4-BE49-F238E27FC236}">
                <a16:creationId xmlns:a16="http://schemas.microsoft.com/office/drawing/2014/main" id="{931847DE-D66F-4EBC-B4D9-40E5A01C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整理並發布套件</a:t>
            </a:r>
          </a:p>
        </p:txBody>
      </p:sp>
      <p:sp>
        <p:nvSpPr>
          <p:cNvPr id="8" name="text-198">
            <a:extLst xmlns:a="http://schemas.openxmlformats.org/drawingml/2006/main">
              <a:ext uri="{FF2B5EF4-FFF2-40B4-BE49-F238E27FC236}">
                <a16:creationId xmlns:a16="http://schemas.microsoft.com/office/drawing/2014/main" id="{E5ADD51E-D57D-49A1-967F-BEB69AD2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62150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以 Demo 證明可以導入</a:t>
            </a:r>
          </a:p>
        </p:txBody>
      </p:sp>
      <p:sp>
        <p:nvSpPr>
          <p:cNvPr id="9" name="shape-199">
            <a:extLst xmlns:a="http://schemas.openxmlformats.org/drawingml/2006/main">
              <a:ext uri="{FF2B5EF4-FFF2-40B4-BE49-F238E27FC236}">
                <a16:creationId xmlns:a16="http://schemas.microsoft.com/office/drawing/2014/main" id="{7C3EE865-5C72-43AD-8D87-40E87981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002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00">
            <a:extLst xmlns:a="http://schemas.openxmlformats.org/drawingml/2006/main">
              <a:ext uri="{FF2B5EF4-FFF2-40B4-BE49-F238E27FC236}">
                <a16:creationId xmlns:a16="http://schemas.microsoft.com/office/drawing/2014/main" id="{4AB47B62-4888-409C-BC4A-258F41F5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00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輸出共用內容</a:t>
            </a:r>
          </a:p>
        </p:txBody>
      </p:sp>
      <p:sp>
        <p:nvSpPr>
          <p:cNvPr id="11" name="text-201">
            <a:extLst xmlns:a="http://schemas.openxmlformats.org/drawingml/2006/main">
              <a:ext uri="{FF2B5EF4-FFF2-40B4-BE49-F238E27FC236}">
                <a16:creationId xmlns:a16="http://schemas.microsoft.com/office/drawing/2014/main" id="{0944352B-E809-48C2-AA50-40F2F73B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00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樣式設定、主題 CSS、共用組件與型別</a:t>
            </a:r>
          </a:p>
        </p:txBody>
      </p:sp>
      <p:sp>
        <p:nvSpPr>
          <p:cNvPr id="12" name="text-202">
            <a:extLst xmlns:a="http://schemas.openxmlformats.org/drawingml/2006/main">
              <a:ext uri="{FF2B5EF4-FFF2-40B4-BE49-F238E27FC236}">
                <a16:creationId xmlns:a16="http://schemas.microsoft.com/office/drawing/2014/main" id="{66C91B51-FE66-4B85-9998-29D486AB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00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訂定相容範圍</a:t>
            </a:r>
          </a:p>
        </p:txBody>
      </p:sp>
      <p:sp>
        <p:nvSpPr>
          <p:cNvPr id="13" name="text-203">
            <a:extLst xmlns:a="http://schemas.openxmlformats.org/drawingml/2006/main">
              <a:ext uri="{FF2B5EF4-FFF2-40B4-BE49-F238E27FC236}">
                <a16:creationId xmlns:a16="http://schemas.microsoft.com/office/drawing/2014/main" id="{B7149B1D-AE09-42FC-AC81-A3AB816D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500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Vue、Element Plus 與相關工具的版本要求</a:t>
            </a:r>
          </a:p>
        </p:txBody>
      </p:sp>
      <p:sp>
        <p:nvSpPr>
          <p:cNvPr id="14" name="text-204">
            <a:extLst xmlns:a="http://schemas.openxmlformats.org/drawingml/2006/main">
              <a:ext uri="{FF2B5EF4-FFF2-40B4-BE49-F238E27FC236}">
                <a16:creationId xmlns:a16="http://schemas.microsoft.com/office/drawing/2014/main" id="{3D8789CF-9C47-4833-B7AA-80C05BD1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500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建立發布方式</a:t>
            </a:r>
          </a:p>
        </p:txBody>
      </p:sp>
      <p:sp>
        <p:nvSpPr>
          <p:cNvPr id="15" name="text-205">
            <a:extLst xmlns:a="http://schemas.openxmlformats.org/drawingml/2006/main">
              <a:ext uri="{FF2B5EF4-FFF2-40B4-BE49-F238E27FC236}">
                <a16:creationId xmlns:a16="http://schemas.microsoft.com/office/drawing/2014/main" id="{875B20B3-4216-418E-B40D-AD7EA76D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500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公司核准的套件來源、發布權限與版本紀錄</a:t>
            </a:r>
          </a:p>
        </p:txBody>
      </p:sp>
      <p:sp>
        <p:nvSpPr>
          <p:cNvPr id="16" name="text-206">
            <a:extLst xmlns:a="http://schemas.openxmlformats.org/drawingml/2006/main">
              <a:ext uri="{FF2B5EF4-FFF2-40B4-BE49-F238E27FC236}">
                <a16:creationId xmlns:a16="http://schemas.microsoft.com/office/drawing/2014/main" id="{0AAA1CE7-9837-4EF6-B6B1-4CADE3D4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520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獨立安裝</a:t>
            </a:r>
          </a:p>
        </p:txBody>
      </p:sp>
      <p:sp>
        <p:nvSpPr>
          <p:cNvPr id="17" name="text-207">
            <a:extLst xmlns:a="http://schemas.openxmlformats.org/drawingml/2006/main">
              <a:ext uri="{FF2B5EF4-FFF2-40B4-BE49-F238E27FC236}">
                <a16:creationId xmlns:a16="http://schemas.microsoft.com/office/drawing/2014/main" id="{CB1FEC7D-FB4C-47A9-8997-981BA744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4650"/>
            <a:ext cx="520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Demo 從套件來源安裝，驗證公開使用介面</a:t>
            </a:r>
          </a:p>
        </p:txBody>
      </p:sp>
      <p:sp>
        <p:nvSpPr>
          <p:cNvPr id="18" name="text-208">
            <a:extLst xmlns:a="http://schemas.openxmlformats.org/drawingml/2006/main">
              <a:ext uri="{FF2B5EF4-FFF2-40B4-BE49-F238E27FC236}">
                <a16:creationId xmlns:a16="http://schemas.microsoft.com/office/drawing/2014/main" id="{D920CEAC-624B-4F88-9F78-C88584E0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29025"/>
            <a:ext cx="520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提供可參考頁面</a:t>
            </a:r>
          </a:p>
        </p:txBody>
      </p:sp>
      <p:sp>
        <p:nvSpPr>
          <p:cNvPr id="19" name="text-209">
            <a:extLst xmlns:a="http://schemas.openxmlformats.org/drawingml/2006/main">
              <a:ext uri="{FF2B5EF4-FFF2-40B4-BE49-F238E27FC236}">
                <a16:creationId xmlns:a16="http://schemas.microsoft.com/office/drawing/2014/main" id="{DD7A3F1A-6DB8-480F-890B-7FA6656C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0025"/>
            <a:ext cx="520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展示查詢、表單及各組件狀態</a:t>
            </a:r>
          </a:p>
        </p:txBody>
      </p:sp>
      <p:sp>
        <p:nvSpPr>
          <p:cNvPr id="20" name="text-210">
            <a:extLst xmlns:a="http://schemas.openxmlformats.org/drawingml/2006/main">
              <a:ext uri="{FF2B5EF4-FFF2-40B4-BE49-F238E27FC236}">
                <a16:creationId xmlns:a16="http://schemas.microsoft.com/office/drawing/2014/main" id="{7AD3A9D0-D243-4249-A268-14BB90B0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24400"/>
            <a:ext cx="520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提供導入文件</a:t>
            </a:r>
          </a:p>
        </p:txBody>
      </p:sp>
      <p:sp>
        <p:nvSpPr>
          <p:cNvPr id="21" name="text-211">
            <a:extLst xmlns:a="http://schemas.openxmlformats.org/drawingml/2006/main">
              <a:ext uri="{FF2B5EF4-FFF2-40B4-BE49-F238E27FC236}">
                <a16:creationId xmlns:a16="http://schemas.microsoft.com/office/drawing/2014/main" id="{3D4B2B42-3822-4F25-B9D1-5C7D7C9A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05400"/>
            <a:ext cx="520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安裝步驟、範例、限制與升級方式</a:t>
            </a:r>
          </a:p>
        </p:txBody>
      </p:sp>
      <p:sp>
        <p:nvSpPr>
          <p:cNvPr id="22" name="shape-212">
            <a:extLst xmlns:a="http://schemas.openxmlformats.org/drawingml/2006/main">
              <a:ext uri="{FF2B5EF4-FFF2-40B4-BE49-F238E27FC236}">
                <a16:creationId xmlns:a16="http://schemas.microsoft.com/office/drawing/2014/main" id="{ED97F3A6-5841-4D8F-92AB-1604311D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pe-213">
            <a:extLst xmlns:a="http://schemas.openxmlformats.org/drawingml/2006/main">
              <a:ext uri="{FF2B5EF4-FFF2-40B4-BE49-F238E27FC236}">
                <a16:creationId xmlns:a16="http://schemas.microsoft.com/office/drawing/2014/main" id="{78709B9C-A569-446B-8CD8-43C7F218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214">
            <a:extLst xmlns:a="http://schemas.openxmlformats.org/drawingml/2006/main">
              <a:ext uri="{FF2B5EF4-FFF2-40B4-BE49-F238E27FC236}">
                <a16:creationId xmlns:a16="http://schemas.microsoft.com/office/drawing/2014/main" id="{A82F3000-48A2-48F9-96E4-B5758FEB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完成條件：獨立 Demo 可安裝指定版本並建置成功，畫面與互動驗收通過</a:t>
            </a:r>
          </a:p>
        </p:txBody>
      </p:sp>
    </p:spTree>
    <p:extLst>
      <p:ext uri="{BB962C8B-B14F-4D97-AF65-F5344CB8AC3E}">
        <p14:creationId xmlns:p14="http://schemas.microsoft.com/office/powerpoint/2010/main" val="5902532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hape-215">
            <a:extLst xmlns:a="http://schemas.openxmlformats.org/drawingml/2006/main">
              <a:ext uri="{FF2B5EF4-FFF2-40B4-BE49-F238E27FC236}">
                <a16:creationId xmlns:a16="http://schemas.microsoft.com/office/drawing/2014/main" id="{86D3D32F-69F5-49BB-A73F-E3D1484E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16">
            <a:extLst xmlns:a="http://schemas.openxmlformats.org/drawingml/2006/main">
              <a:ext uri="{FF2B5EF4-FFF2-40B4-BE49-F238E27FC236}">
                <a16:creationId xmlns:a16="http://schemas.microsoft.com/office/drawing/2014/main" id="{3C3F9822-7F3B-4F6D-8C44-ECE8024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第六階段：新案導入與持續維護</a:t>
            </a:r>
          </a:p>
        </p:txBody>
      </p:sp>
      <p:sp>
        <p:nvSpPr>
          <p:cNvPr id="3" name="text-217">
            <a:extLst xmlns:a="http://schemas.openxmlformats.org/drawingml/2006/main">
              <a:ext uri="{FF2B5EF4-FFF2-40B4-BE49-F238E27FC236}">
                <a16:creationId xmlns:a16="http://schemas.microsoft.com/office/drawing/2014/main" id="{315E769D-E47C-445F-B73D-D4540F27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共用資產透過專案使用逐步擴充</a:t>
            </a:r>
          </a:p>
        </p:txBody>
      </p:sp>
      <p:sp>
        <p:nvSpPr>
          <p:cNvPr id="4" name="shape-218">
            <a:extLst xmlns:a="http://schemas.openxmlformats.org/drawingml/2006/main">
              <a:ext uri="{FF2B5EF4-FFF2-40B4-BE49-F238E27FC236}">
                <a16:creationId xmlns:a16="http://schemas.microsoft.com/office/drawing/2014/main" id="{CADA0281-B109-42E9-A206-7217AD44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19">
            <a:extLst xmlns:a="http://schemas.openxmlformats.org/drawingml/2006/main">
              <a:ext uri="{FF2B5EF4-FFF2-40B4-BE49-F238E27FC236}">
                <a16:creationId xmlns:a16="http://schemas.microsoft.com/office/drawing/2014/main" id="{71C3B964-4F49-483C-822F-93D86ABA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UI 組件封裝與導入規劃</a:t>
            </a:r>
          </a:p>
        </p:txBody>
      </p:sp>
      <p:sp>
        <p:nvSpPr>
          <p:cNvPr id="6" name="text-220">
            <a:extLst xmlns:a="http://schemas.openxmlformats.org/drawingml/2006/main">
              <a:ext uri="{FF2B5EF4-FFF2-40B4-BE49-F238E27FC236}">
                <a16:creationId xmlns:a16="http://schemas.microsoft.com/office/drawing/2014/main" id="{4A976251-2029-40D6-B83C-5A260554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sp>
        <p:nvSpPr>
          <p:cNvPr id="7" name="text-221">
            <a:extLst xmlns:a="http://schemas.openxmlformats.org/drawingml/2006/main">
              <a:ext uri="{FF2B5EF4-FFF2-40B4-BE49-F238E27FC236}">
                <a16:creationId xmlns:a16="http://schemas.microsoft.com/office/drawing/2014/main" id="{1F9F5C7C-5BA5-49BD-9201-6A2776B2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專案導入</a:t>
            </a:r>
          </a:p>
        </p:txBody>
      </p:sp>
      <p:sp>
        <p:nvSpPr>
          <p:cNvPr id="8" name="text-222">
            <a:extLst xmlns:a="http://schemas.openxmlformats.org/drawingml/2006/main">
              <a:ext uri="{FF2B5EF4-FFF2-40B4-BE49-F238E27FC236}">
                <a16:creationId xmlns:a16="http://schemas.microsoft.com/office/drawing/2014/main" id="{36A76733-1B5C-4C29-8723-D0E47BBA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62150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維護與升級</a:t>
            </a:r>
          </a:p>
        </p:txBody>
      </p:sp>
      <p:sp>
        <p:nvSpPr>
          <p:cNvPr id="9" name="shape-223">
            <a:extLst xmlns:a="http://schemas.openxmlformats.org/drawingml/2006/main">
              <a:ext uri="{FF2B5EF4-FFF2-40B4-BE49-F238E27FC236}">
                <a16:creationId xmlns:a16="http://schemas.microsoft.com/office/drawing/2014/main" id="{07F46E26-8E37-4108-AC9B-6D045E8D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002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24">
            <a:extLst xmlns:a="http://schemas.openxmlformats.org/drawingml/2006/main">
              <a:ext uri="{FF2B5EF4-FFF2-40B4-BE49-F238E27FC236}">
                <a16:creationId xmlns:a16="http://schemas.microsoft.com/office/drawing/2014/main" id="{48B9787C-3475-490C-9C13-6453DE41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00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新案套用</a:t>
            </a:r>
          </a:p>
        </p:txBody>
      </p:sp>
      <p:sp>
        <p:nvSpPr>
          <p:cNvPr id="11" name="text-225">
            <a:extLst xmlns:a="http://schemas.openxmlformats.org/drawingml/2006/main">
              <a:ext uri="{FF2B5EF4-FFF2-40B4-BE49-F238E27FC236}">
                <a16:creationId xmlns:a16="http://schemas.microsoft.com/office/drawing/2014/main" id="{D283A6EE-8028-45E4-9BF8-35A44B00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00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依文件安裝、引用主題並組合頁面</a:t>
            </a:r>
          </a:p>
        </p:txBody>
      </p:sp>
      <p:sp>
        <p:nvSpPr>
          <p:cNvPr id="12" name="text-226">
            <a:extLst xmlns:a="http://schemas.openxmlformats.org/drawingml/2006/main">
              <a:ext uri="{FF2B5EF4-FFF2-40B4-BE49-F238E27FC236}">
                <a16:creationId xmlns:a16="http://schemas.microsoft.com/office/drawing/2014/main" id="{A3EDC0AE-408A-4EDE-8B1E-93ABAA65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00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記錄落差</a:t>
            </a:r>
          </a:p>
        </p:txBody>
      </p:sp>
      <p:sp>
        <p:nvSpPr>
          <p:cNvPr id="13" name="text-227">
            <a:extLst xmlns:a="http://schemas.openxmlformats.org/drawingml/2006/main">
              <a:ext uri="{FF2B5EF4-FFF2-40B4-BE49-F238E27FC236}">
                <a16:creationId xmlns:a16="http://schemas.microsoft.com/office/drawing/2014/main" id="{2085564A-D64D-4694-9B09-725C9D62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500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收集缺少的狀態、組件與專案例外</a:t>
            </a:r>
          </a:p>
        </p:txBody>
      </p:sp>
      <p:sp>
        <p:nvSpPr>
          <p:cNvPr id="14" name="text-228">
            <a:extLst xmlns:a="http://schemas.openxmlformats.org/drawingml/2006/main">
              <a:ext uri="{FF2B5EF4-FFF2-40B4-BE49-F238E27FC236}">
                <a16:creationId xmlns:a16="http://schemas.microsoft.com/office/drawing/2014/main" id="{84E6B45C-91A0-4511-B20C-DECCD2D5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500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觀察實際成效</a:t>
            </a:r>
          </a:p>
        </p:txBody>
      </p:sp>
      <p:sp>
        <p:nvSpPr>
          <p:cNvPr id="15" name="text-229">
            <a:extLst xmlns:a="http://schemas.openxmlformats.org/drawingml/2006/main">
              <a:ext uri="{FF2B5EF4-FFF2-40B4-BE49-F238E27FC236}">
                <a16:creationId xmlns:a16="http://schemas.microsoft.com/office/drawing/2014/main" id="{9046F682-C416-4702-9B2B-967B7C85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500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記錄導入工時、重複修改及 UI 缺失</a:t>
            </a:r>
          </a:p>
        </p:txBody>
      </p:sp>
      <p:sp>
        <p:nvSpPr>
          <p:cNvPr id="16" name="text-230">
            <a:extLst xmlns:a="http://schemas.openxmlformats.org/drawingml/2006/main">
              <a:ext uri="{FF2B5EF4-FFF2-40B4-BE49-F238E27FC236}">
                <a16:creationId xmlns:a16="http://schemas.microsoft.com/office/drawing/2014/main" id="{D5B43717-0D9E-4FEB-965D-92F3459E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520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指定維護窗口</a:t>
            </a:r>
          </a:p>
        </p:txBody>
      </p:sp>
      <p:sp>
        <p:nvSpPr>
          <p:cNvPr id="17" name="text-231">
            <a:extLst xmlns:a="http://schemas.openxmlformats.org/drawingml/2006/main">
              <a:ext uri="{FF2B5EF4-FFF2-40B4-BE49-F238E27FC236}">
                <a16:creationId xmlns:a16="http://schemas.microsoft.com/office/drawing/2014/main" id="{F71272F5-085F-4DC2-8E3C-32CBE4C5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4650"/>
            <a:ext cx="520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有人負責規格收斂、問題處理與發布</a:t>
            </a:r>
          </a:p>
        </p:txBody>
      </p:sp>
      <p:sp>
        <p:nvSpPr>
          <p:cNvPr id="18" name="text-232">
            <a:extLst xmlns:a="http://schemas.openxmlformats.org/drawingml/2006/main">
              <a:ext uri="{FF2B5EF4-FFF2-40B4-BE49-F238E27FC236}">
                <a16:creationId xmlns:a16="http://schemas.microsoft.com/office/drawing/2014/main" id="{E586EEB7-921F-42DE-9F2D-2F99C618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29025"/>
            <a:ext cx="520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同步設計與程式</a:t>
            </a:r>
          </a:p>
        </p:txBody>
      </p:sp>
      <p:sp>
        <p:nvSpPr>
          <p:cNvPr id="19" name="text-233">
            <a:extLst xmlns:a="http://schemas.openxmlformats.org/drawingml/2006/main">
              <a:ext uri="{FF2B5EF4-FFF2-40B4-BE49-F238E27FC236}">
                <a16:creationId xmlns:a16="http://schemas.microsoft.com/office/drawing/2014/main" id="{84EBFBF9-BB7A-46D4-9F60-A621E8DC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0025"/>
            <a:ext cx="520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每次變更更新對照表、範例與版本紀錄</a:t>
            </a:r>
          </a:p>
        </p:txBody>
      </p:sp>
      <p:sp>
        <p:nvSpPr>
          <p:cNvPr id="20" name="text-234">
            <a:extLst xmlns:a="http://schemas.openxmlformats.org/drawingml/2006/main">
              <a:ext uri="{FF2B5EF4-FFF2-40B4-BE49-F238E27FC236}">
                <a16:creationId xmlns:a16="http://schemas.microsoft.com/office/drawing/2014/main" id="{DC138861-3D4A-4AEB-B21E-AFE5D5AF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24400"/>
            <a:ext cx="520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專案自行安排升級</a:t>
            </a:r>
          </a:p>
        </p:txBody>
      </p:sp>
      <p:sp>
        <p:nvSpPr>
          <p:cNvPr id="21" name="text-235">
            <a:extLst xmlns:a="http://schemas.openxmlformats.org/drawingml/2006/main">
              <a:ext uri="{FF2B5EF4-FFF2-40B4-BE49-F238E27FC236}">
                <a16:creationId xmlns:a16="http://schemas.microsoft.com/office/drawing/2014/main" id="{D3277555-E08E-46C9-8D53-87A580A4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05400"/>
            <a:ext cx="5200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先測試再升版，問題時可退回指定版本</a:t>
            </a:r>
          </a:p>
        </p:txBody>
      </p:sp>
      <p:sp>
        <p:nvSpPr>
          <p:cNvPr id="22" name="shape-236">
            <a:extLst xmlns:a="http://schemas.openxmlformats.org/drawingml/2006/main">
              <a:ext uri="{FF2B5EF4-FFF2-40B4-BE49-F238E27FC236}">
                <a16:creationId xmlns:a16="http://schemas.microsoft.com/office/drawing/2014/main" id="{0D7FA0AB-F50E-4CE3-8245-788A38BA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pe-237">
            <a:extLst xmlns:a="http://schemas.openxmlformats.org/drawingml/2006/main">
              <a:ext uri="{FF2B5EF4-FFF2-40B4-BE49-F238E27FC236}">
                <a16:creationId xmlns:a16="http://schemas.microsoft.com/office/drawing/2014/main" id="{7C4FEE91-BA3C-4ACC-8E00-2F3348B7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238">
            <a:extLst xmlns:a="http://schemas.openxmlformats.org/drawingml/2006/main">
              <a:ext uri="{FF2B5EF4-FFF2-40B4-BE49-F238E27FC236}">
                <a16:creationId xmlns:a16="http://schemas.microsoft.com/office/drawing/2014/main" id="{417BD2EC-3B8B-4DCB-A9F6-EDE500AB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共用套件發布新版後，各專案依測試結果安排導入，避免未驗證的同步變更</a:t>
            </a:r>
          </a:p>
        </p:txBody>
      </p:sp>
    </p:spTree>
    <p:extLst>
      <p:ext uri="{BB962C8B-B14F-4D97-AF65-F5344CB8AC3E}">
        <p14:creationId xmlns:p14="http://schemas.microsoft.com/office/powerpoint/2010/main" val="14164943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hape-239">
            <a:extLst xmlns:a="http://schemas.openxmlformats.org/drawingml/2006/main">
              <a:ext uri="{FF2B5EF4-FFF2-40B4-BE49-F238E27FC236}">
                <a16:creationId xmlns:a16="http://schemas.microsoft.com/office/drawing/2014/main" id="{A2F9B909-B027-45AF-8CB7-F92EE798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40">
            <a:extLst xmlns:a="http://schemas.openxmlformats.org/drawingml/2006/main">
              <a:ext uri="{FF2B5EF4-FFF2-40B4-BE49-F238E27FC236}">
                <a16:creationId xmlns:a16="http://schemas.microsoft.com/office/drawing/2014/main" id="{D9AF3635-5614-4D07-BC29-3C204AB1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各階段交付與建議分工</a:t>
            </a:r>
          </a:p>
        </p:txBody>
      </p:sp>
      <p:sp>
        <p:nvSpPr>
          <p:cNvPr id="3" name="text-241">
            <a:extLst xmlns:a="http://schemas.openxmlformats.org/drawingml/2006/main">
              <a:ext uri="{FF2B5EF4-FFF2-40B4-BE49-F238E27FC236}">
                <a16:creationId xmlns:a16="http://schemas.microsoft.com/office/drawing/2014/main" id="{46ACC0D4-B66F-4CD6-A7B5-E1CAB224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主責協調各方完成交付，實際人員與投入量另行確認</a:t>
            </a:r>
          </a:p>
        </p:txBody>
      </p:sp>
      <p:sp>
        <p:nvSpPr>
          <p:cNvPr id="4" name="shape-242">
            <a:extLst xmlns:a="http://schemas.openxmlformats.org/drawingml/2006/main">
              <a:ext uri="{FF2B5EF4-FFF2-40B4-BE49-F238E27FC236}">
                <a16:creationId xmlns:a16="http://schemas.microsoft.com/office/drawing/2014/main" id="{3F7E435E-4922-421F-8CD1-CFEFA99A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43">
            <a:extLst xmlns:a="http://schemas.openxmlformats.org/drawingml/2006/main">
              <a:ext uri="{FF2B5EF4-FFF2-40B4-BE49-F238E27FC236}">
                <a16:creationId xmlns:a16="http://schemas.microsoft.com/office/drawing/2014/main" id="{3DB7329A-1F44-41F5-87B5-848EE778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UI 組件封裝與導入規劃</a:t>
            </a:r>
          </a:p>
        </p:txBody>
      </p:sp>
      <p:sp>
        <p:nvSpPr>
          <p:cNvPr id="6" name="text-244">
            <a:extLst xmlns:a="http://schemas.openxmlformats.org/drawingml/2006/main">
              <a:ext uri="{FF2B5EF4-FFF2-40B4-BE49-F238E27FC236}">
                <a16:creationId xmlns:a16="http://schemas.microsoft.com/office/drawing/2014/main" id="{DA66964D-D805-4698-BA4D-9C58AE47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143F9-E248-47A1-A4DE-21A55FDE7E44}"/>
              </a:ext>
            </a:extLst>
          </p:cNvPr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52650"/>
                <a:gridCol w="4400550"/>
                <a:gridCol w="4419600"/>
              </a:tblGrid>
              <a:tr h="4572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階段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7F8F6"/>
                      </a:solidFill>
                      <a:prstDash val="solid"/>
                    </a:lnL>
                    <a:lnR w="9525">
                      <a:solidFill>
                        <a:srgbClr val="F7F8F6"/>
                      </a:solidFill>
                      <a:prstDash val="solid"/>
                    </a:lnR>
                    <a:lnT w="9525">
                      <a:solidFill>
                        <a:srgbClr val="F7F8F6"/>
                      </a:solidFill>
                      <a:prstDash val="solid"/>
                    </a:lnT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主要交付物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T w="9525">
                      <a:solidFill>
                        <a:srgbClr val="F7F8F6"/>
                      </a:solidFill>
                      <a:prstDash val="solid"/>
                    </a:lnT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建議主責／協作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T w="9525">
                      <a:solidFill>
                        <a:srgbClr val="F7F8F6"/>
                      </a:solidFill>
                      <a:prstDash val="solid"/>
                    </a:lnT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</a:tr>
              <a:tr h="5365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01 範圍盤點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7F8F6"/>
                      </a:solidFill>
                      <a:prstDash val="solid"/>
                    </a:lnL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代表頁與優先組件清單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BA／PM、設計、前端共同確認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02 設計規範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7F8F6"/>
                      </a:solidFill>
                      <a:prstDash val="solid"/>
                    </a:lnL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E5EFEB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Figma 規範、狀態與例頁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E5EFEB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設計主責，BA／PM 與前端校對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E5EFEB"/>
                    </a:solidFill>
                  </a:tcPr>
                </a:tc>
              </a:tr>
              <a:tr h="5365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03 技術對接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7F8F6"/>
                      </a:solidFill>
                      <a:prstDash val="solid"/>
                    </a:lnL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變數對照、技術試作與限制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前端主責，設計協作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04 封裝與試用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7F8F6"/>
                      </a:solidFill>
                      <a:prstDash val="solid"/>
                    </a:lnL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E5EFEB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共用組件、代表頁驗證結果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E5EFEB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前端主責，設計與試點團隊驗收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E5EFEB"/>
                    </a:solidFill>
                  </a:tcPr>
                </a:tc>
              </a:tr>
              <a:tr h="5365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05 套件發布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7F8F6"/>
                      </a:solidFill>
                      <a:prstDash val="solid"/>
                    </a:lnL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npm 版本、Demo 與導入文件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前端主責，平台／資安依需要協作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06 導入與維護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7F8F6"/>
                      </a:solidFill>
                      <a:prstDash val="solid"/>
                    </a:lnL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E5EFEB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導入紀錄、版本與問題管理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E5EFEB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專案團隊導入，共用資產窗口維護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E5EFEB"/>
                    </a:solidFill>
                  </a:tcPr>
                </a:tc>
              </a:tr>
            </a:tbl>
          </a:graphicData>
        </a:graphic>
      </p:graphicFrame>
      <p:sp>
        <p:nvSpPr>
          <p:cNvPr id="8" name="shape-245">
            <a:extLst xmlns:a="http://schemas.openxmlformats.org/drawingml/2006/main">
              <a:ext uri="{FF2B5EF4-FFF2-40B4-BE49-F238E27FC236}">
                <a16:creationId xmlns:a16="http://schemas.microsoft.com/office/drawing/2014/main" id="{AE9E86A3-0F6B-42A3-87E7-29D4E132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-246">
            <a:extLst xmlns:a="http://schemas.openxmlformats.org/drawingml/2006/main">
              <a:ext uri="{FF2B5EF4-FFF2-40B4-BE49-F238E27FC236}">
                <a16:creationId xmlns:a16="http://schemas.microsoft.com/office/drawing/2014/main" id="{8A7768D4-6AAA-4E8E-A206-FE955207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47">
            <a:extLst xmlns:a="http://schemas.openxmlformats.org/drawingml/2006/main">
              <a:ext uri="{FF2B5EF4-FFF2-40B4-BE49-F238E27FC236}">
                <a16:creationId xmlns:a16="http://schemas.microsoft.com/office/drawing/2014/main" id="{CF3254BD-D91C-4A30-9D46-AB6C3DBC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每次交付均保留版本與驗收紀錄，讓後續專案知道可以採用哪些內容</a:t>
            </a:r>
          </a:p>
        </p:txBody>
      </p:sp>
    </p:spTree>
    <p:extLst>
      <p:ext uri="{BB962C8B-B14F-4D97-AF65-F5344CB8AC3E}">
        <p14:creationId xmlns:p14="http://schemas.microsoft.com/office/powerpoint/2010/main" val="6650625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hape-248">
            <a:extLst xmlns:a="http://schemas.openxmlformats.org/drawingml/2006/main">
              <a:ext uri="{FF2B5EF4-FFF2-40B4-BE49-F238E27FC236}">
                <a16:creationId xmlns:a16="http://schemas.microsoft.com/office/drawing/2014/main" id="{6EB35C9B-C98C-4543-B5DA-4F4B25B9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49">
            <a:extLst xmlns:a="http://schemas.openxmlformats.org/drawingml/2006/main">
              <a:ext uri="{FF2B5EF4-FFF2-40B4-BE49-F238E27FC236}">
                <a16:creationId xmlns:a16="http://schemas.microsoft.com/office/drawing/2014/main" id="{6284CFEC-CFEC-4EF1-A162-413D94B5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里程碑與下一步安排</a:t>
            </a:r>
          </a:p>
        </p:txBody>
      </p:sp>
      <p:sp>
        <p:nvSpPr>
          <p:cNvPr id="3" name="text-250">
            <a:extLst xmlns:a="http://schemas.openxmlformats.org/drawingml/2006/main">
              <a:ext uri="{FF2B5EF4-FFF2-40B4-BE49-F238E27FC236}">
                <a16:creationId xmlns:a16="http://schemas.microsoft.com/office/drawing/2014/main" id="{6A3848E8-7F97-42ED-9B8A-62378599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先確認首波範圍與驗收方式，再依試作結果估算工期</a:t>
            </a:r>
          </a:p>
        </p:txBody>
      </p:sp>
      <p:sp>
        <p:nvSpPr>
          <p:cNvPr id="4" name="shape-251">
            <a:extLst xmlns:a="http://schemas.openxmlformats.org/drawingml/2006/main">
              <a:ext uri="{FF2B5EF4-FFF2-40B4-BE49-F238E27FC236}">
                <a16:creationId xmlns:a16="http://schemas.microsoft.com/office/drawing/2014/main" id="{6C06D6FE-5036-43E8-B248-4332F35F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52">
            <a:extLst xmlns:a="http://schemas.openxmlformats.org/drawingml/2006/main">
              <a:ext uri="{FF2B5EF4-FFF2-40B4-BE49-F238E27FC236}">
                <a16:creationId xmlns:a16="http://schemas.microsoft.com/office/drawing/2014/main" id="{4822D774-33E5-44E0-87D3-33FCD590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UI 組件封裝與導入規劃</a:t>
            </a:r>
          </a:p>
        </p:txBody>
      </p:sp>
      <p:sp>
        <p:nvSpPr>
          <p:cNvPr id="6" name="text-253">
            <a:extLst xmlns:a="http://schemas.openxmlformats.org/drawingml/2006/main">
              <a:ext uri="{FF2B5EF4-FFF2-40B4-BE49-F238E27FC236}">
                <a16:creationId xmlns:a16="http://schemas.microsoft.com/office/drawing/2014/main" id="{0779CBE9-96C5-4C44-9258-4807DCDB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  <p:sp>
        <p:nvSpPr>
          <p:cNvPr id="7" name="text-254">
            <a:extLst xmlns:a="http://schemas.openxmlformats.org/drawingml/2006/main">
              <a:ext uri="{FF2B5EF4-FFF2-40B4-BE49-F238E27FC236}">
                <a16:creationId xmlns:a16="http://schemas.microsoft.com/office/drawing/2014/main" id="{C2DEB532-C411-4436-B6E4-69C62EBC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885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M1</a:t>
            </a:r>
          </a:p>
        </p:txBody>
      </p:sp>
      <p:sp>
        <p:nvSpPr>
          <p:cNvPr id="8" name="text-255">
            <a:extLst xmlns:a="http://schemas.openxmlformats.org/drawingml/2006/main">
              <a:ext uri="{FF2B5EF4-FFF2-40B4-BE49-F238E27FC236}">
                <a16:creationId xmlns:a16="http://schemas.microsoft.com/office/drawing/2014/main" id="{32DF0986-D1B3-4E90-8004-D62D92EE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812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首波設計可實作</a:t>
            </a:r>
          </a:p>
        </p:txBody>
      </p:sp>
      <p:sp>
        <p:nvSpPr>
          <p:cNvPr id="9" name="text-256">
            <a:extLst xmlns:a="http://schemas.openxmlformats.org/drawingml/2006/main">
              <a:ext uri="{FF2B5EF4-FFF2-40B4-BE49-F238E27FC236}">
                <a16:creationId xmlns:a16="http://schemas.microsoft.com/office/drawing/2014/main" id="{C78CB576-30FE-47D2-B4CF-141DFC0E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193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代表頁、組件與狀態規格完成校對</a:t>
            </a:r>
          </a:p>
        </p:txBody>
      </p:sp>
      <p:sp>
        <p:nvSpPr>
          <p:cNvPr id="10" name="shape-257">
            <a:extLst xmlns:a="http://schemas.openxmlformats.org/drawingml/2006/main">
              <a:ext uri="{FF2B5EF4-FFF2-40B4-BE49-F238E27FC236}">
                <a16:creationId xmlns:a16="http://schemas.microsoft.com/office/drawing/2014/main" id="{9B4FE3A8-1AAC-4371-A33B-CC952529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57475"/>
            <a:ext cx="984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258">
            <a:extLst xmlns:a="http://schemas.openxmlformats.org/drawingml/2006/main">
              <a:ext uri="{FF2B5EF4-FFF2-40B4-BE49-F238E27FC236}">
                <a16:creationId xmlns:a16="http://schemas.microsoft.com/office/drawing/2014/main" id="{C767CB38-12A1-4688-A95C-5AAD49CB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885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M2</a:t>
            </a:r>
          </a:p>
        </p:txBody>
      </p:sp>
      <p:sp>
        <p:nvSpPr>
          <p:cNvPr id="12" name="text-259">
            <a:extLst xmlns:a="http://schemas.openxmlformats.org/drawingml/2006/main">
              <a:ext uri="{FF2B5EF4-FFF2-40B4-BE49-F238E27FC236}">
                <a16:creationId xmlns:a16="http://schemas.microsoft.com/office/drawing/2014/main" id="{6C18FC83-E9B3-4717-8DE0-FDF3C7AF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47975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共用組件可使用</a:t>
            </a:r>
          </a:p>
        </p:txBody>
      </p:sp>
      <p:sp>
        <p:nvSpPr>
          <p:cNvPr id="13" name="text-260">
            <a:extLst xmlns:a="http://schemas.openxmlformats.org/drawingml/2006/main">
              <a:ext uri="{FF2B5EF4-FFF2-40B4-BE49-F238E27FC236}">
                <a16:creationId xmlns:a16="http://schemas.microsoft.com/office/drawing/2014/main" id="{9560BB7E-6754-49F2-897C-8F93C72C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86075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代表頁驗收通過，跨頁重用成立</a:t>
            </a:r>
          </a:p>
        </p:txBody>
      </p:sp>
      <p:sp>
        <p:nvSpPr>
          <p:cNvPr id="14" name="shape-261">
            <a:extLst xmlns:a="http://schemas.openxmlformats.org/drawingml/2006/main">
              <a:ext uri="{FF2B5EF4-FFF2-40B4-BE49-F238E27FC236}">
                <a16:creationId xmlns:a16="http://schemas.microsoft.com/office/drawing/2014/main" id="{F737CE28-AD70-4ABE-AFD2-B34A13A2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524250"/>
            <a:ext cx="984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262">
            <a:extLst xmlns:a="http://schemas.openxmlformats.org/drawingml/2006/main">
              <a:ext uri="{FF2B5EF4-FFF2-40B4-BE49-F238E27FC236}">
                <a16:creationId xmlns:a16="http://schemas.microsoft.com/office/drawing/2014/main" id="{9F5F31DB-A33E-4D76-AF29-9E2DE8B7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885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M3</a:t>
            </a:r>
          </a:p>
        </p:txBody>
      </p:sp>
      <p:sp>
        <p:nvSpPr>
          <p:cNvPr id="16" name="text-263">
            <a:extLst xmlns:a="http://schemas.openxmlformats.org/drawingml/2006/main">
              <a:ext uri="{FF2B5EF4-FFF2-40B4-BE49-F238E27FC236}">
                <a16:creationId xmlns:a16="http://schemas.microsoft.com/office/drawing/2014/main" id="{4891F706-3345-4EAF-AC95-2C184437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14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套件可交付</a:t>
            </a:r>
          </a:p>
        </p:txBody>
      </p:sp>
      <p:sp>
        <p:nvSpPr>
          <p:cNvPr id="17" name="text-264">
            <a:extLst xmlns:a="http://schemas.openxmlformats.org/drawingml/2006/main">
              <a:ext uri="{FF2B5EF4-FFF2-40B4-BE49-F238E27FC236}">
                <a16:creationId xmlns:a16="http://schemas.microsoft.com/office/drawing/2014/main" id="{3BF41EC8-5C6A-42BD-908E-3B047C34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5285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Demo 獨立安裝、建置與導入文件完成</a:t>
            </a:r>
          </a:p>
        </p:txBody>
      </p:sp>
      <p:sp>
        <p:nvSpPr>
          <p:cNvPr id="18" name="shape-265">
            <a:extLst xmlns:a="http://schemas.openxmlformats.org/drawingml/2006/main">
              <a:ext uri="{FF2B5EF4-FFF2-40B4-BE49-F238E27FC236}">
                <a16:creationId xmlns:a16="http://schemas.microsoft.com/office/drawing/2014/main" id="{D59FB735-941C-4250-ABD9-30C4D38E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91025"/>
            <a:ext cx="984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266">
            <a:extLst xmlns:a="http://schemas.openxmlformats.org/drawingml/2006/main">
              <a:ext uri="{FF2B5EF4-FFF2-40B4-BE49-F238E27FC236}">
                <a16:creationId xmlns:a16="http://schemas.microsoft.com/office/drawing/2014/main" id="{BA733F42-DD2A-486E-97C1-ACD5453D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885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M4</a:t>
            </a:r>
          </a:p>
        </p:txBody>
      </p:sp>
      <p:sp>
        <p:nvSpPr>
          <p:cNvPr id="20" name="text-267">
            <a:extLst xmlns:a="http://schemas.openxmlformats.org/drawingml/2006/main">
              <a:ext uri="{FF2B5EF4-FFF2-40B4-BE49-F238E27FC236}">
                <a16:creationId xmlns:a16="http://schemas.microsoft.com/office/drawing/2014/main" id="{EDF3B4A7-407F-44B2-BE30-9E992419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581525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實際專案可採用</a:t>
            </a:r>
          </a:p>
        </p:txBody>
      </p:sp>
      <p:sp>
        <p:nvSpPr>
          <p:cNvPr id="21" name="text-268">
            <a:extLst xmlns:a="http://schemas.openxmlformats.org/drawingml/2006/main">
              <a:ext uri="{FF2B5EF4-FFF2-40B4-BE49-F238E27FC236}">
                <a16:creationId xmlns:a16="http://schemas.microsoft.com/office/drawing/2014/main" id="{F4B6DF3A-F185-4951-AF69-762885E9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19625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完成試點導入，確認維護與升級流程</a:t>
            </a:r>
          </a:p>
        </p:txBody>
      </p:sp>
      <p:sp>
        <p:nvSpPr>
          <p:cNvPr id="22" name="shape-269">
            <a:extLst xmlns:a="http://schemas.openxmlformats.org/drawingml/2006/main">
              <a:ext uri="{FF2B5EF4-FFF2-40B4-BE49-F238E27FC236}">
                <a16:creationId xmlns:a16="http://schemas.microsoft.com/office/drawing/2014/main" id="{E080FF4B-096E-4C57-95F8-2204C48E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57800"/>
            <a:ext cx="984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pe-270">
            <a:extLst xmlns:a="http://schemas.openxmlformats.org/drawingml/2006/main">
              <a:ext uri="{FF2B5EF4-FFF2-40B4-BE49-F238E27FC236}">
                <a16:creationId xmlns:a16="http://schemas.microsoft.com/office/drawing/2014/main" id="{CCE888B8-ADA0-422E-88ED-552F72D9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hape-271">
            <a:extLst xmlns:a="http://schemas.openxmlformats.org/drawingml/2006/main">
              <a:ext uri="{FF2B5EF4-FFF2-40B4-BE49-F238E27FC236}">
                <a16:creationId xmlns:a16="http://schemas.microsoft.com/office/drawing/2014/main" id="{51263524-4FDE-4A31-853D-25B3154E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272">
            <a:extLst xmlns:a="http://schemas.openxmlformats.org/drawingml/2006/main">
              <a:ext uri="{FF2B5EF4-FFF2-40B4-BE49-F238E27FC236}">
                <a16:creationId xmlns:a16="http://schemas.microsoft.com/office/drawing/2014/main" id="{D994D3DD-01AD-455B-90CC-0C9167F0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下一步確認：試點頁面與專案、首波組件範圍、各階段窗口及驗收人員</a:t>
            </a:r>
          </a:p>
        </p:txBody>
      </p:sp>
    </p:spTree>
    <p:extLst>
      <p:ext uri="{BB962C8B-B14F-4D97-AF65-F5344CB8AC3E}">
        <p14:creationId xmlns:p14="http://schemas.microsoft.com/office/powerpoint/2010/main" val="19985784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hape-273">
            <a:extLst xmlns:a="http://schemas.openxmlformats.org/drawingml/2006/main">
              <a:ext uri="{FF2B5EF4-FFF2-40B4-BE49-F238E27FC236}">
                <a16:creationId xmlns:a16="http://schemas.microsoft.com/office/drawing/2014/main" id="{D9058B7B-2364-465C-A2C0-C95F3132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74">
            <a:extLst xmlns:a="http://schemas.openxmlformats.org/drawingml/2006/main">
              <a:ext uri="{FF2B5EF4-FFF2-40B4-BE49-F238E27FC236}">
                <a16:creationId xmlns:a16="http://schemas.microsoft.com/office/drawing/2014/main" id="{3D7DAB8C-E90C-4097-B390-B2FF33AD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附錄：程式交付內容與對照方式</a:t>
            </a:r>
          </a:p>
        </p:txBody>
      </p:sp>
      <p:sp>
        <p:nvSpPr>
          <p:cNvPr id="3" name="text-275">
            <a:extLst xmlns:a="http://schemas.openxmlformats.org/drawingml/2006/main">
              <a:ext uri="{FF2B5EF4-FFF2-40B4-BE49-F238E27FC236}">
                <a16:creationId xmlns:a16="http://schemas.microsoft.com/office/drawing/2014/main" id="{D0EC96E2-1356-4575-9AD6-8A389D3E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供技術追問時參考，名稱為示意，實際結構依試作確認</a:t>
            </a:r>
          </a:p>
        </p:txBody>
      </p:sp>
      <p:sp>
        <p:nvSpPr>
          <p:cNvPr id="4" name="shape-276">
            <a:extLst xmlns:a="http://schemas.openxmlformats.org/drawingml/2006/main">
              <a:ext uri="{FF2B5EF4-FFF2-40B4-BE49-F238E27FC236}">
                <a16:creationId xmlns:a16="http://schemas.microsoft.com/office/drawing/2014/main" id="{90330527-9ACA-4B68-9ECE-2BF4F864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77">
            <a:extLst xmlns:a="http://schemas.openxmlformats.org/drawingml/2006/main">
              <a:ext uri="{FF2B5EF4-FFF2-40B4-BE49-F238E27FC236}">
                <a16:creationId xmlns:a16="http://schemas.microsoft.com/office/drawing/2014/main" id="{0E1739EA-327A-4522-B0DD-5A1BF10D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UI 組件封裝與導入規劃</a:t>
            </a:r>
          </a:p>
        </p:txBody>
      </p:sp>
      <p:sp>
        <p:nvSpPr>
          <p:cNvPr id="6" name="text-278">
            <a:extLst xmlns:a="http://schemas.openxmlformats.org/drawingml/2006/main">
              <a:ext uri="{FF2B5EF4-FFF2-40B4-BE49-F238E27FC236}">
                <a16:creationId xmlns:a16="http://schemas.microsoft.com/office/drawing/2014/main" id="{43979FFA-9390-4277-A221-582C6492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13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BF7E9-E98A-44F7-98E7-51E8F5572941}"/>
              </a:ext>
            </a:extLst>
          </p:cNvPr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52700"/>
                <a:gridCol w="8420100"/>
              </a:tblGrid>
              <a:tr h="4572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交付項目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7F8F6"/>
                      </a:solidFill>
                      <a:prstDash val="solid"/>
                    </a:lnL>
                    <a:lnR w="9525">
                      <a:solidFill>
                        <a:srgbClr val="F7F8F6"/>
                      </a:solidFill>
                      <a:prstDash val="solid"/>
                    </a:lnR>
                    <a:lnT w="9525">
                      <a:solidFill>
                        <a:srgbClr val="F7F8F6"/>
                      </a:solidFill>
                      <a:prstDash val="solid"/>
                    </a:lnT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內容與使用方式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T w="9525">
                      <a:solidFill>
                        <a:srgbClr val="F7F8F6"/>
                      </a:solidFill>
                      <a:prstDash val="solid"/>
                    </a:lnT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</a:tr>
              <a:tr h="5365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公司樣式設定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7F8F6"/>
                      </a:solidFill>
                      <a:prstDash val="solid"/>
                    </a:lnL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以具語意的名稱管理色彩、字級與間距，例如「主要操作色」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技術對照表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7F8F6"/>
                      </a:solidFill>
                      <a:prstDash val="solid"/>
                    </a:lnL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E5EFEB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Figma 名稱、公司設定、Element Plus 變數與適用組件互相對照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E5EFEB"/>
                    </a:solidFill>
                  </a:tcPr>
                </a:tc>
              </a:tr>
              <a:tr h="5365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主題與基礎 CSS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7F8F6"/>
                      </a:solidFill>
                      <a:prstDash val="solid"/>
                    </a:lnL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輸出可載入的樣式，記錄層級、載入順序與例外規則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共用組件與型別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7F8F6"/>
                      </a:solidFill>
                      <a:prstDash val="solid"/>
                    </a:lnL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E5EFEB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提供明確的屬性、事件、內容插槽及使用限制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E5EFEB"/>
                    </a:solidFill>
                  </a:tcPr>
                </a:tc>
              </a:tr>
              <a:tr h="5365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Nuxt 整合入口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7F8F6"/>
                      </a:solidFill>
                      <a:prstDash val="solid"/>
                    </a:lnL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依需要提供安裝方式或模組，與可重用的 Vue 組件分開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Demo 與文件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7F8F6"/>
                      </a:solidFill>
                      <a:prstDash val="solid"/>
                    </a:lnL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E5EFEB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用發布後的套件組合代表頁，提供安裝、驗證及升級說明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E5EFEB"/>
                    </a:solidFill>
                  </a:tcPr>
                </a:tc>
              </a:tr>
            </a:tbl>
          </a:graphicData>
        </a:graphic>
      </p:graphicFrame>
      <p:sp>
        <p:nvSpPr>
          <p:cNvPr id="8" name="shape-279">
            <a:extLst xmlns:a="http://schemas.openxmlformats.org/drawingml/2006/main">
              <a:ext uri="{FF2B5EF4-FFF2-40B4-BE49-F238E27FC236}">
                <a16:creationId xmlns:a16="http://schemas.microsoft.com/office/drawing/2014/main" id="{D8427713-3667-4B61-88D6-300012A5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-280">
            <a:extLst xmlns:a="http://schemas.openxmlformats.org/drawingml/2006/main">
              <a:ext uri="{FF2B5EF4-FFF2-40B4-BE49-F238E27FC236}">
                <a16:creationId xmlns:a16="http://schemas.microsoft.com/office/drawing/2014/main" id="{C71DBCC6-B2D1-49B3-B21A-82BEE0F3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81">
            <a:extLst xmlns:a="http://schemas.openxmlformats.org/drawingml/2006/main">
              <a:ext uri="{FF2B5EF4-FFF2-40B4-BE49-F238E27FC236}">
                <a16:creationId xmlns:a16="http://schemas.microsoft.com/office/drawing/2014/main" id="{EAEE2DBB-9055-4EC1-8A1D-72C2597F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Tailwind 樣式交付方式須明訂：預先輸出 CSS，或由使用專案明確設定掃描來源</a:t>
            </a:r>
          </a:p>
        </p:txBody>
      </p:sp>
    </p:spTree>
    <p:extLst>
      <p:ext uri="{BB962C8B-B14F-4D97-AF65-F5344CB8AC3E}">
        <p14:creationId xmlns:p14="http://schemas.microsoft.com/office/powerpoint/2010/main" val="20153252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hape-282">
            <a:extLst xmlns:a="http://schemas.openxmlformats.org/drawingml/2006/main">
              <a:ext uri="{FF2B5EF4-FFF2-40B4-BE49-F238E27FC236}">
                <a16:creationId xmlns:a16="http://schemas.microsoft.com/office/drawing/2014/main" id="{84D58DF2-F2EF-465E-A799-D0AE7222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83">
            <a:extLst xmlns:a="http://schemas.openxmlformats.org/drawingml/2006/main">
              <a:ext uri="{FF2B5EF4-FFF2-40B4-BE49-F238E27FC236}">
                <a16:creationId xmlns:a16="http://schemas.microsoft.com/office/drawing/2014/main" id="{4B3A7931-6463-43D2-8322-09BC9505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附錄：主管可能關心的問題</a:t>
            </a:r>
          </a:p>
        </p:txBody>
      </p:sp>
      <p:sp>
        <p:nvSpPr>
          <p:cNvPr id="3" name="text-284">
            <a:extLst xmlns:a="http://schemas.openxmlformats.org/drawingml/2006/main">
              <a:ext uri="{FF2B5EF4-FFF2-40B4-BE49-F238E27FC236}">
                <a16:creationId xmlns:a16="http://schemas.microsoft.com/office/drawing/2014/main" id="{F99AFB3B-0963-47AE-A2D9-1F6C0D63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適用範圍、建置成本與效益的說明</a:t>
            </a:r>
          </a:p>
        </p:txBody>
      </p:sp>
      <p:sp>
        <p:nvSpPr>
          <p:cNvPr id="4" name="shape-285">
            <a:extLst xmlns:a="http://schemas.openxmlformats.org/drawingml/2006/main">
              <a:ext uri="{FF2B5EF4-FFF2-40B4-BE49-F238E27FC236}">
                <a16:creationId xmlns:a16="http://schemas.microsoft.com/office/drawing/2014/main" id="{A9649E06-8024-4D60-AACE-F360A280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86">
            <a:extLst xmlns:a="http://schemas.openxmlformats.org/drawingml/2006/main">
              <a:ext uri="{FF2B5EF4-FFF2-40B4-BE49-F238E27FC236}">
                <a16:creationId xmlns:a16="http://schemas.microsoft.com/office/drawing/2014/main" id="{91C498E6-0E5D-406F-9831-7A26263C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UI 組件封裝與導入規劃</a:t>
            </a:r>
          </a:p>
        </p:txBody>
      </p:sp>
      <p:sp>
        <p:nvSpPr>
          <p:cNvPr id="6" name="text-287">
            <a:extLst xmlns:a="http://schemas.openxmlformats.org/drawingml/2006/main">
              <a:ext uri="{FF2B5EF4-FFF2-40B4-BE49-F238E27FC236}">
                <a16:creationId xmlns:a16="http://schemas.microsoft.com/office/drawing/2014/main" id="{C97D51D0-B661-4F6D-B6B0-275189FB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14</a:t>
            </a:r>
          </a:p>
        </p:txBody>
      </p:sp>
      <p:sp>
        <p:nvSpPr>
          <p:cNvPr id="7" name="text-288">
            <a:extLst xmlns:a="http://schemas.openxmlformats.org/drawingml/2006/main">
              <a:ext uri="{FF2B5EF4-FFF2-40B4-BE49-F238E27FC236}">
                <a16:creationId xmlns:a16="http://schemas.microsoft.com/office/drawing/2014/main" id="{A876133B-462E-43F6-BC9D-34510770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已有 Element Plus，為何還要封裝？</a:t>
            </a:r>
          </a:p>
        </p:txBody>
      </p:sp>
      <p:sp>
        <p:nvSpPr>
          <p:cNvPr id="8" name="text-289">
            <a:extLst xmlns:a="http://schemas.openxmlformats.org/drawingml/2006/main">
              <a:ext uri="{FF2B5EF4-FFF2-40B4-BE49-F238E27FC236}">
                <a16:creationId xmlns:a16="http://schemas.microsoft.com/office/drawing/2014/main" id="{0EB40B12-2E67-4EF3-B828-583BDED1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83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rPr>
              <a:t>它提供基礎功能，我們補上公司設計、統一預設值與可重複使用的規格。</a:t>
            </a:r>
          </a:p>
        </p:txBody>
      </p:sp>
      <p:sp>
        <p:nvSpPr>
          <p:cNvPr id="9" name="shape-290">
            <a:extLst xmlns:a="http://schemas.openxmlformats.org/drawingml/2006/main">
              <a:ext uri="{FF2B5EF4-FFF2-40B4-BE49-F238E27FC236}">
                <a16:creationId xmlns:a16="http://schemas.microsoft.com/office/drawing/2014/main" id="{EC94F334-EE70-4598-AB72-C0241654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91">
            <a:extLst xmlns:a="http://schemas.openxmlformats.org/drawingml/2006/main">
              <a:ext uri="{FF2B5EF4-FFF2-40B4-BE49-F238E27FC236}">
                <a16:creationId xmlns:a16="http://schemas.microsoft.com/office/drawing/2014/main" id="{ECBE8959-EFFD-4041-8824-5D3030A6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既有 .NET MVC 可以直接使用嗎？</a:t>
            </a:r>
          </a:p>
        </p:txBody>
      </p:sp>
      <p:sp>
        <p:nvSpPr>
          <p:cNvPr id="11" name="text-292">
            <a:extLst xmlns:a="http://schemas.openxmlformats.org/drawingml/2006/main">
              <a:ext uri="{FF2B5EF4-FFF2-40B4-BE49-F238E27FC236}">
                <a16:creationId xmlns:a16="http://schemas.microsoft.com/office/drawing/2014/main" id="{44CF00F2-ADCB-4942-84F3-383F0840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83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rPr>
              <a:t>Vue 組件需評估前端整合方式。設計規範可共用，程式導入要逐案確認。</a:t>
            </a:r>
          </a:p>
        </p:txBody>
      </p:sp>
      <p:sp>
        <p:nvSpPr>
          <p:cNvPr id="12" name="shape-293">
            <a:extLst xmlns:a="http://schemas.openxmlformats.org/drawingml/2006/main">
              <a:ext uri="{FF2B5EF4-FFF2-40B4-BE49-F238E27FC236}">
                <a16:creationId xmlns:a16="http://schemas.microsoft.com/office/drawing/2014/main" id="{19780C67-9C74-43DC-A5D7-CD6DD21C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294">
            <a:extLst xmlns:a="http://schemas.openxmlformats.org/drawingml/2006/main">
              <a:ext uri="{FF2B5EF4-FFF2-40B4-BE49-F238E27FC236}">
                <a16:creationId xmlns:a16="http://schemas.microsoft.com/office/drawing/2014/main" id="{CA7BC225-38CF-4DA5-AC56-D8E59C3D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套件更新會影響所有專案嗎？</a:t>
            </a:r>
          </a:p>
        </p:txBody>
      </p:sp>
      <p:sp>
        <p:nvSpPr>
          <p:cNvPr id="14" name="text-295">
            <a:extLst xmlns:a="http://schemas.openxmlformats.org/drawingml/2006/main">
              <a:ext uri="{FF2B5EF4-FFF2-40B4-BE49-F238E27FC236}">
                <a16:creationId xmlns:a16="http://schemas.microsoft.com/office/drawing/2014/main" id="{D69F27AA-A5C2-4F6A-ACA4-E602FB83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83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rPr>
              <a:t>各專案固定使用版本，測試通過後再安排升級，並保留回退方式。</a:t>
            </a:r>
          </a:p>
        </p:txBody>
      </p:sp>
      <p:sp>
        <p:nvSpPr>
          <p:cNvPr id="15" name="shape-296">
            <a:extLst xmlns:a="http://schemas.openxmlformats.org/drawingml/2006/main">
              <a:ext uri="{FF2B5EF4-FFF2-40B4-BE49-F238E27FC236}">
                <a16:creationId xmlns:a16="http://schemas.microsoft.com/office/drawing/2014/main" id="{72690862-9FB6-4D11-A3D1-CE80B6D8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297">
            <a:extLst xmlns:a="http://schemas.openxmlformats.org/drawingml/2006/main">
              <a:ext uri="{FF2B5EF4-FFF2-40B4-BE49-F238E27FC236}">
                <a16:creationId xmlns:a16="http://schemas.microsoft.com/office/drawing/2014/main" id="{7DBF87B0-96CB-4420-AB4D-7495263F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何時可以看到效益？</a:t>
            </a:r>
          </a:p>
        </p:txBody>
      </p:sp>
      <p:sp>
        <p:nvSpPr>
          <p:cNvPr id="17" name="text-298">
            <a:extLst xmlns:a="http://schemas.openxmlformats.org/drawingml/2006/main">
              <a:ext uri="{FF2B5EF4-FFF2-40B4-BE49-F238E27FC236}">
                <a16:creationId xmlns:a16="http://schemas.microsoft.com/office/drawing/2014/main" id="{9E03AA30-346A-4C84-B102-2CC8D9E7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83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rPr>
              <a:t>代表頁階段即可檢視一致性與重用情形，節省工時需由試點資料比較。</a:t>
            </a:r>
          </a:p>
        </p:txBody>
      </p:sp>
      <p:sp>
        <p:nvSpPr>
          <p:cNvPr id="18" name="shape-299">
            <a:extLst xmlns:a="http://schemas.openxmlformats.org/drawingml/2006/main">
              <a:ext uri="{FF2B5EF4-FFF2-40B4-BE49-F238E27FC236}">
                <a16:creationId xmlns:a16="http://schemas.microsoft.com/office/drawing/2014/main" id="{1AACD9B0-B524-47D0-85DE-4674F739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300">
            <a:extLst xmlns:a="http://schemas.openxmlformats.org/drawingml/2006/main">
              <a:ext uri="{FF2B5EF4-FFF2-40B4-BE49-F238E27FC236}">
                <a16:creationId xmlns:a16="http://schemas.microsoft.com/office/drawing/2014/main" id="{A47526EF-12BA-469D-93B4-433D0AB1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AI 能直接依設計產出正式頁面嗎？</a:t>
            </a:r>
          </a:p>
        </p:txBody>
      </p:sp>
      <p:sp>
        <p:nvSpPr>
          <p:cNvPr id="20" name="text-301">
            <a:extLst xmlns:a="http://schemas.openxmlformats.org/drawingml/2006/main">
              <a:ext uri="{FF2B5EF4-FFF2-40B4-BE49-F238E27FC236}">
                <a16:creationId xmlns:a16="http://schemas.microsoft.com/office/drawing/2014/main" id="{E0BBFA7E-39FE-4F51-AD68-0B6F5823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83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13744"/>
                </a:solidFill>
                <a:latin typeface="Noto Sans CJK TC"/>
                <a:ea typeface="Noto Sans CJK TC"/>
                <a:cs typeface="Noto Sans CJK TC"/>
              </a:rPr>
              <a:t>規範與範例可協助產稿，正式交付仍需檢查組件使用、互動與設計一致性。</a:t>
            </a:r>
          </a:p>
        </p:txBody>
      </p:sp>
    </p:spTree>
    <p:extLst>
      <p:ext uri="{BB962C8B-B14F-4D97-AF65-F5344CB8AC3E}">
        <p14:creationId xmlns:p14="http://schemas.microsoft.com/office/powerpoint/2010/main" val="4219832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hape-2001">
            <a:extLst xmlns:a="http://schemas.openxmlformats.org/drawingml/2006/main">
              <a:ext uri="{FF2B5EF4-FFF2-40B4-BE49-F238E27FC236}">
                <a16:creationId xmlns:a16="http://schemas.microsoft.com/office/drawing/2014/main" id="{AB17F786-1167-4484-A366-AEB7981F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002">
            <a:extLst xmlns:a="http://schemas.openxmlformats.org/drawingml/2006/main">
              <a:ext uri="{FF2B5EF4-FFF2-40B4-BE49-F238E27FC236}">
                <a16:creationId xmlns:a16="http://schemas.microsoft.com/office/drawing/2014/main" id="{79106211-4367-4869-8408-6DF149C0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Element Plus 全域樣式變數</a:t>
            </a:r>
          </a:p>
        </p:txBody>
      </p:sp>
      <p:sp>
        <p:nvSpPr>
          <p:cNvPr id="3" name="text-2003">
            <a:extLst xmlns:a="http://schemas.openxmlformats.org/drawingml/2006/main">
              <a:ext uri="{FF2B5EF4-FFF2-40B4-BE49-F238E27FC236}">
                <a16:creationId xmlns:a16="http://schemas.microsoft.com/office/drawing/2014/main" id="{A8A77509-7E3C-4138-990E-0581B9F6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按用途分類，先盤點常用設定，其餘變數依需求擴充</a:t>
            </a:r>
          </a:p>
        </p:txBody>
      </p:sp>
      <p:sp>
        <p:nvSpPr>
          <p:cNvPr id="4" name="shape-2004">
            <a:extLst xmlns:a="http://schemas.openxmlformats.org/drawingml/2006/main">
              <a:ext uri="{FF2B5EF4-FFF2-40B4-BE49-F238E27FC236}">
                <a16:creationId xmlns:a16="http://schemas.microsoft.com/office/drawing/2014/main" id="{FAED4891-EA04-453C-87BD-ACAADD25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005">
            <a:extLst xmlns:a="http://schemas.openxmlformats.org/drawingml/2006/main">
              <a:ext uri="{FF2B5EF4-FFF2-40B4-BE49-F238E27FC236}">
                <a16:creationId xmlns:a16="http://schemas.microsoft.com/office/drawing/2014/main" id="{6EAEEB50-DB90-4355-9A77-15684596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UI 組件封裝與導入規劃</a:t>
            </a:r>
          </a:p>
        </p:txBody>
      </p:sp>
      <p:sp>
        <p:nvSpPr>
          <p:cNvPr id="6" name="text-2006">
            <a:extLst xmlns:a="http://schemas.openxmlformats.org/drawingml/2006/main">
              <a:ext uri="{FF2B5EF4-FFF2-40B4-BE49-F238E27FC236}">
                <a16:creationId xmlns:a16="http://schemas.microsoft.com/office/drawing/2014/main" id="{728AA8C6-5F0D-4445-BE6D-EC26C06A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15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749B3-D2FE-4990-B1DD-C0C701E1C802}"/>
              </a:ext>
            </a:extLst>
          </p:cNvPr>
          <p:cNvGraphicFramePr/>
          <p:nvPr/>
        </p:nvGraphicFramePr>
        <p:xfrm>
          <a:off xmlns:a="http://schemas.openxmlformats.org/drawingml/2006/main" x="609600" y="19145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52600"/>
                <a:gridCol w="6334125"/>
                <a:gridCol w="2886075"/>
              </a:tblGrid>
              <a:tr h="45720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分類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7F8F6"/>
                      </a:solidFill>
                      <a:prstDash val="solid"/>
                    </a:lnL>
                    <a:lnR w="9525">
                      <a:solidFill>
                        <a:srgbClr val="F7F8F6"/>
                      </a:solidFill>
                      <a:prstDash val="solid"/>
                    </a:lnR>
                    <a:lnT w="9525">
                      <a:solidFill>
                        <a:srgbClr val="F7F8F6"/>
                      </a:solidFill>
                      <a:prstDash val="solid"/>
                    </a:lnT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實際變數舉例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T w="9525">
                      <a:solidFill>
                        <a:srgbClr val="F7F8F6"/>
                      </a:solidFill>
                      <a:prstDash val="solid"/>
                    </a:lnT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影響範圍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T w="9525">
                      <a:solidFill>
                        <a:srgbClr val="F7F8F6"/>
                      </a:solidFill>
                      <a:prstDash val="solid"/>
                    </a:lnT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</a:tr>
              <a:tr h="65151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品牌與狀態色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7F8F6"/>
                      </a:solidFill>
                      <a:prstDash val="solid"/>
                    </a:lnL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--el-color-primary</a:t>
                      </a:r>
                    </a:p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--el-color-success、--el-color-danger、…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主要操作、成功與警示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文字色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7F8F6"/>
                      </a:solidFill>
                      <a:prstDash val="solid"/>
                    </a:lnL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E5EFEB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--el-text-color-primary</a:t>
                      </a:r>
                    </a:p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--el-text-color-regular、…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E5EFEB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標題、一般文字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E5EFEB"/>
                    </a:solidFill>
                  </a:tcPr>
                </a:tc>
              </a:tr>
              <a:tr h="65151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文字排版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7F8F6"/>
                      </a:solidFill>
                      <a:prstDash val="solid"/>
                    </a:lnL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--el-font-size-base</a:t>
                      </a:r>
                    </a:p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--el-font-family、…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預設字級、字型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邊框與圓角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7F8F6"/>
                      </a:solidFill>
                      <a:prstDash val="solid"/>
                    </a:lnL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E5EFEB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--el-border-color</a:t>
                      </a:r>
                    </a:p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--el-border-radius-base、…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E5EFEB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分隔線、控制項圓角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E5EFEB"/>
                    </a:solidFill>
                  </a:tcPr>
                </a:tc>
              </a:tr>
              <a:tr h="651510"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背景與陰影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7F8F6"/>
                      </a:solidFill>
                      <a:prstDash val="solid"/>
                    </a:lnL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--el-bg-color-page</a:t>
                      </a:r>
                    </a:p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--el-box-shadow-light、…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1430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744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頁面底色、浮層陰影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7F8F6"/>
                      </a:solidFill>
                      <a:prstDash val="solid"/>
                    </a:lnR>
                    <a:lnB w="9525">
                      <a:solidFill>
                        <a:srgbClr val="F7F8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-2007">
            <a:extLst xmlns:a="http://schemas.openxmlformats.org/drawingml/2006/main">
              <a:ext uri="{FF2B5EF4-FFF2-40B4-BE49-F238E27FC236}">
                <a16:creationId xmlns:a16="http://schemas.microsoft.com/office/drawing/2014/main" id="{6B312997-FADD-4679-AF25-50F73681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-2008">
            <a:extLst xmlns:a="http://schemas.openxmlformats.org/drawingml/2006/main">
              <a:ext uri="{FF2B5EF4-FFF2-40B4-BE49-F238E27FC236}">
                <a16:creationId xmlns:a16="http://schemas.microsoft.com/office/drawing/2014/main" id="{E5B7E66F-8494-4FD5-A3B0-6D158725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009">
            <a:extLst xmlns:a="http://schemas.openxmlformats.org/drawingml/2006/main">
              <a:ext uri="{FF2B5EF4-FFF2-40B4-BE49-F238E27FC236}">
                <a16:creationId xmlns:a16="http://schemas.microsoft.com/office/drawing/2014/main" id="{69BF8459-BA05-4430-B075-2E091FA5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這些是可共用的外觀設定，頁面配置仍需另外規劃</a:t>
            </a:r>
          </a:p>
        </p:txBody>
      </p:sp>
    </p:spTree>
    <p:extLst>
      <p:ext uri="{BB962C8B-B14F-4D97-AF65-F5344CB8AC3E}">
        <p14:creationId xmlns:p14="http://schemas.microsoft.com/office/powerpoint/2010/main" val="2388746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hape-2010">
            <a:extLst xmlns:a="http://schemas.openxmlformats.org/drawingml/2006/main">
              <a:ext uri="{FF2B5EF4-FFF2-40B4-BE49-F238E27FC236}">
                <a16:creationId xmlns:a16="http://schemas.microsoft.com/office/drawing/2014/main" id="{B3087200-AF59-48EC-A0C5-E208744B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011">
            <a:extLst xmlns:a="http://schemas.openxmlformats.org/drawingml/2006/main">
              <a:ext uri="{FF2B5EF4-FFF2-40B4-BE49-F238E27FC236}">
                <a16:creationId xmlns:a16="http://schemas.microsoft.com/office/drawing/2014/main" id="{D654FC02-FF07-428B-98B7-56303F99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公司樣式設定與技術對照</a:t>
            </a:r>
          </a:p>
        </p:txBody>
      </p:sp>
      <p:sp>
        <p:nvSpPr>
          <p:cNvPr id="3" name="text-2012">
            <a:extLst xmlns:a="http://schemas.openxmlformats.org/drawingml/2006/main">
              <a:ext uri="{FF2B5EF4-FFF2-40B4-BE49-F238E27FC236}">
                <a16:creationId xmlns:a16="http://schemas.microsoft.com/office/drawing/2014/main" id="{2379FCF5-08A2-4D9E-A0A0-34A3A7E7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公司設定保存設計意義，對接檔負責轉成 Element Plus 使用的名稱</a:t>
            </a:r>
          </a:p>
        </p:txBody>
      </p:sp>
      <p:sp>
        <p:nvSpPr>
          <p:cNvPr id="4" name="shape-2013">
            <a:extLst xmlns:a="http://schemas.openxmlformats.org/drawingml/2006/main">
              <a:ext uri="{FF2B5EF4-FFF2-40B4-BE49-F238E27FC236}">
                <a16:creationId xmlns:a16="http://schemas.microsoft.com/office/drawing/2014/main" id="{D25B4706-E5E8-4C9C-AC43-1DAC61A0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014">
            <a:extLst xmlns:a="http://schemas.openxmlformats.org/drawingml/2006/main">
              <a:ext uri="{FF2B5EF4-FFF2-40B4-BE49-F238E27FC236}">
                <a16:creationId xmlns:a16="http://schemas.microsoft.com/office/drawing/2014/main" id="{0204B23D-7FAC-4710-9B41-9DB0F179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UI 組件封裝與導入規劃</a:t>
            </a:r>
          </a:p>
        </p:txBody>
      </p:sp>
      <p:sp>
        <p:nvSpPr>
          <p:cNvPr id="6" name="text-2015">
            <a:extLst xmlns:a="http://schemas.openxmlformats.org/drawingml/2006/main">
              <a:ext uri="{FF2B5EF4-FFF2-40B4-BE49-F238E27FC236}">
                <a16:creationId xmlns:a16="http://schemas.microsoft.com/office/drawing/2014/main" id="{CB280289-E44C-420D-AA2A-51FA9F1E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16</a:t>
            </a:r>
          </a:p>
        </p:txBody>
      </p:sp>
      <p:sp>
        <p:nvSpPr>
          <p:cNvPr id="7" name="text-2016">
            <a:extLst xmlns:a="http://schemas.openxmlformats.org/drawingml/2006/main">
              <a:ext uri="{FF2B5EF4-FFF2-40B4-BE49-F238E27FC236}">
                <a16:creationId xmlns:a16="http://schemas.microsoft.com/office/drawing/2014/main" id="{402922F7-D2B6-42BC-A0FA-BE90ADE6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styles/tokens.css（節錄）</a:t>
            </a:r>
          </a:p>
        </p:txBody>
      </p:sp>
      <p:sp>
        <p:nvSpPr>
          <p:cNvPr id="8" name="shape-2017">
            <a:extLst xmlns:a="http://schemas.openxmlformats.org/drawingml/2006/main">
              <a:ext uri="{FF2B5EF4-FFF2-40B4-BE49-F238E27FC236}">
                <a16:creationId xmlns:a16="http://schemas.microsoft.com/office/drawing/2014/main" id="{79AC0DF7-EA1D-4CF4-8716-8EDF2FA3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2578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ED6DC"/>
            </a:solidFill>
            <a:prstDash val="solid"/>
          </a:ln>
        </p:spPr>
      </p:sp>
      <p:sp>
        <p:nvSpPr>
          <p:cNvPr id="9" name="text-2018">
            <a:extLst xmlns:a="http://schemas.openxmlformats.org/drawingml/2006/main">
              <a:ext uri="{FF2B5EF4-FFF2-40B4-BE49-F238E27FC236}">
                <a16:creationId xmlns:a16="http://schemas.microsoft.com/office/drawing/2014/main" id="{0310804F-BDF5-4A5F-B00E-DC361577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:root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</p:txBody>
      </p:sp>
      <p:sp>
        <p:nvSpPr>
          <p:cNvPr id="10" name="text-2019">
            <a:extLst xmlns:a="http://schemas.openxmlformats.org/drawingml/2006/main">
              <a:ext uri="{FF2B5EF4-FFF2-40B4-BE49-F238E27FC236}">
                <a16:creationId xmlns:a16="http://schemas.microsoft.com/office/drawing/2014/main" id="{CC1827CB-A69A-4170-9E62-2C2C5459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--app-primary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0451A5"/>
                </a:solidFill>
                <a:latin typeface="DejaVu Sans Mono"/>
                <a:ea typeface="DejaVu Sans Mono"/>
                <a:cs typeface="DejaVu Sans Mono"/>
              </a:rPr>
              <a:t>#006B64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</p:txBody>
      </p:sp>
      <p:sp>
        <p:nvSpPr>
          <p:cNvPr id="11" name="text-2020">
            <a:extLst xmlns:a="http://schemas.openxmlformats.org/drawingml/2006/main">
              <a:ext uri="{FF2B5EF4-FFF2-40B4-BE49-F238E27FC236}">
                <a16:creationId xmlns:a16="http://schemas.microsoft.com/office/drawing/2014/main" id="{A3F0FA81-8AA5-4AB1-B074-917EC2C4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--app-primary-hover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0451A5"/>
                </a:solidFill>
                <a:latin typeface="DejaVu Sans Mono"/>
                <a:ea typeface="DejaVu Sans Mono"/>
                <a:cs typeface="DejaVu Sans Mono"/>
              </a:rPr>
              <a:t>#197B75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</p:txBody>
      </p:sp>
      <p:sp>
        <p:nvSpPr>
          <p:cNvPr id="12" name="text-2021">
            <a:extLst xmlns:a="http://schemas.openxmlformats.org/drawingml/2006/main">
              <a:ext uri="{FF2B5EF4-FFF2-40B4-BE49-F238E27FC236}">
                <a16:creationId xmlns:a16="http://schemas.microsoft.com/office/drawing/2014/main" id="{9857C0B7-38DD-414D-8F4F-E7D3EF01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--app-font-size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098658"/>
                </a:solidFill>
                <a:latin typeface="DejaVu Sans Mono"/>
                <a:ea typeface="DejaVu Sans Mono"/>
                <a:cs typeface="DejaVu Sans Mono"/>
              </a:rPr>
              <a:t>14px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</p:txBody>
      </p:sp>
      <p:sp>
        <p:nvSpPr>
          <p:cNvPr id="13" name="text-2022">
            <a:extLst xmlns:a="http://schemas.openxmlformats.org/drawingml/2006/main">
              <a:ext uri="{FF2B5EF4-FFF2-40B4-BE49-F238E27FC236}">
                <a16:creationId xmlns:a16="http://schemas.microsoft.com/office/drawing/2014/main" id="{634B2295-FC12-4865-B43D-09352F21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--app-radius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098658"/>
                </a:solidFill>
                <a:latin typeface="DejaVu Sans Mono"/>
                <a:ea typeface="DejaVu Sans Mono"/>
                <a:cs typeface="DejaVu Sans Mono"/>
              </a:rPr>
              <a:t>6px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</p:txBody>
      </p:sp>
      <p:sp>
        <p:nvSpPr>
          <p:cNvPr id="14" name="text-2023">
            <a:extLst xmlns:a="http://schemas.openxmlformats.org/drawingml/2006/main">
              <a:ext uri="{FF2B5EF4-FFF2-40B4-BE49-F238E27FC236}">
                <a16:creationId xmlns:a16="http://schemas.microsoft.com/office/drawing/2014/main" id="{FEA4B048-0CC5-4A95-AAE7-71B3A994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75">
                <a:solidFill>
                  <a:srgbClr val="008000"/>
                </a:solidFill>
                <a:latin typeface="DejaVu Sans Mono"/>
                <a:ea typeface="DejaVu Sans Mono"/>
                <a:cs typeface="DejaVu Sans Mono"/>
              </a:rPr>
              <a:t>/* ... */</a:t>
            </a:r>
          </a:p>
        </p:txBody>
      </p:sp>
      <p:sp>
        <p:nvSpPr>
          <p:cNvPr id="15" name="text-2024">
            <a:extLst xmlns:a="http://schemas.openxmlformats.org/drawingml/2006/main">
              <a:ext uri="{FF2B5EF4-FFF2-40B4-BE49-F238E27FC236}">
                <a16:creationId xmlns:a16="http://schemas.microsoft.com/office/drawing/2014/main" id="{3C6BDD36-4BAE-4939-86FC-2AFE12CA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16" name="text-2025">
            <a:extLst xmlns:a="http://schemas.openxmlformats.org/drawingml/2006/main">
              <a:ext uri="{FF2B5EF4-FFF2-40B4-BE49-F238E27FC236}">
                <a16:creationId xmlns:a16="http://schemas.microsoft.com/office/drawing/2014/main" id="{5EFD0C2B-8C9F-4130-B452-A82859DA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62150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styles/element-plus.css（節錄）</a:t>
            </a:r>
          </a:p>
        </p:txBody>
      </p:sp>
      <p:sp>
        <p:nvSpPr>
          <p:cNvPr id="17" name="shape-2026">
            <a:extLst xmlns:a="http://schemas.openxmlformats.org/drawingml/2006/main">
              <a:ext uri="{FF2B5EF4-FFF2-40B4-BE49-F238E27FC236}">
                <a16:creationId xmlns:a16="http://schemas.microsoft.com/office/drawing/2014/main" id="{FD30912D-8B2A-47F9-BB47-1D04E51F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52578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ED6DC"/>
            </a:solidFill>
            <a:prstDash val="solid"/>
          </a:ln>
        </p:spPr>
      </p:sp>
      <p:sp>
        <p:nvSpPr>
          <p:cNvPr id="18" name="text-2027">
            <a:extLst xmlns:a="http://schemas.openxmlformats.org/drawingml/2006/main">
              <a:ext uri="{FF2B5EF4-FFF2-40B4-BE49-F238E27FC236}">
                <a16:creationId xmlns:a16="http://schemas.microsoft.com/office/drawing/2014/main" id="{1368231B-C70B-43C6-89BE-65F2DDE9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:root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</p:txBody>
      </p:sp>
      <p:sp>
        <p:nvSpPr>
          <p:cNvPr id="19" name="text-2028">
            <a:extLst xmlns:a="http://schemas.openxmlformats.org/drawingml/2006/main">
              <a:ext uri="{FF2B5EF4-FFF2-40B4-BE49-F238E27FC236}">
                <a16:creationId xmlns:a16="http://schemas.microsoft.com/office/drawing/2014/main" id="{149CDBD0-EBBA-4289-BDB1-5E9580CB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--el-color-primary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:</a:t>
            </a:r>
          </a:p>
        </p:txBody>
      </p:sp>
      <p:sp>
        <p:nvSpPr>
          <p:cNvPr id="20" name="text-2029">
            <a:extLst xmlns:a="http://schemas.openxmlformats.org/drawingml/2006/main">
              <a:ext uri="{FF2B5EF4-FFF2-40B4-BE49-F238E27FC236}">
                <a16:creationId xmlns:a16="http://schemas.microsoft.com/office/drawing/2014/main" id="{E7E30677-C54E-448F-8551-2B4C5402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795E26"/>
                </a:solidFill>
                <a:latin typeface="DejaVu Sans Mono"/>
                <a:ea typeface="DejaVu Sans Mono"/>
                <a:cs typeface="DejaVu Sans Mono"/>
              </a:rPr>
              <a:t>var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--app-primary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);</a:t>
            </a:r>
          </a:p>
        </p:txBody>
      </p:sp>
      <p:sp>
        <p:nvSpPr>
          <p:cNvPr id="21" name="text-2030">
            <a:extLst xmlns:a="http://schemas.openxmlformats.org/drawingml/2006/main">
              <a:ext uri="{FF2B5EF4-FFF2-40B4-BE49-F238E27FC236}">
                <a16:creationId xmlns:a16="http://schemas.microsoft.com/office/drawing/2014/main" id="{695F3CB4-0DB1-4C45-AA1E-3EE7CB71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--el-color-primary-light-3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:</a:t>
            </a:r>
          </a:p>
        </p:txBody>
      </p:sp>
      <p:sp>
        <p:nvSpPr>
          <p:cNvPr id="22" name="text-2031">
            <a:extLst xmlns:a="http://schemas.openxmlformats.org/drawingml/2006/main">
              <a:ext uri="{FF2B5EF4-FFF2-40B4-BE49-F238E27FC236}">
                <a16:creationId xmlns:a16="http://schemas.microsoft.com/office/drawing/2014/main" id="{2603460A-EB41-45EC-9047-4D7E3D35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795E26"/>
                </a:solidFill>
                <a:latin typeface="DejaVu Sans Mono"/>
                <a:ea typeface="DejaVu Sans Mono"/>
                <a:cs typeface="DejaVu Sans Mono"/>
              </a:rPr>
              <a:t>var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--app-primary-hover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);</a:t>
            </a:r>
          </a:p>
        </p:txBody>
      </p:sp>
      <p:sp>
        <p:nvSpPr>
          <p:cNvPr id="23" name="text-2032">
            <a:extLst xmlns:a="http://schemas.openxmlformats.org/drawingml/2006/main">
              <a:ext uri="{FF2B5EF4-FFF2-40B4-BE49-F238E27FC236}">
                <a16:creationId xmlns:a16="http://schemas.microsoft.com/office/drawing/2014/main" id="{553F15B0-8D93-4BAB-9209-798C61DE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--el-font-size-base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:</a:t>
            </a:r>
          </a:p>
        </p:txBody>
      </p:sp>
      <p:sp>
        <p:nvSpPr>
          <p:cNvPr id="24" name="text-2033">
            <a:extLst xmlns:a="http://schemas.openxmlformats.org/drawingml/2006/main">
              <a:ext uri="{FF2B5EF4-FFF2-40B4-BE49-F238E27FC236}">
                <a16:creationId xmlns:a16="http://schemas.microsoft.com/office/drawing/2014/main" id="{3F584E77-7DE8-48F4-A46D-23144CBD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795E26"/>
                </a:solidFill>
                <a:latin typeface="DejaVu Sans Mono"/>
                <a:ea typeface="DejaVu Sans Mono"/>
                <a:cs typeface="DejaVu Sans Mono"/>
              </a:rPr>
              <a:t>var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--app-font-size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);</a:t>
            </a:r>
          </a:p>
        </p:txBody>
      </p:sp>
      <p:sp>
        <p:nvSpPr>
          <p:cNvPr id="25" name="text-2034">
            <a:extLst xmlns:a="http://schemas.openxmlformats.org/drawingml/2006/main">
              <a:ext uri="{FF2B5EF4-FFF2-40B4-BE49-F238E27FC236}">
                <a16:creationId xmlns:a16="http://schemas.microsoft.com/office/drawing/2014/main" id="{4359269C-F5CE-4170-807E-A5984102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624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--el-border-radius-base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:</a:t>
            </a:r>
          </a:p>
        </p:txBody>
      </p:sp>
      <p:sp>
        <p:nvSpPr>
          <p:cNvPr id="26" name="text-2035">
            <a:extLst xmlns:a="http://schemas.openxmlformats.org/drawingml/2006/main">
              <a:ext uri="{FF2B5EF4-FFF2-40B4-BE49-F238E27FC236}">
                <a16:creationId xmlns:a16="http://schemas.microsoft.com/office/drawing/2014/main" id="{F8729821-5E2E-4ADC-B14B-061083E4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795E26"/>
                </a:solidFill>
                <a:latin typeface="DejaVu Sans Mono"/>
                <a:ea typeface="DejaVu Sans Mono"/>
                <a:cs typeface="DejaVu Sans Mono"/>
              </a:rPr>
              <a:t>var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--app-radius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);</a:t>
            </a:r>
          </a:p>
        </p:txBody>
      </p:sp>
      <p:sp>
        <p:nvSpPr>
          <p:cNvPr id="27" name="text-2036">
            <a:extLst xmlns:a="http://schemas.openxmlformats.org/drawingml/2006/main">
              <a:ext uri="{FF2B5EF4-FFF2-40B4-BE49-F238E27FC236}">
                <a16:creationId xmlns:a16="http://schemas.microsoft.com/office/drawing/2014/main" id="{2802BAB2-C421-42DE-8056-8B010C21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958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75">
                <a:solidFill>
                  <a:srgbClr val="008000"/>
                </a:solidFill>
                <a:latin typeface="DejaVu Sans Mono"/>
                <a:ea typeface="DejaVu Sans Mono"/>
                <a:cs typeface="DejaVu Sans Mono"/>
              </a:rPr>
              <a:t>/* ... */</a:t>
            </a:r>
          </a:p>
        </p:txBody>
      </p:sp>
      <p:sp>
        <p:nvSpPr>
          <p:cNvPr id="28" name="text-2037">
            <a:extLst xmlns:a="http://schemas.openxmlformats.org/drawingml/2006/main">
              <a:ext uri="{FF2B5EF4-FFF2-40B4-BE49-F238E27FC236}">
                <a16:creationId xmlns:a16="http://schemas.microsoft.com/office/drawing/2014/main" id="{A74876D1-8802-4554-BD1A-02E8F0B8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625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29" name="shape-2038">
            <a:extLst xmlns:a="http://schemas.openxmlformats.org/drawingml/2006/main">
              <a:ext uri="{FF2B5EF4-FFF2-40B4-BE49-F238E27FC236}">
                <a16:creationId xmlns:a16="http://schemas.microsoft.com/office/drawing/2014/main" id="{ED9CE20C-5A93-4D5B-B2C4-05CFDEC1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hape-2039">
            <a:extLst xmlns:a="http://schemas.openxmlformats.org/drawingml/2006/main">
              <a:ext uri="{FF2B5EF4-FFF2-40B4-BE49-F238E27FC236}">
                <a16:creationId xmlns:a16="http://schemas.microsoft.com/office/drawing/2014/main" id="{784A8984-A8DD-4013-A1BA-8492793D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2040">
            <a:extLst xmlns:a="http://schemas.openxmlformats.org/drawingml/2006/main">
              <a:ext uri="{FF2B5EF4-FFF2-40B4-BE49-F238E27FC236}">
                <a16:creationId xmlns:a16="http://schemas.microsoft.com/office/drawing/2014/main" id="{56635EA0-6CA0-4F56-9CF8-D3D959CD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示意色碼與尺寸；完整主題還需對應停用色、按下色等狀態設定</a:t>
            </a:r>
          </a:p>
        </p:txBody>
      </p:sp>
    </p:spTree>
    <p:extLst>
      <p:ext uri="{BB962C8B-B14F-4D97-AF65-F5344CB8AC3E}">
        <p14:creationId xmlns:p14="http://schemas.microsoft.com/office/powerpoint/2010/main" val="1869125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hape-2041">
            <a:extLst xmlns:a="http://schemas.openxmlformats.org/drawingml/2006/main">
              <a:ext uri="{FF2B5EF4-FFF2-40B4-BE49-F238E27FC236}">
                <a16:creationId xmlns:a16="http://schemas.microsoft.com/office/drawing/2014/main" id="{AC27AE63-EA8E-4BEB-935E-6C55E05C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042">
            <a:extLst xmlns:a="http://schemas.openxmlformats.org/drawingml/2006/main">
              <a:ext uri="{FF2B5EF4-FFF2-40B4-BE49-F238E27FC236}">
                <a16:creationId xmlns:a16="http://schemas.microsoft.com/office/drawing/2014/main" id="{66F6F6D3-6C23-4ACA-8206-66682065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Backtop 樣式變數完整地圖</a:t>
            </a:r>
          </a:p>
        </p:txBody>
      </p:sp>
      <p:sp>
        <p:nvSpPr>
          <p:cNvPr id="3" name="text-2043">
            <a:extLst xmlns:a="http://schemas.openxmlformats.org/drawingml/2006/main">
              <a:ext uri="{FF2B5EF4-FFF2-40B4-BE49-F238E27FC236}">
                <a16:creationId xmlns:a16="http://schemas.microsoft.com/office/drawing/2014/main" id="{B8CADB6E-D6C4-4B30-934A-DA7CD821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Element Plus 2.11.5 原廠淺色預設；依 CSS 屬性逐層追溯到實際值</a:t>
            </a:r>
          </a:p>
        </p:txBody>
      </p:sp>
      <p:sp>
        <p:nvSpPr>
          <p:cNvPr id="4" name="shape-2044">
            <a:extLst xmlns:a="http://schemas.openxmlformats.org/drawingml/2006/main">
              <a:ext uri="{FF2B5EF4-FFF2-40B4-BE49-F238E27FC236}">
                <a16:creationId xmlns:a16="http://schemas.microsoft.com/office/drawing/2014/main" id="{AC481467-757E-440B-B97D-6BA4F533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045">
            <a:extLst xmlns:a="http://schemas.openxmlformats.org/drawingml/2006/main">
              <a:ext uri="{FF2B5EF4-FFF2-40B4-BE49-F238E27FC236}">
                <a16:creationId xmlns:a16="http://schemas.microsoft.com/office/drawing/2014/main" id="{7BB699CB-7854-49DA-B00D-61A469A4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UI 組件封裝與導入規劃</a:t>
            </a:r>
          </a:p>
        </p:txBody>
      </p:sp>
      <p:sp>
        <p:nvSpPr>
          <p:cNvPr id="6" name="text-2046">
            <a:extLst xmlns:a="http://schemas.openxmlformats.org/drawingml/2006/main">
              <a:ext uri="{FF2B5EF4-FFF2-40B4-BE49-F238E27FC236}">
                <a16:creationId xmlns:a16="http://schemas.microsoft.com/office/drawing/2014/main" id="{81DF604F-8B6F-46FE-BAA4-3AF456FD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17</a:t>
            </a:r>
          </a:p>
        </p:txBody>
      </p:sp>
      <p:sp>
        <p:nvSpPr>
          <p:cNvPr id="7" name="shape-2047">
            <a:extLst xmlns:a="http://schemas.openxmlformats.org/drawingml/2006/main">
              <a:ext uri="{FF2B5EF4-FFF2-40B4-BE49-F238E27FC236}">
                <a16:creationId xmlns:a16="http://schemas.microsoft.com/office/drawing/2014/main" id="{97BD0A9A-3669-4873-B320-D5897775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9728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ED6DC"/>
            </a:solidFill>
            <a:prstDash val="solid"/>
          </a:ln>
        </p:spPr>
      </p:sp>
      <p:sp>
        <p:nvSpPr>
          <p:cNvPr id="8" name="text-2048">
            <a:extLst xmlns:a="http://schemas.openxmlformats.org/drawingml/2006/main">
              <a:ext uri="{FF2B5EF4-FFF2-40B4-BE49-F238E27FC236}">
                <a16:creationId xmlns:a16="http://schemas.microsoft.com/office/drawing/2014/main" id="{01283005-A110-48C1-87E9-B53EE270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&lt;el-backtop /&gt;</a:t>
            </a:r>
          </a:p>
        </p:txBody>
      </p:sp>
      <p:sp>
        <p:nvSpPr>
          <p:cNvPr id="9" name="text-2049">
            <a:extLst xmlns:a="http://schemas.openxmlformats.org/drawingml/2006/main">
              <a:ext uri="{FF2B5EF4-FFF2-40B4-BE49-F238E27FC236}">
                <a16:creationId xmlns:a16="http://schemas.microsoft.com/office/drawing/2014/main" id="{3CCA8B21-7748-4FB6-96BD-C503BC17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</a:t>
            </a:r>
          </a:p>
        </p:txBody>
      </p:sp>
      <p:sp>
        <p:nvSpPr>
          <p:cNvPr id="10" name="text-2050">
            <a:extLst xmlns:a="http://schemas.openxmlformats.org/drawingml/2006/main">
              <a:ext uri="{FF2B5EF4-FFF2-40B4-BE49-F238E27FC236}">
                <a16:creationId xmlns:a16="http://schemas.microsoft.com/office/drawing/2014/main" id="{236A5F0F-E3BD-4F5E-A926-DD24C4DE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+-- </a:t>
            </a:r>
            <a:r>
              <a:rPr sz="1650">
                <a:solidFill>
                  <a:srgbClr val="A31515"/>
                </a:solidFill>
                <a:latin typeface="DejaVu Sans Mono"/>
                <a:ea typeface="DejaVu Sans Mono"/>
                <a:cs typeface="DejaVu Sans Mono"/>
              </a:rPr>
              <a:t>background-color</a:t>
            </a:r>
          </a:p>
        </p:txBody>
      </p:sp>
      <p:sp>
        <p:nvSpPr>
          <p:cNvPr id="11" name="text-2051">
            <a:extLst xmlns:a="http://schemas.openxmlformats.org/drawingml/2006/main">
              <a:ext uri="{FF2B5EF4-FFF2-40B4-BE49-F238E27FC236}">
                <a16:creationId xmlns:a16="http://schemas.microsoft.com/office/drawing/2014/main" id="{0B3D330A-24DA-4D87-82DD-1BA97305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`-- </a:t>
            </a:r>
            <a:r>
              <a:rPr sz="1650">
                <a:solidFill>
                  <a:srgbClr val="0451A5"/>
                </a:solidFill>
                <a:latin typeface="DejaVu Sans Mono"/>
                <a:ea typeface="DejaVu Sans Mono"/>
                <a:cs typeface="DejaVu Sans Mono"/>
              </a:rPr>
              <a:t>--el-backtop-bg-color</a:t>
            </a:r>
          </a:p>
        </p:txBody>
      </p:sp>
      <p:sp>
        <p:nvSpPr>
          <p:cNvPr id="12" name="text-2052">
            <a:extLst xmlns:a="http://schemas.openxmlformats.org/drawingml/2006/main">
              <a:ext uri="{FF2B5EF4-FFF2-40B4-BE49-F238E27FC236}">
                <a16:creationId xmlns:a16="http://schemas.microsoft.com/office/drawing/2014/main" id="{ADAE1807-9BD9-44A2-984C-A4EA45CC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    `-- </a:t>
            </a:r>
            <a:r>
              <a:rPr sz="1650">
                <a:solidFill>
                  <a:srgbClr val="0451A5"/>
                </a:solidFill>
                <a:latin typeface="DejaVu Sans Mono"/>
                <a:ea typeface="DejaVu Sans Mono"/>
                <a:cs typeface="DejaVu Sans Mono"/>
              </a:rPr>
              <a:t>--el-bg-color-overlay</a:t>
            </a: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 = </a:t>
            </a:r>
            <a:r>
              <a:rPr sz="1650">
                <a:solidFill>
                  <a:srgbClr val="098658"/>
                </a:solidFill>
                <a:latin typeface="DejaVu Sans Mono"/>
                <a:ea typeface="DejaVu Sans Mono"/>
                <a:cs typeface="DejaVu Sans Mono"/>
              </a:rPr>
              <a:t>#ffffff</a:t>
            </a:r>
          </a:p>
        </p:txBody>
      </p:sp>
      <p:sp>
        <p:nvSpPr>
          <p:cNvPr id="13" name="text-2053">
            <a:extLst xmlns:a="http://schemas.openxmlformats.org/drawingml/2006/main">
              <a:ext uri="{FF2B5EF4-FFF2-40B4-BE49-F238E27FC236}">
                <a16:creationId xmlns:a16="http://schemas.microsoft.com/office/drawing/2014/main" id="{321139B0-4CF8-4F47-8710-A2098EC8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</a:t>
            </a:r>
          </a:p>
        </p:txBody>
      </p:sp>
      <p:sp>
        <p:nvSpPr>
          <p:cNvPr id="14" name="text-2054">
            <a:extLst xmlns:a="http://schemas.openxmlformats.org/drawingml/2006/main">
              <a:ext uri="{FF2B5EF4-FFF2-40B4-BE49-F238E27FC236}">
                <a16:creationId xmlns:a16="http://schemas.microsoft.com/office/drawing/2014/main" id="{434B3BC0-A8FB-49CA-BB6E-5983E441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+-- </a:t>
            </a:r>
            <a:r>
              <a:rPr sz="1650">
                <a:solidFill>
                  <a:srgbClr val="A31515"/>
                </a:solidFill>
                <a:latin typeface="DejaVu Sans Mono"/>
                <a:ea typeface="DejaVu Sans Mono"/>
                <a:cs typeface="DejaVu Sans Mono"/>
              </a:rPr>
              <a:t>color</a:t>
            </a:r>
          </a:p>
        </p:txBody>
      </p:sp>
      <p:sp>
        <p:nvSpPr>
          <p:cNvPr id="15" name="text-2055">
            <a:extLst xmlns:a="http://schemas.openxmlformats.org/drawingml/2006/main">
              <a:ext uri="{FF2B5EF4-FFF2-40B4-BE49-F238E27FC236}">
                <a16:creationId xmlns:a16="http://schemas.microsoft.com/office/drawing/2014/main" id="{AC359046-4BF8-4671-8A4B-F80DABBD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`-- </a:t>
            </a:r>
            <a:r>
              <a:rPr sz="1650">
                <a:solidFill>
                  <a:srgbClr val="0451A5"/>
                </a:solidFill>
                <a:latin typeface="DejaVu Sans Mono"/>
                <a:ea typeface="DejaVu Sans Mono"/>
                <a:cs typeface="DejaVu Sans Mono"/>
              </a:rPr>
              <a:t>--el-backtop-text-color</a:t>
            </a:r>
          </a:p>
        </p:txBody>
      </p:sp>
      <p:sp>
        <p:nvSpPr>
          <p:cNvPr id="16" name="text-2056">
            <a:extLst xmlns:a="http://schemas.openxmlformats.org/drawingml/2006/main">
              <a:ext uri="{FF2B5EF4-FFF2-40B4-BE49-F238E27FC236}">
                <a16:creationId xmlns:a16="http://schemas.microsoft.com/office/drawing/2014/main" id="{3B294321-4A73-4480-AC96-BD13DDF1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    `-- </a:t>
            </a:r>
            <a:r>
              <a:rPr sz="1650">
                <a:solidFill>
                  <a:srgbClr val="0451A5"/>
                </a:solidFill>
                <a:latin typeface="DejaVu Sans Mono"/>
                <a:ea typeface="DejaVu Sans Mono"/>
                <a:cs typeface="DejaVu Sans Mono"/>
              </a:rPr>
              <a:t>--el-color-primary</a:t>
            </a: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 = </a:t>
            </a:r>
            <a:r>
              <a:rPr sz="1650">
                <a:solidFill>
                  <a:srgbClr val="098658"/>
                </a:solidFill>
                <a:latin typeface="DejaVu Sans Mono"/>
                <a:ea typeface="DejaVu Sans Mono"/>
                <a:cs typeface="DejaVu Sans Mono"/>
              </a:rPr>
              <a:t>#409eff</a:t>
            </a:r>
          </a:p>
        </p:txBody>
      </p:sp>
      <p:sp>
        <p:nvSpPr>
          <p:cNvPr id="17" name="text-2057">
            <a:extLst xmlns:a="http://schemas.openxmlformats.org/drawingml/2006/main">
              <a:ext uri="{FF2B5EF4-FFF2-40B4-BE49-F238E27FC236}">
                <a16:creationId xmlns:a16="http://schemas.microsoft.com/office/drawing/2014/main" id="{925A012E-206E-436C-9A5E-B098C50D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        `-- SVG path: </a:t>
            </a:r>
            <a:r>
              <a:rPr sz="1650">
                <a:solidFill>
                  <a:srgbClr val="A31515"/>
                </a:solidFill>
                <a:latin typeface="DejaVu Sans Mono"/>
                <a:ea typeface="DejaVu Sans Mono"/>
                <a:cs typeface="DejaVu Sans Mono"/>
              </a:rPr>
              <a:t>fill</a:t>
            </a: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="</a:t>
            </a:r>
            <a:r>
              <a:rPr sz="1650">
                <a:solidFill>
                  <a:srgbClr val="A31515"/>
                </a:solidFill>
                <a:latin typeface="DejaVu Sans Mono"/>
                <a:ea typeface="DejaVu Sans Mono"/>
                <a:cs typeface="DejaVu Sans Mono"/>
              </a:rPr>
              <a:t>currentColor</a:t>
            </a: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"</a:t>
            </a:r>
          </a:p>
        </p:txBody>
      </p:sp>
      <p:sp>
        <p:nvSpPr>
          <p:cNvPr id="18" name="text-2058">
            <a:extLst xmlns:a="http://schemas.openxmlformats.org/drawingml/2006/main">
              <a:ext uri="{FF2B5EF4-FFF2-40B4-BE49-F238E27FC236}">
                <a16:creationId xmlns:a16="http://schemas.microsoft.com/office/drawing/2014/main" id="{CDCDECA2-9082-4E49-8EF5-FCD88760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</a:t>
            </a:r>
          </a:p>
        </p:txBody>
      </p:sp>
      <p:sp>
        <p:nvSpPr>
          <p:cNvPr id="19" name="text-2059">
            <a:extLst xmlns:a="http://schemas.openxmlformats.org/drawingml/2006/main">
              <a:ext uri="{FF2B5EF4-FFF2-40B4-BE49-F238E27FC236}">
                <a16:creationId xmlns:a16="http://schemas.microsoft.com/office/drawing/2014/main" id="{3D6C064D-201A-4F24-9760-4E1B4D82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+-- :hover </a:t>
            </a:r>
            <a:r>
              <a:rPr sz="1650">
                <a:solidFill>
                  <a:srgbClr val="A31515"/>
                </a:solidFill>
                <a:latin typeface="DejaVu Sans Mono"/>
                <a:ea typeface="DejaVu Sans Mono"/>
                <a:cs typeface="DejaVu Sans Mono"/>
              </a:rPr>
              <a:t>background-color</a:t>
            </a:r>
          </a:p>
        </p:txBody>
      </p:sp>
      <p:sp>
        <p:nvSpPr>
          <p:cNvPr id="20" name="text-2060">
            <a:extLst xmlns:a="http://schemas.openxmlformats.org/drawingml/2006/main">
              <a:ext uri="{FF2B5EF4-FFF2-40B4-BE49-F238E27FC236}">
                <a16:creationId xmlns:a16="http://schemas.microsoft.com/office/drawing/2014/main" id="{07E288D0-F46D-4223-9514-33E32791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`-- </a:t>
            </a:r>
            <a:r>
              <a:rPr sz="1650">
                <a:solidFill>
                  <a:srgbClr val="0451A5"/>
                </a:solidFill>
                <a:latin typeface="DejaVu Sans Mono"/>
                <a:ea typeface="DejaVu Sans Mono"/>
                <a:cs typeface="DejaVu Sans Mono"/>
              </a:rPr>
              <a:t>--el-backtop-hover-bg-color</a:t>
            </a:r>
          </a:p>
        </p:txBody>
      </p:sp>
      <p:sp>
        <p:nvSpPr>
          <p:cNvPr id="21" name="text-2061">
            <a:extLst xmlns:a="http://schemas.openxmlformats.org/drawingml/2006/main">
              <a:ext uri="{FF2B5EF4-FFF2-40B4-BE49-F238E27FC236}">
                <a16:creationId xmlns:a16="http://schemas.microsoft.com/office/drawing/2014/main" id="{C58F2634-4BE0-4AEF-ABBB-3A6F28D1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    `-- </a:t>
            </a:r>
            <a:r>
              <a:rPr sz="1650">
                <a:solidFill>
                  <a:srgbClr val="0451A5"/>
                </a:solidFill>
                <a:latin typeface="DejaVu Sans Mono"/>
                <a:ea typeface="DejaVu Sans Mono"/>
                <a:cs typeface="DejaVu Sans Mono"/>
              </a:rPr>
              <a:t>--el-border-color-extra-light</a:t>
            </a: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 = </a:t>
            </a:r>
            <a:r>
              <a:rPr sz="1650">
                <a:solidFill>
                  <a:srgbClr val="098658"/>
                </a:solidFill>
                <a:latin typeface="DejaVu Sans Mono"/>
                <a:ea typeface="DejaVu Sans Mono"/>
                <a:cs typeface="DejaVu Sans Mono"/>
              </a:rPr>
              <a:t>#f2f6fc</a:t>
            </a:r>
          </a:p>
        </p:txBody>
      </p:sp>
      <p:sp>
        <p:nvSpPr>
          <p:cNvPr id="22" name="text-2062">
            <a:extLst xmlns:a="http://schemas.openxmlformats.org/drawingml/2006/main">
              <a:ext uri="{FF2B5EF4-FFF2-40B4-BE49-F238E27FC236}">
                <a16:creationId xmlns:a16="http://schemas.microsoft.com/office/drawing/2014/main" id="{74A3C595-2EF4-46C4-BE68-5E62ED22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</a:t>
            </a:r>
          </a:p>
        </p:txBody>
      </p:sp>
      <p:sp>
        <p:nvSpPr>
          <p:cNvPr id="23" name="text-2063">
            <a:extLst xmlns:a="http://schemas.openxmlformats.org/drawingml/2006/main">
              <a:ext uri="{FF2B5EF4-FFF2-40B4-BE49-F238E27FC236}">
                <a16:creationId xmlns:a16="http://schemas.microsoft.com/office/drawing/2014/main" id="{A677F8AD-89ED-4DF0-A0E9-E3510728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`-- </a:t>
            </a:r>
            <a:r>
              <a:rPr sz="1650">
                <a:solidFill>
                  <a:srgbClr val="A31515"/>
                </a:solidFill>
                <a:latin typeface="DejaVu Sans Mono"/>
                <a:ea typeface="DejaVu Sans Mono"/>
                <a:cs typeface="DejaVu Sans Mono"/>
              </a:rPr>
              <a:t>box-shadow</a:t>
            </a:r>
          </a:p>
        </p:txBody>
      </p:sp>
      <p:sp>
        <p:nvSpPr>
          <p:cNvPr id="24" name="text-2064">
            <a:extLst xmlns:a="http://schemas.openxmlformats.org/drawingml/2006/main">
              <a:ext uri="{FF2B5EF4-FFF2-40B4-BE49-F238E27FC236}">
                <a16:creationId xmlns:a16="http://schemas.microsoft.com/office/drawing/2014/main" id="{7BB210E9-10AC-4474-A962-9BDDDF3E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    `-- </a:t>
            </a:r>
            <a:r>
              <a:rPr sz="1650">
                <a:solidFill>
                  <a:srgbClr val="0451A5"/>
                </a:solidFill>
                <a:latin typeface="DejaVu Sans Mono"/>
                <a:ea typeface="DejaVu Sans Mono"/>
                <a:cs typeface="DejaVu Sans Mono"/>
              </a:rPr>
              <a:t>--el-box-shadow-lighter</a:t>
            </a:r>
          </a:p>
        </p:txBody>
      </p:sp>
      <p:sp>
        <p:nvSpPr>
          <p:cNvPr id="25" name="text-2065">
            <a:extLst xmlns:a="http://schemas.openxmlformats.org/drawingml/2006/main">
              <a:ext uri="{FF2B5EF4-FFF2-40B4-BE49-F238E27FC236}">
                <a16:creationId xmlns:a16="http://schemas.microsoft.com/office/drawing/2014/main" id="{245FEF1D-D1D8-4ED6-AA74-5FEA1035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        `-- 0px 0px 6px rgba(0, 0, 0, .12)</a:t>
            </a:r>
          </a:p>
        </p:txBody>
      </p:sp>
      <p:sp>
        <p:nvSpPr>
          <p:cNvPr id="26" name="shape-2066">
            <a:extLst xmlns:a="http://schemas.openxmlformats.org/drawingml/2006/main">
              <a:ext uri="{FF2B5EF4-FFF2-40B4-BE49-F238E27FC236}">
                <a16:creationId xmlns:a16="http://schemas.microsoft.com/office/drawing/2014/main" id="{BBEE974A-1891-4EE3-AF5D-8D9F2A4D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hape-2067">
            <a:extLst xmlns:a="http://schemas.openxmlformats.org/drawingml/2006/main">
              <a:ext uri="{FF2B5EF4-FFF2-40B4-BE49-F238E27FC236}">
                <a16:creationId xmlns:a16="http://schemas.microsoft.com/office/drawing/2014/main" id="{DA709DCF-1227-4EA7-B5CE-F5173800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068">
            <a:extLst xmlns:a="http://schemas.openxmlformats.org/drawingml/2006/main">
              <a:ext uri="{FF2B5EF4-FFF2-40B4-BE49-F238E27FC236}">
                <a16:creationId xmlns:a16="http://schemas.microsoft.com/office/drawing/2014/main" id="{2C3A47E0-CA7B-4BC4-835E-F24F76C5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組件有自己的變數，並引用全域設定；這張地圖用來判斷應該調整哪一層</a:t>
            </a:r>
          </a:p>
        </p:txBody>
      </p:sp>
    </p:spTree>
    <p:extLst>
      <p:ext uri="{BB962C8B-B14F-4D97-AF65-F5344CB8AC3E}">
        <p14:creationId xmlns:p14="http://schemas.microsoft.com/office/powerpoint/2010/main" val="7093824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hape-2069">
            <a:extLst xmlns:a="http://schemas.openxmlformats.org/drawingml/2006/main">
              <a:ext uri="{FF2B5EF4-FFF2-40B4-BE49-F238E27FC236}">
                <a16:creationId xmlns:a16="http://schemas.microsoft.com/office/drawing/2014/main" id="{D66994B9-2D0E-4D3F-BE62-9905B336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070">
            <a:extLst xmlns:a="http://schemas.openxmlformats.org/drawingml/2006/main">
              <a:ext uri="{FF2B5EF4-FFF2-40B4-BE49-F238E27FC236}">
                <a16:creationId xmlns:a16="http://schemas.microsoft.com/office/drawing/2014/main" id="{5150902D-50F0-4061-906F-3A65B7E0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直接使用 Element Plus</a:t>
            </a:r>
          </a:p>
        </p:txBody>
      </p:sp>
      <p:sp>
        <p:nvSpPr>
          <p:cNvPr id="3" name="text-2071">
            <a:extLst xmlns:a="http://schemas.openxmlformats.org/drawingml/2006/main">
              <a:ext uri="{FF2B5EF4-FFF2-40B4-BE49-F238E27FC236}">
                <a16:creationId xmlns:a16="http://schemas.microsoft.com/office/drawing/2014/main" id="{11D10683-C292-404C-B350-8E88029F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假設已載入相同的公司主題，頁面仍需自行設定常用按鈕行為</a:t>
            </a:r>
          </a:p>
        </p:txBody>
      </p:sp>
      <p:sp>
        <p:nvSpPr>
          <p:cNvPr id="4" name="shape-2072">
            <a:extLst xmlns:a="http://schemas.openxmlformats.org/drawingml/2006/main">
              <a:ext uri="{FF2B5EF4-FFF2-40B4-BE49-F238E27FC236}">
                <a16:creationId xmlns:a16="http://schemas.microsoft.com/office/drawing/2014/main" id="{E4572BD8-0A69-4E8A-A9E9-F1B02A1E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073">
            <a:extLst xmlns:a="http://schemas.openxmlformats.org/drawingml/2006/main">
              <a:ext uri="{FF2B5EF4-FFF2-40B4-BE49-F238E27FC236}">
                <a16:creationId xmlns:a16="http://schemas.microsoft.com/office/drawing/2014/main" id="{60632342-AED7-4458-9266-F0AF5388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UI 組件封裝與導入規劃</a:t>
            </a:r>
          </a:p>
        </p:txBody>
      </p:sp>
      <p:sp>
        <p:nvSpPr>
          <p:cNvPr id="6" name="text-2074">
            <a:extLst xmlns:a="http://schemas.openxmlformats.org/drawingml/2006/main">
              <a:ext uri="{FF2B5EF4-FFF2-40B4-BE49-F238E27FC236}">
                <a16:creationId xmlns:a16="http://schemas.microsoft.com/office/drawing/2014/main" id="{ECBFC810-C9C9-411D-82C4-E1F324FC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18</a:t>
            </a:r>
          </a:p>
        </p:txBody>
      </p:sp>
      <p:sp>
        <p:nvSpPr>
          <p:cNvPr id="7" name="text-2075">
            <a:extLst xmlns:a="http://schemas.openxmlformats.org/drawingml/2006/main">
              <a:ext uri="{FF2B5EF4-FFF2-40B4-BE49-F238E27FC236}">
                <a16:creationId xmlns:a16="http://schemas.microsoft.com/office/drawing/2014/main" id="{91DD0BE5-ACDB-4EAD-A9DD-F91252FB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76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pages/Apply.vue（節錄）</a:t>
            </a:r>
          </a:p>
        </p:txBody>
      </p:sp>
      <p:sp>
        <p:nvSpPr>
          <p:cNvPr id="8" name="shape-2076">
            <a:extLst xmlns:a="http://schemas.openxmlformats.org/drawingml/2006/main">
              <a:ext uri="{FF2B5EF4-FFF2-40B4-BE49-F238E27FC236}">
                <a16:creationId xmlns:a16="http://schemas.microsoft.com/office/drawing/2014/main" id="{3ED51B58-CFBB-4964-9071-36033922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7627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ED6DC"/>
            </a:solidFill>
            <a:prstDash val="solid"/>
          </a:ln>
        </p:spPr>
      </p:sp>
      <p:sp>
        <p:nvSpPr>
          <p:cNvPr id="9" name="text-2077">
            <a:extLst xmlns:a="http://schemas.openxmlformats.org/drawingml/2006/main">
              <a:ext uri="{FF2B5EF4-FFF2-40B4-BE49-F238E27FC236}">
                <a16:creationId xmlns:a16="http://schemas.microsoft.com/office/drawing/2014/main" id="{F98A3334-B51F-47AF-81D7-A542656F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&lt;script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00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setup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00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lang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00">
                <a:solidFill>
                  <a:srgbClr val="0000FF"/>
                </a:solidFill>
                <a:latin typeface="DejaVu Sans Mono"/>
                <a:ea typeface="DejaVu Sans Mono"/>
                <a:cs typeface="DejaVu Sans Mono"/>
              </a:rPr>
              <a:t>"ts"</a:t>
            </a:r>
            <a:r>
              <a:rPr sz="1500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&gt;</a:t>
            </a:r>
          </a:p>
        </p:txBody>
      </p:sp>
      <p:sp>
        <p:nvSpPr>
          <p:cNvPr id="10" name="text-2078">
            <a:extLst xmlns:a="http://schemas.openxmlformats.org/drawingml/2006/main">
              <a:ext uri="{FF2B5EF4-FFF2-40B4-BE49-F238E27FC236}">
                <a16:creationId xmlns:a16="http://schemas.microsoft.com/office/drawing/2014/main" id="{59744232-F726-4BDD-8746-F9272D8B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AF00DB"/>
                </a:solidFill>
                <a:latin typeface="DejaVu Sans Mono"/>
                <a:ea typeface="DejaVu Sans Mono"/>
                <a:cs typeface="DejaVu Sans Mono"/>
              </a:rPr>
              <a:t>import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{ </a:t>
            </a:r>
            <a:r>
              <a:rPr sz="1500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ElButton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} </a:t>
            </a:r>
            <a:r>
              <a:rPr sz="1500">
                <a:solidFill>
                  <a:srgbClr val="AF00DB"/>
                </a:solidFill>
                <a:latin typeface="DejaVu Sans Mono"/>
                <a:ea typeface="DejaVu Sans Mono"/>
                <a:cs typeface="DejaVu Sans Mono"/>
              </a:rPr>
              <a:t>from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00">
                <a:solidFill>
                  <a:srgbClr val="A31515"/>
                </a:solidFill>
                <a:latin typeface="DejaVu Sans Mono"/>
                <a:ea typeface="DejaVu Sans Mono"/>
                <a:cs typeface="DejaVu Sans Mono"/>
              </a:rPr>
              <a:t>'element-plus'</a:t>
            </a:r>
          </a:p>
        </p:txBody>
      </p:sp>
      <p:sp>
        <p:nvSpPr>
          <p:cNvPr id="11" name="text-2079">
            <a:extLst xmlns:a="http://schemas.openxmlformats.org/drawingml/2006/main">
              <a:ext uri="{FF2B5EF4-FFF2-40B4-BE49-F238E27FC236}">
                <a16:creationId xmlns:a16="http://schemas.microsoft.com/office/drawing/2014/main" id="{AA454EBA-8B63-4CC3-94E2-748CAD9A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&lt;/script&gt;</a:t>
            </a:r>
          </a:p>
        </p:txBody>
      </p:sp>
      <p:sp>
        <p:nvSpPr>
          <p:cNvPr id="12" name="text-2080">
            <a:extLst xmlns:a="http://schemas.openxmlformats.org/drawingml/2006/main">
              <a:ext uri="{FF2B5EF4-FFF2-40B4-BE49-F238E27FC236}">
                <a16:creationId xmlns:a16="http://schemas.microsoft.com/office/drawing/2014/main" id="{C2A6894C-95B0-42B2-9750-175A3393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&lt;template&gt;</a:t>
            </a:r>
          </a:p>
        </p:txBody>
      </p:sp>
      <p:sp>
        <p:nvSpPr>
          <p:cNvPr id="13" name="text-2081">
            <a:extLst xmlns:a="http://schemas.openxmlformats.org/drawingml/2006/main">
              <a:ext uri="{FF2B5EF4-FFF2-40B4-BE49-F238E27FC236}">
                <a16:creationId xmlns:a16="http://schemas.microsoft.com/office/drawing/2014/main" id="{D915D1BB-689E-4C1A-ADDA-B7B0F21A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00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&lt;ElButton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00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type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00">
                <a:solidFill>
                  <a:srgbClr val="0000FF"/>
                </a:solidFill>
                <a:latin typeface="DejaVu Sans Mono"/>
                <a:ea typeface="DejaVu Sans Mono"/>
                <a:cs typeface="DejaVu Sans Mono"/>
              </a:rPr>
              <a:t>"primary"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00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native-type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00">
                <a:solidFill>
                  <a:srgbClr val="0000FF"/>
                </a:solidFill>
                <a:latin typeface="DejaVu Sans Mono"/>
                <a:ea typeface="DejaVu Sans Mono"/>
                <a:cs typeface="DejaVu Sans Mono"/>
              </a:rPr>
              <a:t>"button"</a:t>
            </a:r>
          </a:p>
        </p:txBody>
      </p:sp>
      <p:sp>
        <p:nvSpPr>
          <p:cNvPr id="14" name="text-2082">
            <a:extLst xmlns:a="http://schemas.openxmlformats.org/drawingml/2006/main">
              <a:ext uri="{FF2B5EF4-FFF2-40B4-BE49-F238E27FC236}">
                <a16:creationId xmlns:a16="http://schemas.microsoft.com/office/drawing/2014/main" id="{3117A0A0-692B-4906-A225-638EBF6A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00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class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00">
                <a:solidFill>
                  <a:srgbClr val="0000FF"/>
                </a:solidFill>
                <a:latin typeface="DejaVu Sans Mono"/>
                <a:ea typeface="DejaVu Sans Mono"/>
                <a:cs typeface="DejaVu Sans Mono"/>
              </a:rPr>
              <a:t>"submit-button"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:</a:t>
            </a:r>
            <a:r>
              <a:rPr sz="1500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loading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  <a:r>
              <a:rPr sz="1500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saving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</a:p>
        </p:txBody>
      </p:sp>
      <p:sp>
        <p:nvSpPr>
          <p:cNvPr id="15" name="text-2083">
            <a:extLst xmlns:a="http://schemas.openxmlformats.org/drawingml/2006/main">
              <a:ext uri="{FF2B5EF4-FFF2-40B4-BE49-F238E27FC236}">
                <a16:creationId xmlns:a16="http://schemas.microsoft.com/office/drawing/2014/main" id="{53F4433B-E4F2-4655-84B0-0A7E6C24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  :</a:t>
            </a:r>
            <a:r>
              <a:rPr sz="1500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disabled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  <a:r>
              <a:rPr sz="1500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saving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|| !</a:t>
            </a:r>
            <a:r>
              <a:rPr sz="1500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canSubmit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</a:p>
        </p:txBody>
      </p:sp>
      <p:sp>
        <p:nvSpPr>
          <p:cNvPr id="16" name="text-2084">
            <a:extLst xmlns:a="http://schemas.openxmlformats.org/drawingml/2006/main">
              <a:ext uri="{FF2B5EF4-FFF2-40B4-BE49-F238E27FC236}">
                <a16:creationId xmlns:a16="http://schemas.microsoft.com/office/drawing/2014/main" id="{EF809F54-E673-426A-BE14-A8227337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  @</a:t>
            </a:r>
            <a:r>
              <a:rPr sz="1500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click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  <a:r>
              <a:rPr sz="1500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submit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  <a:r>
              <a:rPr sz="1500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&gt;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送出申請</a:t>
            </a:r>
            <a:r>
              <a:rPr sz="1500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&lt;/ElButton&gt;</a:t>
            </a:r>
          </a:p>
        </p:txBody>
      </p:sp>
      <p:sp>
        <p:nvSpPr>
          <p:cNvPr id="17" name="text-2085">
            <a:extLst xmlns:a="http://schemas.openxmlformats.org/drawingml/2006/main">
              <a:ext uri="{FF2B5EF4-FFF2-40B4-BE49-F238E27FC236}">
                <a16:creationId xmlns:a16="http://schemas.microsoft.com/office/drawing/2014/main" id="{5B5F52F5-48AD-4098-8AAF-7841D29A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&lt;/template&gt;</a:t>
            </a:r>
          </a:p>
        </p:txBody>
      </p:sp>
      <p:sp>
        <p:nvSpPr>
          <p:cNvPr id="18" name="text-2086">
            <a:extLst xmlns:a="http://schemas.openxmlformats.org/drawingml/2006/main">
              <a:ext uri="{FF2B5EF4-FFF2-40B4-BE49-F238E27FC236}">
                <a16:creationId xmlns:a16="http://schemas.microsoft.com/office/drawing/2014/main" id="{C7B8A199-04DF-46EF-A985-9CE7BB6B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&lt;style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00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scoped</a:t>
            </a:r>
            <a:r>
              <a:rPr sz="1500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&gt;</a:t>
            </a:r>
          </a:p>
        </p:txBody>
      </p:sp>
      <p:sp>
        <p:nvSpPr>
          <p:cNvPr id="19" name="text-2087">
            <a:extLst xmlns:a="http://schemas.openxmlformats.org/drawingml/2006/main">
              <a:ext uri="{FF2B5EF4-FFF2-40B4-BE49-F238E27FC236}">
                <a16:creationId xmlns:a16="http://schemas.microsoft.com/office/drawing/2014/main" id="{09233945-B6C6-44AA-A859-54154366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.submit-button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</p:txBody>
      </p:sp>
      <p:sp>
        <p:nvSpPr>
          <p:cNvPr id="20" name="text-2088">
            <a:extLst xmlns:a="http://schemas.openxmlformats.org/drawingml/2006/main">
              <a:ext uri="{FF2B5EF4-FFF2-40B4-BE49-F238E27FC236}">
                <a16:creationId xmlns:a16="http://schemas.microsoft.com/office/drawing/2014/main" id="{BE181E99-87F9-47EE-B551-25427A6E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00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min-height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00">
                <a:solidFill>
                  <a:srgbClr val="098658"/>
                </a:solidFill>
                <a:latin typeface="DejaVu Sans Mono"/>
                <a:ea typeface="DejaVu Sans Mono"/>
                <a:cs typeface="DejaVu Sans Mono"/>
              </a:rPr>
              <a:t>36px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; </a:t>
            </a:r>
            <a:r>
              <a:rPr sz="1500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padding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00">
                <a:solidFill>
                  <a:srgbClr val="098658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00">
                <a:solidFill>
                  <a:srgbClr val="098658"/>
                </a:solidFill>
                <a:latin typeface="DejaVu Sans Mono"/>
                <a:ea typeface="DejaVu Sans Mono"/>
                <a:cs typeface="DejaVu Sans Mono"/>
              </a:rPr>
              <a:t>16px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</p:txBody>
      </p:sp>
      <p:sp>
        <p:nvSpPr>
          <p:cNvPr id="21" name="text-2089">
            <a:extLst xmlns:a="http://schemas.openxmlformats.org/drawingml/2006/main">
              <a:ext uri="{FF2B5EF4-FFF2-40B4-BE49-F238E27FC236}">
                <a16:creationId xmlns:a16="http://schemas.microsoft.com/office/drawing/2014/main" id="{51B48E21-CF1C-4B46-A6CA-8D269470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22" name="text-2090">
            <a:extLst xmlns:a="http://schemas.openxmlformats.org/drawingml/2006/main">
              <a:ext uri="{FF2B5EF4-FFF2-40B4-BE49-F238E27FC236}">
                <a16:creationId xmlns:a16="http://schemas.microsoft.com/office/drawing/2014/main" id="{968A55E9-854F-44AD-A44E-D4677B8F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&lt;/style&gt;</a:t>
            </a:r>
          </a:p>
        </p:txBody>
      </p:sp>
      <p:sp>
        <p:nvSpPr>
          <p:cNvPr id="23" name="text-2091">
            <a:extLst xmlns:a="http://schemas.openxmlformats.org/drawingml/2006/main">
              <a:ext uri="{FF2B5EF4-FFF2-40B4-BE49-F238E27FC236}">
                <a16:creationId xmlns:a16="http://schemas.microsoft.com/office/drawing/2014/main" id="{D3F305FE-1760-4D2D-9E6B-3157EBE1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62150"/>
            <a:ext cx="3752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試點專案的檔案位置</a:t>
            </a:r>
          </a:p>
        </p:txBody>
      </p:sp>
      <p:sp>
        <p:nvSpPr>
          <p:cNvPr id="24" name="shape-2092">
            <a:extLst xmlns:a="http://schemas.openxmlformats.org/drawingml/2006/main">
              <a:ext uri="{FF2B5EF4-FFF2-40B4-BE49-F238E27FC236}">
                <a16:creationId xmlns:a16="http://schemas.microsoft.com/office/drawing/2014/main" id="{9019FC11-A810-4E86-B006-4DB5D6AF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37528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ED6DC"/>
            </a:solidFill>
            <a:prstDash val="solid"/>
          </a:ln>
        </p:spPr>
      </p:sp>
      <p:sp>
        <p:nvSpPr>
          <p:cNvPr id="25" name="text-2093">
            <a:extLst xmlns:a="http://schemas.openxmlformats.org/drawingml/2006/main">
              <a:ext uri="{FF2B5EF4-FFF2-40B4-BE49-F238E27FC236}">
                <a16:creationId xmlns:a16="http://schemas.microsoft.com/office/drawing/2014/main" id="{EEAFAB54-DEAE-4F3C-A5FD-A8BF3E13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9555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project/</a:t>
            </a:r>
          </a:p>
        </p:txBody>
      </p:sp>
      <p:sp>
        <p:nvSpPr>
          <p:cNvPr id="26" name="text-2094">
            <a:extLst xmlns:a="http://schemas.openxmlformats.org/drawingml/2006/main">
              <a:ext uri="{FF2B5EF4-FFF2-40B4-BE49-F238E27FC236}">
                <a16:creationId xmlns:a16="http://schemas.microsoft.com/office/drawing/2014/main" id="{0A036D51-5CDC-413E-B81E-A1998705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14625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|-- pages/</a:t>
            </a:r>
          </a:p>
        </p:txBody>
      </p:sp>
      <p:sp>
        <p:nvSpPr>
          <p:cNvPr id="27" name="text-2095">
            <a:extLst xmlns:a="http://schemas.openxmlformats.org/drawingml/2006/main">
              <a:ext uri="{FF2B5EF4-FFF2-40B4-BE49-F238E27FC236}">
                <a16:creationId xmlns:a16="http://schemas.microsoft.com/office/drawing/2014/main" id="{1EFD5718-F971-48DC-A932-CA4EE963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3370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`-- Apply.vue</a:t>
            </a:r>
          </a:p>
        </p:txBody>
      </p:sp>
      <p:sp>
        <p:nvSpPr>
          <p:cNvPr id="28" name="text-2096">
            <a:extLst xmlns:a="http://schemas.openxmlformats.org/drawingml/2006/main">
              <a:ext uri="{FF2B5EF4-FFF2-40B4-BE49-F238E27FC236}">
                <a16:creationId xmlns:a16="http://schemas.microsoft.com/office/drawing/2014/main" id="{ABE8EEC3-5C16-4B86-9CD8-9BB2A96B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52775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|-- styles/</a:t>
            </a:r>
          </a:p>
        </p:txBody>
      </p:sp>
      <p:sp>
        <p:nvSpPr>
          <p:cNvPr id="29" name="text-2097">
            <a:extLst xmlns:a="http://schemas.openxmlformats.org/drawingml/2006/main">
              <a:ext uri="{FF2B5EF4-FFF2-40B4-BE49-F238E27FC236}">
                <a16:creationId xmlns:a16="http://schemas.microsoft.com/office/drawing/2014/main" id="{0E8ECF73-FEE0-4C2E-BB97-2BF5D53E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|-- tokens.css</a:t>
            </a:r>
          </a:p>
        </p:txBody>
      </p:sp>
      <p:sp>
        <p:nvSpPr>
          <p:cNvPr id="30" name="text-2098">
            <a:extLst xmlns:a="http://schemas.openxmlformats.org/drawingml/2006/main">
              <a:ext uri="{FF2B5EF4-FFF2-40B4-BE49-F238E27FC236}">
                <a16:creationId xmlns:a16="http://schemas.microsoft.com/office/drawing/2014/main" id="{5CB14CAC-3B09-4A45-927F-1A952CB3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90925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`-- element-plus.css</a:t>
            </a:r>
          </a:p>
        </p:txBody>
      </p:sp>
      <p:sp>
        <p:nvSpPr>
          <p:cNvPr id="31" name="text-2099">
            <a:extLst xmlns:a="http://schemas.openxmlformats.org/drawingml/2006/main">
              <a:ext uri="{FF2B5EF4-FFF2-40B4-BE49-F238E27FC236}">
                <a16:creationId xmlns:a16="http://schemas.microsoft.com/office/drawing/2014/main" id="{AF4FBB9B-74D4-4EFB-978D-1FDFA90A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1000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`-- nuxt.config.ts</a:t>
            </a:r>
          </a:p>
        </p:txBody>
      </p:sp>
      <p:sp>
        <p:nvSpPr>
          <p:cNvPr id="32" name="text-2100">
            <a:extLst xmlns:a="http://schemas.openxmlformats.org/drawingml/2006/main">
              <a:ext uri="{FF2B5EF4-FFF2-40B4-BE49-F238E27FC236}">
                <a16:creationId xmlns:a16="http://schemas.microsoft.com/office/drawing/2014/main" id="{5314A30F-42A1-4660-9763-A1CB890A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76725"/>
            <a:ext cx="3752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頁面內重複指定類型、尺寸與載入時停用規則。</a:t>
            </a:r>
          </a:p>
        </p:txBody>
      </p:sp>
      <p:sp>
        <p:nvSpPr>
          <p:cNvPr id="33" name="shape-2101">
            <a:extLst xmlns:a="http://schemas.openxmlformats.org/drawingml/2006/main">
              <a:ext uri="{FF2B5EF4-FFF2-40B4-BE49-F238E27FC236}">
                <a16:creationId xmlns:a16="http://schemas.microsoft.com/office/drawing/2014/main" id="{13E88F42-2986-4A3F-BB9F-D3863459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hape-2102">
            <a:extLst xmlns:a="http://schemas.openxmlformats.org/drawingml/2006/main">
              <a:ext uri="{FF2B5EF4-FFF2-40B4-BE49-F238E27FC236}">
                <a16:creationId xmlns:a16="http://schemas.microsoft.com/office/drawing/2014/main" id="{BF2489F2-1644-4A3A-8633-BAFD1E04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2103">
            <a:extLst xmlns:a="http://schemas.openxmlformats.org/drawingml/2006/main">
              <a:ext uri="{FF2B5EF4-FFF2-40B4-BE49-F238E27FC236}">
                <a16:creationId xmlns:a16="http://schemas.microsoft.com/office/drawing/2014/main" id="{DE673BDE-6C92-4CCE-8E16-7EECE447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直接使用也能套用公司主題；是否再封裝，取決於有沒有重複的規格與行為</a:t>
            </a:r>
          </a:p>
        </p:txBody>
      </p:sp>
    </p:spTree>
    <p:extLst>
      <p:ext uri="{BB962C8B-B14F-4D97-AF65-F5344CB8AC3E}">
        <p14:creationId xmlns:p14="http://schemas.microsoft.com/office/powerpoint/2010/main" val="20707603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hape-2104">
            <a:extLst xmlns:a="http://schemas.openxmlformats.org/drawingml/2006/main">
              <a:ext uri="{FF2B5EF4-FFF2-40B4-BE49-F238E27FC236}">
                <a16:creationId xmlns:a16="http://schemas.microsoft.com/office/drawing/2014/main" id="{6B6FCC50-3CA5-422F-BDBD-9B1C3B54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105">
            <a:extLst xmlns:a="http://schemas.openxmlformats.org/drawingml/2006/main">
              <a:ext uri="{FF2B5EF4-FFF2-40B4-BE49-F238E27FC236}">
                <a16:creationId xmlns:a16="http://schemas.microsoft.com/office/drawing/2014/main" id="{C1BBE254-F3D9-41FD-9C0A-CDBC6AB7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AppButton 的封裝實作</a:t>
            </a:r>
          </a:p>
        </p:txBody>
      </p:sp>
      <p:sp>
        <p:nvSpPr>
          <p:cNvPr id="3" name="text-2106">
            <a:extLst xmlns:a="http://schemas.openxmlformats.org/drawingml/2006/main">
              <a:ext uri="{FF2B5EF4-FFF2-40B4-BE49-F238E27FC236}">
                <a16:creationId xmlns:a16="http://schemas.microsoft.com/office/drawing/2014/main" id="{5B9CDC47-F5A6-4E7F-9291-5EBDFDFF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components/AppButton.vue，先提供一個範圍明確的共用組件</a:t>
            </a:r>
          </a:p>
        </p:txBody>
      </p:sp>
      <p:sp>
        <p:nvSpPr>
          <p:cNvPr id="4" name="shape-2107">
            <a:extLst xmlns:a="http://schemas.openxmlformats.org/drawingml/2006/main">
              <a:ext uri="{FF2B5EF4-FFF2-40B4-BE49-F238E27FC236}">
                <a16:creationId xmlns:a16="http://schemas.microsoft.com/office/drawing/2014/main" id="{3EEBC48B-7E7E-4A9B-827F-8519617F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108">
            <a:extLst xmlns:a="http://schemas.openxmlformats.org/drawingml/2006/main">
              <a:ext uri="{FF2B5EF4-FFF2-40B4-BE49-F238E27FC236}">
                <a16:creationId xmlns:a16="http://schemas.microsoft.com/office/drawing/2014/main" id="{D23AA218-7377-46DB-8A08-AA811958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UI 組件封裝與導入規劃</a:t>
            </a:r>
          </a:p>
        </p:txBody>
      </p:sp>
      <p:sp>
        <p:nvSpPr>
          <p:cNvPr id="6" name="text-2109">
            <a:extLst xmlns:a="http://schemas.openxmlformats.org/drawingml/2006/main">
              <a:ext uri="{FF2B5EF4-FFF2-40B4-BE49-F238E27FC236}">
                <a16:creationId xmlns:a16="http://schemas.microsoft.com/office/drawing/2014/main" id="{FF055638-C707-46C2-AFFF-8F279E53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19</a:t>
            </a:r>
          </a:p>
        </p:txBody>
      </p:sp>
      <p:sp>
        <p:nvSpPr>
          <p:cNvPr id="7" name="text-2110">
            <a:extLst xmlns:a="http://schemas.openxmlformats.org/drawingml/2006/main">
              <a:ext uri="{FF2B5EF4-FFF2-40B4-BE49-F238E27FC236}">
                <a16:creationId xmlns:a16="http://schemas.microsoft.com/office/drawing/2014/main" id="{45B6E0A0-A050-4D5B-9D2E-EA7A49DA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宣告常用屬性</a:t>
            </a:r>
          </a:p>
        </p:txBody>
      </p:sp>
      <p:sp>
        <p:nvSpPr>
          <p:cNvPr id="8" name="shape-2111">
            <a:extLst xmlns:a="http://schemas.openxmlformats.org/drawingml/2006/main">
              <a:ext uri="{FF2B5EF4-FFF2-40B4-BE49-F238E27FC236}">
                <a16:creationId xmlns:a16="http://schemas.microsoft.com/office/drawing/2014/main" id="{AD699966-1C15-460B-AFE2-C5FA6CC4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2578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ED6DC"/>
            </a:solidFill>
            <a:prstDash val="solid"/>
          </a:ln>
        </p:spPr>
      </p:sp>
      <p:sp>
        <p:nvSpPr>
          <p:cNvPr id="9" name="text-2112">
            <a:extLst xmlns:a="http://schemas.openxmlformats.org/drawingml/2006/main">
              <a:ext uri="{FF2B5EF4-FFF2-40B4-BE49-F238E27FC236}">
                <a16:creationId xmlns:a16="http://schemas.microsoft.com/office/drawing/2014/main" id="{07723676-CABF-4AA5-B9F6-549EC5F4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&lt;script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setup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lang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75">
                <a:solidFill>
                  <a:srgbClr val="0000FF"/>
                </a:solidFill>
                <a:latin typeface="DejaVu Sans Mono"/>
                <a:ea typeface="DejaVu Sans Mono"/>
                <a:cs typeface="DejaVu Sans Mono"/>
              </a:rPr>
              <a:t>"ts"</a:t>
            </a:r>
            <a:r>
              <a:rPr sz="1575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&gt;</a:t>
            </a:r>
          </a:p>
        </p:txBody>
      </p:sp>
      <p:sp>
        <p:nvSpPr>
          <p:cNvPr id="10" name="text-2113">
            <a:extLst xmlns:a="http://schemas.openxmlformats.org/drawingml/2006/main">
              <a:ext uri="{FF2B5EF4-FFF2-40B4-BE49-F238E27FC236}">
                <a16:creationId xmlns:a16="http://schemas.microsoft.com/office/drawing/2014/main" id="{0FCC924A-9EF6-4138-BFF9-3941C5F9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AF00DB"/>
                </a:solidFill>
                <a:latin typeface="DejaVu Sans Mono"/>
                <a:ea typeface="DejaVu Sans Mono"/>
                <a:cs typeface="DejaVu Sans Mono"/>
              </a:rPr>
              <a:t>import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{ </a:t>
            </a:r>
            <a:r>
              <a:rPr sz="1575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ElButton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} </a:t>
            </a:r>
            <a:r>
              <a:rPr sz="1575">
                <a:solidFill>
                  <a:srgbClr val="AF00DB"/>
                </a:solidFill>
                <a:latin typeface="DejaVu Sans Mono"/>
                <a:ea typeface="DejaVu Sans Mono"/>
                <a:cs typeface="DejaVu Sans Mono"/>
              </a:rPr>
              <a:t>from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A31515"/>
                </a:solidFill>
                <a:latin typeface="DejaVu Sans Mono"/>
                <a:ea typeface="DejaVu Sans Mono"/>
                <a:cs typeface="DejaVu Sans Mono"/>
              </a:rPr>
              <a:t>'element-plus'</a:t>
            </a:r>
          </a:p>
        </p:txBody>
      </p:sp>
      <p:sp>
        <p:nvSpPr>
          <p:cNvPr id="11" name="text-2114">
            <a:extLst xmlns:a="http://schemas.openxmlformats.org/drawingml/2006/main">
              <a:ext uri="{FF2B5EF4-FFF2-40B4-BE49-F238E27FC236}">
                <a16:creationId xmlns:a16="http://schemas.microsoft.com/office/drawing/2014/main" id="{D6CC7C8B-3B87-4E48-9392-70EAD2AF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795E26"/>
                </a:solidFill>
                <a:latin typeface="DejaVu Sans Mono"/>
                <a:ea typeface="DejaVu Sans Mono"/>
                <a:cs typeface="DejaVu Sans Mono"/>
              </a:rPr>
              <a:t>defineOptions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({ </a:t>
            </a:r>
            <a:r>
              <a:rPr sz="1575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inheritAttrs: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0000FF"/>
                </a:solidFill>
                <a:latin typeface="DejaVu Sans Mono"/>
                <a:ea typeface="DejaVu Sans Mono"/>
                <a:cs typeface="DejaVu Sans Mono"/>
              </a:rPr>
              <a:t>false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})</a:t>
            </a:r>
          </a:p>
        </p:txBody>
      </p:sp>
      <p:sp>
        <p:nvSpPr>
          <p:cNvPr id="12" name="text-2115">
            <a:extLst xmlns:a="http://schemas.openxmlformats.org/drawingml/2006/main">
              <a:ext uri="{FF2B5EF4-FFF2-40B4-BE49-F238E27FC236}">
                <a16:creationId xmlns:a16="http://schemas.microsoft.com/office/drawing/2014/main" id="{8CEABC41-7757-45C6-B394-BF240C87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795E26"/>
                </a:solidFill>
                <a:latin typeface="DejaVu Sans Mono"/>
                <a:ea typeface="DejaVu Sans Mono"/>
                <a:cs typeface="DejaVu Sans Mono"/>
              </a:rPr>
              <a:t>withDefaults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795E26"/>
                </a:solidFill>
                <a:latin typeface="DejaVu Sans Mono"/>
                <a:ea typeface="DejaVu Sans Mono"/>
                <a:cs typeface="DejaVu Sans Mono"/>
              </a:rPr>
              <a:t>defineProps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&lt;{</a:t>
            </a:r>
          </a:p>
        </p:txBody>
      </p:sp>
      <p:sp>
        <p:nvSpPr>
          <p:cNvPr id="13" name="text-2116">
            <a:extLst xmlns:a="http://schemas.openxmlformats.org/drawingml/2006/main">
              <a:ext uri="{FF2B5EF4-FFF2-40B4-BE49-F238E27FC236}">
                <a16:creationId xmlns:a16="http://schemas.microsoft.com/office/drawing/2014/main" id="{0DC55F52-3073-4C57-A52F-6292FB3A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75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loading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?: </a:t>
            </a:r>
            <a:r>
              <a:rPr sz="1575">
                <a:solidFill>
                  <a:srgbClr val="267F99"/>
                </a:solidFill>
                <a:latin typeface="DejaVu Sans Mono"/>
                <a:ea typeface="DejaVu Sans Mono"/>
                <a:cs typeface="DejaVu Sans Mono"/>
              </a:rPr>
              <a:t>boolean</a:t>
            </a:r>
          </a:p>
        </p:txBody>
      </p:sp>
      <p:sp>
        <p:nvSpPr>
          <p:cNvPr id="14" name="text-2117">
            <a:extLst xmlns:a="http://schemas.openxmlformats.org/drawingml/2006/main">
              <a:ext uri="{FF2B5EF4-FFF2-40B4-BE49-F238E27FC236}">
                <a16:creationId xmlns:a16="http://schemas.microsoft.com/office/drawing/2014/main" id="{D8D4B5FB-8174-4AF1-B8A0-81105914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75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disabled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?: </a:t>
            </a:r>
            <a:r>
              <a:rPr sz="1575">
                <a:solidFill>
                  <a:srgbClr val="267F99"/>
                </a:solidFill>
                <a:latin typeface="DejaVu Sans Mono"/>
                <a:ea typeface="DejaVu Sans Mono"/>
                <a:cs typeface="DejaVu Sans Mono"/>
              </a:rPr>
              <a:t>boolean</a:t>
            </a:r>
          </a:p>
        </p:txBody>
      </p:sp>
      <p:sp>
        <p:nvSpPr>
          <p:cNvPr id="15" name="text-2118">
            <a:extLst xmlns:a="http://schemas.openxmlformats.org/drawingml/2006/main">
              <a:ext uri="{FF2B5EF4-FFF2-40B4-BE49-F238E27FC236}">
                <a16:creationId xmlns:a16="http://schemas.microsoft.com/office/drawing/2014/main" id="{A13CE387-E20A-4B9D-ABA3-59702326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}&gt;(), {</a:t>
            </a:r>
          </a:p>
        </p:txBody>
      </p:sp>
      <p:sp>
        <p:nvSpPr>
          <p:cNvPr id="16" name="text-2119">
            <a:extLst xmlns:a="http://schemas.openxmlformats.org/drawingml/2006/main">
              <a:ext uri="{FF2B5EF4-FFF2-40B4-BE49-F238E27FC236}">
                <a16:creationId xmlns:a16="http://schemas.microsoft.com/office/drawing/2014/main" id="{13E89F21-6BB1-4F91-8F73-B74B12DA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75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loading: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0000FF"/>
                </a:solidFill>
                <a:latin typeface="DejaVu Sans Mono"/>
                <a:ea typeface="DejaVu Sans Mono"/>
                <a:cs typeface="DejaVu Sans Mono"/>
              </a:rPr>
              <a:t>false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</p:txBody>
      </p:sp>
      <p:sp>
        <p:nvSpPr>
          <p:cNvPr id="17" name="text-2120">
            <a:extLst xmlns:a="http://schemas.openxmlformats.org/drawingml/2006/main">
              <a:ext uri="{FF2B5EF4-FFF2-40B4-BE49-F238E27FC236}">
                <a16:creationId xmlns:a16="http://schemas.microsoft.com/office/drawing/2014/main" id="{2EFDF73C-17EB-414D-BE82-0356C635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75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disabled: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0000FF"/>
                </a:solidFill>
                <a:latin typeface="DejaVu Sans Mono"/>
                <a:ea typeface="DejaVu Sans Mono"/>
                <a:cs typeface="DejaVu Sans Mono"/>
              </a:rPr>
              <a:t>false</a:t>
            </a:r>
          </a:p>
        </p:txBody>
      </p:sp>
      <p:sp>
        <p:nvSpPr>
          <p:cNvPr id="18" name="text-2121">
            <a:extLst xmlns:a="http://schemas.openxmlformats.org/drawingml/2006/main">
              <a:ext uri="{FF2B5EF4-FFF2-40B4-BE49-F238E27FC236}">
                <a16:creationId xmlns:a16="http://schemas.microsoft.com/office/drawing/2014/main" id="{2C3705DC-867C-4FBA-8CDE-B3CF56E0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})</a:t>
            </a:r>
          </a:p>
        </p:txBody>
      </p:sp>
      <p:sp>
        <p:nvSpPr>
          <p:cNvPr id="19" name="text-2122">
            <a:extLst xmlns:a="http://schemas.openxmlformats.org/drawingml/2006/main">
              <a:ext uri="{FF2B5EF4-FFF2-40B4-BE49-F238E27FC236}">
                <a16:creationId xmlns:a16="http://schemas.microsoft.com/office/drawing/2014/main" id="{FA6B8D75-9A09-4E6C-93A7-08E5F038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&lt;/script&gt;</a:t>
            </a:r>
          </a:p>
        </p:txBody>
      </p:sp>
      <p:sp>
        <p:nvSpPr>
          <p:cNvPr id="20" name="text-2123">
            <a:extLst xmlns:a="http://schemas.openxmlformats.org/drawingml/2006/main">
              <a:ext uri="{FF2B5EF4-FFF2-40B4-BE49-F238E27FC236}">
                <a16:creationId xmlns:a16="http://schemas.microsoft.com/office/drawing/2014/main" id="{FB1A3C82-4B89-48A2-8D97-673B3894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62150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內部仍使用 Element Plus</a:t>
            </a:r>
          </a:p>
        </p:txBody>
      </p:sp>
      <p:sp>
        <p:nvSpPr>
          <p:cNvPr id="21" name="shape-2124">
            <a:extLst xmlns:a="http://schemas.openxmlformats.org/drawingml/2006/main">
              <a:ext uri="{FF2B5EF4-FFF2-40B4-BE49-F238E27FC236}">
                <a16:creationId xmlns:a16="http://schemas.microsoft.com/office/drawing/2014/main" id="{5E9CEFE8-F70D-42B0-8522-75D313EA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52578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ED6DC"/>
            </a:solidFill>
            <a:prstDash val="solid"/>
          </a:ln>
        </p:spPr>
      </p:sp>
      <p:sp>
        <p:nvSpPr>
          <p:cNvPr id="22" name="text-2125">
            <a:extLst xmlns:a="http://schemas.openxmlformats.org/drawingml/2006/main">
              <a:ext uri="{FF2B5EF4-FFF2-40B4-BE49-F238E27FC236}">
                <a16:creationId xmlns:a16="http://schemas.microsoft.com/office/drawing/2014/main" id="{D330989E-581A-4110-8DC4-2F248B03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&lt;template&gt;</a:t>
            </a:r>
          </a:p>
        </p:txBody>
      </p:sp>
      <p:sp>
        <p:nvSpPr>
          <p:cNvPr id="23" name="text-2126">
            <a:extLst xmlns:a="http://schemas.openxmlformats.org/drawingml/2006/main">
              <a:ext uri="{FF2B5EF4-FFF2-40B4-BE49-F238E27FC236}">
                <a16:creationId xmlns:a16="http://schemas.microsoft.com/office/drawing/2014/main" id="{842C76C1-88BE-48ED-A31E-04E7A6C7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75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&lt;ElButton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v-bind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  <a:r>
              <a:rPr sz="1575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$attrs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</a:p>
        </p:txBody>
      </p:sp>
      <p:sp>
        <p:nvSpPr>
          <p:cNvPr id="24" name="text-2127">
            <a:extLst xmlns:a="http://schemas.openxmlformats.org/drawingml/2006/main">
              <a:ext uri="{FF2B5EF4-FFF2-40B4-BE49-F238E27FC236}">
                <a16:creationId xmlns:a16="http://schemas.microsoft.com/office/drawing/2014/main" id="{C07705AF-D8FF-4848-91F7-B74E9DC6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class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75">
                <a:solidFill>
                  <a:srgbClr val="0000FF"/>
                </a:solidFill>
                <a:latin typeface="DejaVu Sans Mono"/>
                <a:ea typeface="DejaVu Sans Mono"/>
                <a:cs typeface="DejaVu Sans Mono"/>
              </a:rPr>
              <a:t>"app-button"</a:t>
            </a:r>
          </a:p>
        </p:txBody>
      </p:sp>
      <p:sp>
        <p:nvSpPr>
          <p:cNvPr id="25" name="text-2128">
            <a:extLst xmlns:a="http://schemas.openxmlformats.org/drawingml/2006/main">
              <a:ext uri="{FF2B5EF4-FFF2-40B4-BE49-F238E27FC236}">
                <a16:creationId xmlns:a16="http://schemas.microsoft.com/office/drawing/2014/main" id="{E1296ECF-C733-415C-9596-21275E6E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type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75">
                <a:solidFill>
                  <a:srgbClr val="0000FF"/>
                </a:solidFill>
                <a:latin typeface="DejaVu Sans Mono"/>
                <a:ea typeface="DejaVu Sans Mono"/>
                <a:cs typeface="DejaVu Sans Mono"/>
              </a:rPr>
              <a:t>"primary"</a:t>
            </a:r>
          </a:p>
        </p:txBody>
      </p:sp>
      <p:sp>
        <p:nvSpPr>
          <p:cNvPr id="26" name="text-2129">
            <a:extLst xmlns:a="http://schemas.openxmlformats.org/drawingml/2006/main">
              <a:ext uri="{FF2B5EF4-FFF2-40B4-BE49-F238E27FC236}">
                <a16:creationId xmlns:a16="http://schemas.microsoft.com/office/drawing/2014/main" id="{15D3EC9E-DFD1-405C-8EFF-AABFE4F7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native-type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75">
                <a:solidFill>
                  <a:srgbClr val="0000FF"/>
                </a:solidFill>
                <a:latin typeface="DejaVu Sans Mono"/>
                <a:ea typeface="DejaVu Sans Mono"/>
                <a:cs typeface="DejaVu Sans Mono"/>
              </a:rPr>
              <a:t>"button"</a:t>
            </a:r>
          </a:p>
        </p:txBody>
      </p:sp>
      <p:sp>
        <p:nvSpPr>
          <p:cNvPr id="27" name="text-2130">
            <a:extLst xmlns:a="http://schemas.openxmlformats.org/drawingml/2006/main">
              <a:ext uri="{FF2B5EF4-FFF2-40B4-BE49-F238E27FC236}">
                <a16:creationId xmlns:a16="http://schemas.microsoft.com/office/drawing/2014/main" id="{33D04983-655C-484F-984B-E93E8212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  :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loading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  <a:r>
              <a:rPr sz="1575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loading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</a:p>
        </p:txBody>
      </p:sp>
      <p:sp>
        <p:nvSpPr>
          <p:cNvPr id="28" name="text-2131">
            <a:extLst xmlns:a="http://schemas.openxmlformats.org/drawingml/2006/main">
              <a:ext uri="{FF2B5EF4-FFF2-40B4-BE49-F238E27FC236}">
                <a16:creationId xmlns:a16="http://schemas.microsoft.com/office/drawing/2014/main" id="{7BC1F5C9-9F90-4C31-9249-A36F5D1D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  :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disabled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  <a:r>
              <a:rPr sz="1575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disabled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|| </a:t>
            </a:r>
            <a:r>
              <a:rPr sz="1575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loading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  <a:r>
              <a:rPr sz="1575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&gt;</a:t>
            </a:r>
          </a:p>
        </p:txBody>
      </p:sp>
      <p:sp>
        <p:nvSpPr>
          <p:cNvPr id="29" name="text-2132">
            <a:extLst xmlns:a="http://schemas.openxmlformats.org/drawingml/2006/main">
              <a:ext uri="{FF2B5EF4-FFF2-40B4-BE49-F238E27FC236}">
                <a16:creationId xmlns:a16="http://schemas.microsoft.com/office/drawing/2014/main" id="{ABB5007F-033D-4484-85BD-E7D351B0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624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&lt;slot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CD3131"/>
                </a:solidFill>
                <a:latin typeface="DejaVu Sans Mono"/>
                <a:ea typeface="DejaVu Sans Mono"/>
                <a:cs typeface="DejaVu Sans Mono"/>
              </a:rPr>
              <a:t>/</a:t>
            </a:r>
            <a:r>
              <a:rPr sz="1575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&gt;</a:t>
            </a:r>
          </a:p>
        </p:txBody>
      </p:sp>
      <p:sp>
        <p:nvSpPr>
          <p:cNvPr id="30" name="text-2133">
            <a:extLst xmlns:a="http://schemas.openxmlformats.org/drawingml/2006/main">
              <a:ext uri="{FF2B5EF4-FFF2-40B4-BE49-F238E27FC236}">
                <a16:creationId xmlns:a16="http://schemas.microsoft.com/office/drawing/2014/main" id="{7AA607BE-36E2-493D-81BC-29DBD55D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75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&lt;/ElButton&gt;</a:t>
            </a:r>
          </a:p>
        </p:txBody>
      </p:sp>
      <p:sp>
        <p:nvSpPr>
          <p:cNvPr id="31" name="text-2134">
            <a:extLst xmlns:a="http://schemas.openxmlformats.org/drawingml/2006/main">
              <a:ext uri="{FF2B5EF4-FFF2-40B4-BE49-F238E27FC236}">
                <a16:creationId xmlns:a16="http://schemas.microsoft.com/office/drawing/2014/main" id="{67F01B68-2F3B-4E45-853E-321C97BC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958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&lt;/template&gt;</a:t>
            </a:r>
          </a:p>
        </p:txBody>
      </p:sp>
      <p:sp>
        <p:nvSpPr>
          <p:cNvPr id="32" name="shape-2135">
            <a:extLst xmlns:a="http://schemas.openxmlformats.org/drawingml/2006/main">
              <a:ext uri="{FF2B5EF4-FFF2-40B4-BE49-F238E27FC236}">
                <a16:creationId xmlns:a16="http://schemas.microsoft.com/office/drawing/2014/main" id="{296BB9BC-099B-4411-A90E-79178102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hape-2136">
            <a:extLst xmlns:a="http://schemas.openxmlformats.org/drawingml/2006/main">
              <a:ext uri="{FF2B5EF4-FFF2-40B4-BE49-F238E27FC236}">
                <a16:creationId xmlns:a16="http://schemas.microsoft.com/office/drawing/2014/main" id="{D0B76DBC-F116-4156-A0A0-25DC9092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2137">
            <a:extLst xmlns:a="http://schemas.openxmlformats.org/drawingml/2006/main">
              <a:ext uri="{FF2B5EF4-FFF2-40B4-BE49-F238E27FC236}">
                <a16:creationId xmlns:a16="http://schemas.microsoft.com/office/drawing/2014/main" id="{42F242D7-3FBC-43D1-966D-F2E252CF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統一主要按鈕的預設與載入行為，送出 API 與業務資格仍由頁面負責</a:t>
            </a:r>
          </a:p>
        </p:txBody>
      </p:sp>
    </p:spTree>
    <p:extLst>
      <p:ext uri="{BB962C8B-B14F-4D97-AF65-F5344CB8AC3E}">
        <p14:creationId xmlns:p14="http://schemas.microsoft.com/office/powerpoint/2010/main" val="8186564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hape-2138">
            <a:extLst xmlns:a="http://schemas.openxmlformats.org/drawingml/2006/main">
              <a:ext uri="{FF2B5EF4-FFF2-40B4-BE49-F238E27FC236}">
                <a16:creationId xmlns:a16="http://schemas.microsoft.com/office/drawing/2014/main" id="{B3134161-F44E-461C-915F-B655246F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139">
            <a:extLst xmlns:a="http://schemas.openxmlformats.org/drawingml/2006/main">
              <a:ext uri="{FF2B5EF4-FFF2-40B4-BE49-F238E27FC236}">
                <a16:creationId xmlns:a16="http://schemas.microsoft.com/office/drawing/2014/main" id="{29EA1E9C-D640-4662-BBA3-CEEC032E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頁面改用 AppButton</a:t>
            </a:r>
          </a:p>
        </p:txBody>
      </p:sp>
      <p:sp>
        <p:nvSpPr>
          <p:cNvPr id="3" name="text-2140">
            <a:extLst xmlns:a="http://schemas.openxmlformats.org/drawingml/2006/main">
              <a:ext uri="{FF2B5EF4-FFF2-40B4-BE49-F238E27FC236}">
                <a16:creationId xmlns:a16="http://schemas.microsoft.com/office/drawing/2014/main" id="{0DFDD534-7716-4551-9B90-C8D654ED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頁面保留業務資料與事件，共用樣式集中在獨立檔案</a:t>
            </a:r>
          </a:p>
        </p:txBody>
      </p:sp>
      <p:sp>
        <p:nvSpPr>
          <p:cNvPr id="4" name="shape-2141">
            <a:extLst xmlns:a="http://schemas.openxmlformats.org/drawingml/2006/main">
              <a:ext uri="{FF2B5EF4-FFF2-40B4-BE49-F238E27FC236}">
                <a16:creationId xmlns:a16="http://schemas.microsoft.com/office/drawing/2014/main" id="{D1246907-3EE0-4B76-BBCB-A6A55561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142">
            <a:extLst xmlns:a="http://schemas.openxmlformats.org/drawingml/2006/main">
              <a:ext uri="{FF2B5EF4-FFF2-40B4-BE49-F238E27FC236}">
                <a16:creationId xmlns:a16="http://schemas.microsoft.com/office/drawing/2014/main" id="{0C78C9D7-D2E6-4668-B998-47C314CD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UI 組件封裝與導入規劃</a:t>
            </a:r>
          </a:p>
        </p:txBody>
      </p:sp>
      <p:sp>
        <p:nvSpPr>
          <p:cNvPr id="6" name="text-2143">
            <a:extLst xmlns:a="http://schemas.openxmlformats.org/drawingml/2006/main">
              <a:ext uri="{FF2B5EF4-FFF2-40B4-BE49-F238E27FC236}">
                <a16:creationId xmlns:a16="http://schemas.microsoft.com/office/drawing/2014/main" id="{33E991E0-64BB-440E-8E9A-9F237E5A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20</a:t>
            </a:r>
          </a:p>
        </p:txBody>
      </p:sp>
      <p:sp>
        <p:nvSpPr>
          <p:cNvPr id="7" name="text-2144">
            <a:extLst xmlns:a="http://schemas.openxmlformats.org/drawingml/2006/main">
              <a:ext uri="{FF2B5EF4-FFF2-40B4-BE49-F238E27FC236}">
                <a16:creationId xmlns:a16="http://schemas.microsoft.com/office/drawing/2014/main" id="{913F0932-E359-41B5-8A76-CE4DD224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76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pages/Apply.vue（節錄）</a:t>
            </a:r>
          </a:p>
        </p:txBody>
      </p:sp>
      <p:sp>
        <p:nvSpPr>
          <p:cNvPr id="8" name="shape-2145">
            <a:extLst xmlns:a="http://schemas.openxmlformats.org/drawingml/2006/main">
              <a:ext uri="{FF2B5EF4-FFF2-40B4-BE49-F238E27FC236}">
                <a16:creationId xmlns:a16="http://schemas.microsoft.com/office/drawing/2014/main" id="{28D0036C-E6A4-48E1-A08C-186653E3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7627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ED6DC"/>
            </a:solidFill>
            <a:prstDash val="solid"/>
          </a:ln>
        </p:spPr>
      </p:sp>
      <p:sp>
        <p:nvSpPr>
          <p:cNvPr id="9" name="text-2146">
            <a:extLst xmlns:a="http://schemas.openxmlformats.org/drawingml/2006/main">
              <a:ext uri="{FF2B5EF4-FFF2-40B4-BE49-F238E27FC236}">
                <a16:creationId xmlns:a16="http://schemas.microsoft.com/office/drawing/2014/main" id="{25CE0684-A107-43D2-B097-4CE24961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&lt;script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00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setup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00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lang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00">
                <a:solidFill>
                  <a:srgbClr val="0000FF"/>
                </a:solidFill>
                <a:latin typeface="DejaVu Sans Mono"/>
                <a:ea typeface="DejaVu Sans Mono"/>
                <a:cs typeface="DejaVu Sans Mono"/>
              </a:rPr>
              <a:t>"ts"</a:t>
            </a:r>
            <a:r>
              <a:rPr sz="1500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&gt;</a:t>
            </a:r>
          </a:p>
        </p:txBody>
      </p:sp>
      <p:sp>
        <p:nvSpPr>
          <p:cNvPr id="10" name="text-2147">
            <a:extLst xmlns:a="http://schemas.openxmlformats.org/drawingml/2006/main">
              <a:ext uri="{FF2B5EF4-FFF2-40B4-BE49-F238E27FC236}">
                <a16:creationId xmlns:a16="http://schemas.microsoft.com/office/drawing/2014/main" id="{07A9A08E-7FB2-427C-A2A3-DD23A05B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AF00DB"/>
                </a:solidFill>
                <a:latin typeface="DejaVu Sans Mono"/>
                <a:ea typeface="DejaVu Sans Mono"/>
                <a:cs typeface="DejaVu Sans Mono"/>
              </a:rPr>
              <a:t>import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00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AppButton</a:t>
            </a:r>
          </a:p>
        </p:txBody>
      </p:sp>
      <p:sp>
        <p:nvSpPr>
          <p:cNvPr id="11" name="text-2148">
            <a:extLst xmlns:a="http://schemas.openxmlformats.org/drawingml/2006/main">
              <a:ext uri="{FF2B5EF4-FFF2-40B4-BE49-F238E27FC236}">
                <a16:creationId xmlns:a16="http://schemas.microsoft.com/office/drawing/2014/main" id="{B085F397-44C5-4B37-ACEC-8531C183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00">
                <a:solidFill>
                  <a:srgbClr val="AF00DB"/>
                </a:solidFill>
                <a:latin typeface="DejaVu Sans Mono"/>
                <a:ea typeface="DejaVu Sans Mono"/>
                <a:cs typeface="DejaVu Sans Mono"/>
              </a:rPr>
              <a:t>from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00">
                <a:solidFill>
                  <a:srgbClr val="A31515"/>
                </a:solidFill>
                <a:latin typeface="DejaVu Sans Mono"/>
                <a:ea typeface="DejaVu Sans Mono"/>
                <a:cs typeface="DejaVu Sans Mono"/>
              </a:rPr>
              <a:t>'../components/AppButton.vue'</a:t>
            </a:r>
          </a:p>
        </p:txBody>
      </p:sp>
      <p:sp>
        <p:nvSpPr>
          <p:cNvPr id="12" name="text-2149">
            <a:extLst xmlns:a="http://schemas.openxmlformats.org/drawingml/2006/main">
              <a:ext uri="{FF2B5EF4-FFF2-40B4-BE49-F238E27FC236}">
                <a16:creationId xmlns:a16="http://schemas.microsoft.com/office/drawing/2014/main" id="{1BACBB72-85F1-40B8-A38C-035C39E2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&lt;/script&gt;</a:t>
            </a:r>
          </a:p>
        </p:txBody>
      </p:sp>
      <p:sp>
        <p:nvSpPr>
          <p:cNvPr id="13" name="text-2150">
            <a:extLst xmlns:a="http://schemas.openxmlformats.org/drawingml/2006/main">
              <a:ext uri="{FF2B5EF4-FFF2-40B4-BE49-F238E27FC236}">
                <a16:creationId xmlns:a16="http://schemas.microsoft.com/office/drawing/2014/main" id="{D5F1B85E-073C-46BA-9CAC-2C6A6EF4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&lt;template&gt;</a:t>
            </a:r>
          </a:p>
        </p:txBody>
      </p:sp>
      <p:sp>
        <p:nvSpPr>
          <p:cNvPr id="14" name="text-2151">
            <a:extLst xmlns:a="http://schemas.openxmlformats.org/drawingml/2006/main">
              <a:ext uri="{FF2B5EF4-FFF2-40B4-BE49-F238E27FC236}">
                <a16:creationId xmlns:a16="http://schemas.microsoft.com/office/drawing/2014/main" id="{85850628-4042-4CB3-8C4A-A51DB4F4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00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&lt;AppButton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:</a:t>
            </a:r>
            <a:r>
              <a:rPr sz="1500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loading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  <a:r>
              <a:rPr sz="1500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saving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</a:p>
        </p:txBody>
      </p:sp>
      <p:sp>
        <p:nvSpPr>
          <p:cNvPr id="15" name="text-2152">
            <a:extLst xmlns:a="http://schemas.openxmlformats.org/drawingml/2006/main">
              <a:ext uri="{FF2B5EF4-FFF2-40B4-BE49-F238E27FC236}">
                <a16:creationId xmlns:a16="http://schemas.microsoft.com/office/drawing/2014/main" id="{31E3C989-5EFE-4683-A816-5B6E1DD0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  :</a:t>
            </a:r>
            <a:r>
              <a:rPr sz="1500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disabled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!</a:t>
            </a:r>
            <a:r>
              <a:rPr sz="1500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canSubmit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@</a:t>
            </a:r>
            <a:r>
              <a:rPr sz="1500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click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  <a:r>
              <a:rPr sz="1500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submit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  <a:r>
              <a:rPr sz="1500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&gt;</a:t>
            </a:r>
          </a:p>
        </p:txBody>
      </p:sp>
      <p:sp>
        <p:nvSpPr>
          <p:cNvPr id="16" name="text-2153">
            <a:extLst xmlns:a="http://schemas.openxmlformats.org/drawingml/2006/main">
              <a:ext uri="{FF2B5EF4-FFF2-40B4-BE49-F238E27FC236}">
                <a16:creationId xmlns:a16="http://schemas.microsoft.com/office/drawing/2014/main" id="{D8DF2994-BEE8-4E39-AEFF-41E8D849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  送出申請</a:t>
            </a:r>
          </a:p>
        </p:txBody>
      </p:sp>
      <p:sp>
        <p:nvSpPr>
          <p:cNvPr id="17" name="text-2154">
            <a:extLst xmlns:a="http://schemas.openxmlformats.org/drawingml/2006/main">
              <a:ext uri="{FF2B5EF4-FFF2-40B4-BE49-F238E27FC236}">
                <a16:creationId xmlns:a16="http://schemas.microsoft.com/office/drawing/2014/main" id="{D079CE02-889B-4AC6-8CB1-1B0256AA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00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&lt;/AppButton&gt;</a:t>
            </a:r>
          </a:p>
        </p:txBody>
      </p:sp>
      <p:sp>
        <p:nvSpPr>
          <p:cNvPr id="18" name="text-2155">
            <a:extLst xmlns:a="http://schemas.openxmlformats.org/drawingml/2006/main">
              <a:ext uri="{FF2B5EF4-FFF2-40B4-BE49-F238E27FC236}">
                <a16:creationId xmlns:a16="http://schemas.microsoft.com/office/drawing/2014/main" id="{E1DDDDB3-89C5-4E3E-841B-77FBECC3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645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&lt;/template&gt;</a:t>
            </a:r>
          </a:p>
        </p:txBody>
      </p:sp>
      <p:sp>
        <p:nvSpPr>
          <p:cNvPr id="19" name="text-2156">
            <a:extLst xmlns:a="http://schemas.openxmlformats.org/drawingml/2006/main">
              <a:ext uri="{FF2B5EF4-FFF2-40B4-BE49-F238E27FC236}">
                <a16:creationId xmlns:a16="http://schemas.microsoft.com/office/drawing/2014/main" id="{812E3A0B-7DDA-4C9D-B317-6C0E0526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62150"/>
            <a:ext cx="3752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共用組件與頁面的分工</a:t>
            </a:r>
          </a:p>
        </p:txBody>
      </p:sp>
      <p:sp>
        <p:nvSpPr>
          <p:cNvPr id="20" name="shape-2157">
            <a:extLst xmlns:a="http://schemas.openxmlformats.org/drawingml/2006/main">
              <a:ext uri="{FF2B5EF4-FFF2-40B4-BE49-F238E27FC236}">
                <a16:creationId xmlns:a16="http://schemas.microsoft.com/office/drawing/2014/main" id="{F74DD8CA-CBCD-4D8A-ACEC-C2565792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375285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ED6DC"/>
            </a:solidFill>
            <a:prstDash val="solid"/>
          </a:ln>
        </p:spPr>
      </p:sp>
      <p:sp>
        <p:nvSpPr>
          <p:cNvPr id="21" name="text-2158">
            <a:extLst xmlns:a="http://schemas.openxmlformats.org/drawingml/2006/main">
              <a:ext uri="{FF2B5EF4-FFF2-40B4-BE49-F238E27FC236}">
                <a16:creationId xmlns:a16="http://schemas.microsoft.com/office/drawing/2014/main" id="{C9449DD0-3E65-41E1-91CA-4946F76D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9555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project/</a:t>
            </a:r>
          </a:p>
        </p:txBody>
      </p:sp>
      <p:sp>
        <p:nvSpPr>
          <p:cNvPr id="22" name="text-2159">
            <a:extLst xmlns:a="http://schemas.openxmlformats.org/drawingml/2006/main">
              <a:ext uri="{FF2B5EF4-FFF2-40B4-BE49-F238E27FC236}">
                <a16:creationId xmlns:a16="http://schemas.microsoft.com/office/drawing/2014/main" id="{1A07935E-40C2-4A84-A13C-91396D04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14625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|-- components/</a:t>
            </a:r>
          </a:p>
        </p:txBody>
      </p:sp>
      <p:sp>
        <p:nvSpPr>
          <p:cNvPr id="23" name="text-2160">
            <a:extLst xmlns:a="http://schemas.openxmlformats.org/drawingml/2006/main">
              <a:ext uri="{FF2B5EF4-FFF2-40B4-BE49-F238E27FC236}">
                <a16:creationId xmlns:a16="http://schemas.microsoft.com/office/drawing/2014/main" id="{90C4B60E-0206-448C-9EAD-834DC25A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3370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`-- AppButton.vue</a:t>
            </a:r>
          </a:p>
        </p:txBody>
      </p:sp>
      <p:sp>
        <p:nvSpPr>
          <p:cNvPr id="24" name="text-2161">
            <a:extLst xmlns:a="http://schemas.openxmlformats.org/drawingml/2006/main">
              <a:ext uri="{FF2B5EF4-FFF2-40B4-BE49-F238E27FC236}">
                <a16:creationId xmlns:a16="http://schemas.microsoft.com/office/drawing/2014/main" id="{7A248D5F-9A55-4735-BB16-2A4F9C06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52775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|-- styles/</a:t>
            </a:r>
          </a:p>
        </p:txBody>
      </p:sp>
      <p:sp>
        <p:nvSpPr>
          <p:cNvPr id="25" name="text-2162">
            <a:extLst xmlns:a="http://schemas.openxmlformats.org/drawingml/2006/main">
              <a:ext uri="{FF2B5EF4-FFF2-40B4-BE49-F238E27FC236}">
                <a16:creationId xmlns:a16="http://schemas.microsoft.com/office/drawing/2014/main" id="{5EEFC4C5-2E7C-4D35-88F9-559F6A1A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|-- tokens.css</a:t>
            </a:r>
          </a:p>
        </p:txBody>
      </p:sp>
      <p:sp>
        <p:nvSpPr>
          <p:cNvPr id="26" name="text-2163">
            <a:extLst xmlns:a="http://schemas.openxmlformats.org/drawingml/2006/main">
              <a:ext uri="{FF2B5EF4-FFF2-40B4-BE49-F238E27FC236}">
                <a16:creationId xmlns:a16="http://schemas.microsoft.com/office/drawing/2014/main" id="{E164F815-3E75-458B-AA6B-30C0B7BA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90925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|-- element-plus.css</a:t>
            </a:r>
          </a:p>
        </p:txBody>
      </p:sp>
      <p:sp>
        <p:nvSpPr>
          <p:cNvPr id="27" name="text-2164">
            <a:extLst xmlns:a="http://schemas.openxmlformats.org/drawingml/2006/main">
              <a:ext uri="{FF2B5EF4-FFF2-40B4-BE49-F238E27FC236}">
                <a16:creationId xmlns:a16="http://schemas.microsoft.com/office/drawing/2014/main" id="{B59A1C33-63E9-47C7-87D0-26E20071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1000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|-- button.css</a:t>
            </a:r>
          </a:p>
        </p:txBody>
      </p:sp>
      <p:sp>
        <p:nvSpPr>
          <p:cNvPr id="28" name="text-2165">
            <a:extLst xmlns:a="http://schemas.openxmlformats.org/drawingml/2006/main">
              <a:ext uri="{FF2B5EF4-FFF2-40B4-BE49-F238E27FC236}">
                <a16:creationId xmlns:a16="http://schemas.microsoft.com/office/drawing/2014/main" id="{885EC0F0-4D18-4B80-A375-323D4321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29075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`-- index.css</a:t>
            </a:r>
          </a:p>
        </p:txBody>
      </p:sp>
      <p:sp>
        <p:nvSpPr>
          <p:cNvPr id="29" name="text-2166">
            <a:extLst xmlns:a="http://schemas.openxmlformats.org/drawingml/2006/main">
              <a:ext uri="{FF2B5EF4-FFF2-40B4-BE49-F238E27FC236}">
                <a16:creationId xmlns:a16="http://schemas.microsoft.com/office/drawing/2014/main" id="{36240566-46A0-4259-8509-2FA16A56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4815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|-- pages/</a:t>
            </a:r>
          </a:p>
        </p:txBody>
      </p:sp>
      <p:sp>
        <p:nvSpPr>
          <p:cNvPr id="30" name="text-2167">
            <a:extLst xmlns:a="http://schemas.openxmlformats.org/drawingml/2006/main">
              <a:ext uri="{FF2B5EF4-FFF2-40B4-BE49-F238E27FC236}">
                <a16:creationId xmlns:a16="http://schemas.microsoft.com/office/drawing/2014/main" id="{357FCF2D-8AA0-4D5D-BCA7-70825C4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67225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`-- Apply.vue</a:t>
            </a:r>
          </a:p>
        </p:txBody>
      </p:sp>
      <p:sp>
        <p:nvSpPr>
          <p:cNvPr id="31" name="text-2168">
            <a:extLst xmlns:a="http://schemas.openxmlformats.org/drawingml/2006/main">
              <a:ext uri="{FF2B5EF4-FFF2-40B4-BE49-F238E27FC236}">
                <a16:creationId xmlns:a16="http://schemas.microsoft.com/office/drawing/2014/main" id="{466ED337-D5E5-41E2-8E51-9C8716A3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8630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`-- nuxt.config.ts</a:t>
            </a:r>
          </a:p>
        </p:txBody>
      </p:sp>
      <p:sp>
        <p:nvSpPr>
          <p:cNvPr id="32" name="text-2169">
            <a:extLst xmlns:a="http://schemas.openxmlformats.org/drawingml/2006/main">
              <a:ext uri="{FF2B5EF4-FFF2-40B4-BE49-F238E27FC236}">
                <a16:creationId xmlns:a16="http://schemas.microsoft.com/office/drawing/2014/main" id="{A867C80B-BA99-4C95-9834-E341F7E4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53025"/>
            <a:ext cx="3752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AppButton 統一規格；Apply.vue 保留業務流程。</a:t>
            </a:r>
          </a:p>
        </p:txBody>
      </p:sp>
      <p:sp>
        <p:nvSpPr>
          <p:cNvPr id="33" name="shape-2170">
            <a:extLst xmlns:a="http://schemas.openxmlformats.org/drawingml/2006/main">
              <a:ext uri="{FF2B5EF4-FFF2-40B4-BE49-F238E27FC236}">
                <a16:creationId xmlns:a16="http://schemas.microsoft.com/office/drawing/2014/main" id="{66B52897-7933-480C-9645-43AAD703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hape-2171">
            <a:extLst xmlns:a="http://schemas.openxmlformats.org/drawingml/2006/main">
              <a:ext uri="{FF2B5EF4-FFF2-40B4-BE49-F238E27FC236}">
                <a16:creationId xmlns:a16="http://schemas.microsoft.com/office/drawing/2014/main" id="{5A442F56-DD46-4876-A77A-02DC7CDC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2172">
            <a:extLst xmlns:a="http://schemas.openxmlformats.org/drawingml/2006/main">
              <a:ext uri="{FF2B5EF4-FFF2-40B4-BE49-F238E27FC236}">
                <a16:creationId xmlns:a16="http://schemas.microsoft.com/office/drawing/2014/main" id="{C8C8AC7C-BC40-41C2-9A57-9D124022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後續調整共同尺寸或載入規則時，可集中修改公司組件與樣式檔</a:t>
            </a:r>
          </a:p>
        </p:txBody>
      </p:sp>
    </p:spTree>
    <p:extLst>
      <p:ext uri="{BB962C8B-B14F-4D97-AF65-F5344CB8AC3E}">
        <p14:creationId xmlns:p14="http://schemas.microsoft.com/office/powerpoint/2010/main" val="27318827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hape-2173">
            <a:extLst xmlns:a="http://schemas.openxmlformats.org/drawingml/2006/main">
              <a:ext uri="{FF2B5EF4-FFF2-40B4-BE49-F238E27FC236}">
                <a16:creationId xmlns:a16="http://schemas.microsoft.com/office/drawing/2014/main" id="{2390C1C7-14FD-40B2-BC1E-3EAEA29B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174">
            <a:extLst xmlns:a="http://schemas.openxmlformats.org/drawingml/2006/main">
              <a:ext uri="{FF2B5EF4-FFF2-40B4-BE49-F238E27FC236}">
                <a16:creationId xmlns:a16="http://schemas.microsoft.com/office/drawing/2014/main" id="{D0F637E2-3A6E-41CD-BA30-BF5B781D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npm 套件的目錄結構</a:t>
            </a:r>
          </a:p>
        </p:txBody>
      </p:sp>
      <p:sp>
        <p:nvSpPr>
          <p:cNvPr id="3" name="text-2175">
            <a:extLst xmlns:a="http://schemas.openxmlformats.org/drawingml/2006/main">
              <a:ext uri="{FF2B5EF4-FFF2-40B4-BE49-F238E27FC236}">
                <a16:creationId xmlns:a16="http://schemas.microsoft.com/office/drawing/2014/main" id="{9E18A8A4-2985-42A0-A6A1-561EA107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把已驗證的共用檔案移到 @company/ui，再建置成可發布內容</a:t>
            </a:r>
          </a:p>
        </p:txBody>
      </p:sp>
      <p:sp>
        <p:nvSpPr>
          <p:cNvPr id="4" name="shape-2176">
            <a:extLst xmlns:a="http://schemas.openxmlformats.org/drawingml/2006/main">
              <a:ext uri="{FF2B5EF4-FFF2-40B4-BE49-F238E27FC236}">
                <a16:creationId xmlns:a16="http://schemas.microsoft.com/office/drawing/2014/main" id="{E8D91E92-0EB5-4A8B-8208-D1FB79A2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177">
            <a:extLst xmlns:a="http://schemas.openxmlformats.org/drawingml/2006/main">
              <a:ext uri="{FF2B5EF4-FFF2-40B4-BE49-F238E27FC236}">
                <a16:creationId xmlns:a16="http://schemas.microsoft.com/office/drawing/2014/main" id="{819C0F55-3F24-4D46-9DE1-1013A1F3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UI 組件封裝與導入規劃</a:t>
            </a:r>
          </a:p>
        </p:txBody>
      </p:sp>
      <p:sp>
        <p:nvSpPr>
          <p:cNvPr id="6" name="text-2178">
            <a:extLst xmlns:a="http://schemas.openxmlformats.org/drawingml/2006/main">
              <a:ext uri="{FF2B5EF4-FFF2-40B4-BE49-F238E27FC236}">
                <a16:creationId xmlns:a16="http://schemas.microsoft.com/office/drawing/2014/main" id="{271F7202-D922-4C7E-A9C3-ECC3F64C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21</a:t>
            </a:r>
          </a:p>
        </p:txBody>
      </p:sp>
      <p:sp>
        <p:nvSpPr>
          <p:cNvPr id="7" name="text-2179">
            <a:extLst xmlns:a="http://schemas.openxmlformats.org/drawingml/2006/main">
              <a:ext uri="{FF2B5EF4-FFF2-40B4-BE49-F238E27FC236}">
                <a16:creationId xmlns:a16="http://schemas.microsoft.com/office/drawing/2014/main" id="{B1F621F4-7706-4108-B3A5-BFA819D6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共用套件原始碼</a:t>
            </a:r>
          </a:p>
        </p:txBody>
      </p:sp>
      <p:sp>
        <p:nvSpPr>
          <p:cNvPr id="8" name="shape-2180">
            <a:extLst xmlns:a="http://schemas.openxmlformats.org/drawingml/2006/main">
              <a:ext uri="{FF2B5EF4-FFF2-40B4-BE49-F238E27FC236}">
                <a16:creationId xmlns:a16="http://schemas.microsoft.com/office/drawing/2014/main" id="{20A44468-2205-43C3-B348-945693FD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2578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ED6DC"/>
            </a:solidFill>
            <a:prstDash val="solid"/>
          </a:ln>
        </p:spPr>
      </p:sp>
      <p:sp>
        <p:nvSpPr>
          <p:cNvPr id="9" name="text-2181">
            <a:extLst xmlns:a="http://schemas.openxmlformats.org/drawingml/2006/main">
              <a:ext uri="{FF2B5EF4-FFF2-40B4-BE49-F238E27FC236}">
                <a16:creationId xmlns:a16="http://schemas.microsoft.com/office/drawing/2014/main" id="{CF075F03-B330-4B5A-A78A-49D80C65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app-ui/</a:t>
            </a:r>
          </a:p>
        </p:txBody>
      </p:sp>
      <p:sp>
        <p:nvSpPr>
          <p:cNvPr id="10" name="text-2182">
            <a:extLst xmlns:a="http://schemas.openxmlformats.org/drawingml/2006/main">
              <a:ext uri="{FF2B5EF4-FFF2-40B4-BE49-F238E27FC236}">
                <a16:creationId xmlns:a16="http://schemas.microsoft.com/office/drawing/2014/main" id="{26C136AC-9B9D-42AC-AB6D-4E1870CB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|-- src/</a:t>
            </a:r>
          </a:p>
        </p:txBody>
      </p:sp>
      <p:sp>
        <p:nvSpPr>
          <p:cNvPr id="11" name="text-2183">
            <a:extLst xmlns:a="http://schemas.openxmlformats.org/drawingml/2006/main">
              <a:ext uri="{FF2B5EF4-FFF2-40B4-BE49-F238E27FC236}">
                <a16:creationId xmlns:a16="http://schemas.microsoft.com/office/drawing/2014/main" id="{7953C615-91CF-42C2-806A-0FD8F861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|-- components/</a:t>
            </a:r>
          </a:p>
        </p:txBody>
      </p:sp>
      <p:sp>
        <p:nvSpPr>
          <p:cNvPr id="12" name="text-2184">
            <a:extLst xmlns:a="http://schemas.openxmlformats.org/drawingml/2006/main">
              <a:ext uri="{FF2B5EF4-FFF2-40B4-BE49-F238E27FC236}">
                <a16:creationId xmlns:a16="http://schemas.microsoft.com/office/drawing/2014/main" id="{EAA9A797-1D85-4DA7-90D5-7953ED49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|   `-- AppButton.vue</a:t>
            </a:r>
          </a:p>
        </p:txBody>
      </p:sp>
      <p:sp>
        <p:nvSpPr>
          <p:cNvPr id="13" name="text-2185">
            <a:extLst xmlns:a="http://schemas.openxmlformats.org/drawingml/2006/main">
              <a:ext uri="{FF2B5EF4-FFF2-40B4-BE49-F238E27FC236}">
                <a16:creationId xmlns:a16="http://schemas.microsoft.com/office/drawing/2014/main" id="{E3D0D73F-E269-4571-8DC3-83AA95B7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|-- styles/</a:t>
            </a:r>
          </a:p>
        </p:txBody>
      </p:sp>
      <p:sp>
        <p:nvSpPr>
          <p:cNvPr id="14" name="text-2186">
            <a:extLst xmlns:a="http://schemas.openxmlformats.org/drawingml/2006/main">
              <a:ext uri="{FF2B5EF4-FFF2-40B4-BE49-F238E27FC236}">
                <a16:creationId xmlns:a16="http://schemas.microsoft.com/office/drawing/2014/main" id="{778F97E8-E252-4C8E-B1D3-1EE8A7AF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|   |-- tokens.css</a:t>
            </a:r>
          </a:p>
        </p:txBody>
      </p:sp>
      <p:sp>
        <p:nvSpPr>
          <p:cNvPr id="15" name="text-2187">
            <a:extLst xmlns:a="http://schemas.openxmlformats.org/drawingml/2006/main">
              <a:ext uri="{FF2B5EF4-FFF2-40B4-BE49-F238E27FC236}">
                <a16:creationId xmlns:a16="http://schemas.microsoft.com/office/drawing/2014/main" id="{228756DA-FBA6-4138-BA19-FCDCBA38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|   |-- element-plus.css</a:t>
            </a:r>
          </a:p>
        </p:txBody>
      </p:sp>
      <p:sp>
        <p:nvSpPr>
          <p:cNvPr id="16" name="text-2188">
            <a:extLst xmlns:a="http://schemas.openxmlformats.org/drawingml/2006/main">
              <a:ext uri="{FF2B5EF4-FFF2-40B4-BE49-F238E27FC236}">
                <a16:creationId xmlns:a16="http://schemas.microsoft.com/office/drawing/2014/main" id="{057B0A3E-B2CC-4E85-99CD-39D588CE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|   |-- button.css</a:t>
            </a:r>
          </a:p>
        </p:txBody>
      </p:sp>
      <p:sp>
        <p:nvSpPr>
          <p:cNvPr id="17" name="text-2189">
            <a:extLst xmlns:a="http://schemas.openxmlformats.org/drawingml/2006/main">
              <a:ext uri="{FF2B5EF4-FFF2-40B4-BE49-F238E27FC236}">
                <a16:creationId xmlns:a16="http://schemas.microsoft.com/office/drawing/2014/main" id="{8D1AE193-335B-4296-AD75-B99A682E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|   `-- index.css</a:t>
            </a:r>
          </a:p>
        </p:txBody>
      </p:sp>
      <p:sp>
        <p:nvSpPr>
          <p:cNvPr id="18" name="text-2190">
            <a:extLst xmlns:a="http://schemas.openxmlformats.org/drawingml/2006/main">
              <a:ext uri="{FF2B5EF4-FFF2-40B4-BE49-F238E27FC236}">
                <a16:creationId xmlns:a16="http://schemas.microsoft.com/office/drawing/2014/main" id="{944BB339-34A0-4B6D-B973-F20AA409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`-- index.ts</a:t>
            </a:r>
          </a:p>
        </p:txBody>
      </p:sp>
      <p:sp>
        <p:nvSpPr>
          <p:cNvPr id="19" name="text-2191">
            <a:extLst xmlns:a="http://schemas.openxmlformats.org/drawingml/2006/main">
              <a:ext uri="{FF2B5EF4-FFF2-40B4-BE49-F238E27FC236}">
                <a16:creationId xmlns:a16="http://schemas.microsoft.com/office/drawing/2014/main" id="{33B17AAA-6EC7-4357-87D8-32E7D5F5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|-- package.json</a:t>
            </a:r>
          </a:p>
        </p:txBody>
      </p:sp>
      <p:sp>
        <p:nvSpPr>
          <p:cNvPr id="20" name="text-2192">
            <a:extLst xmlns:a="http://schemas.openxmlformats.org/drawingml/2006/main">
              <a:ext uri="{FF2B5EF4-FFF2-40B4-BE49-F238E27FC236}">
                <a16:creationId xmlns:a16="http://schemas.microsoft.com/office/drawing/2014/main" id="{247A98CD-EE7A-48EC-8B10-C582E37C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|-- vite.config.ts</a:t>
            </a:r>
          </a:p>
        </p:txBody>
      </p:sp>
      <p:sp>
        <p:nvSpPr>
          <p:cNvPr id="21" name="text-2193">
            <a:extLst xmlns:a="http://schemas.openxmlformats.org/drawingml/2006/main">
              <a:ext uri="{FF2B5EF4-FFF2-40B4-BE49-F238E27FC236}">
                <a16:creationId xmlns:a16="http://schemas.microsoft.com/office/drawing/2014/main" id="{76854C43-3B8B-448A-AD3D-779AAC64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|-- tsconfig.build.json</a:t>
            </a:r>
          </a:p>
        </p:txBody>
      </p:sp>
      <p:sp>
        <p:nvSpPr>
          <p:cNvPr id="22" name="text-2194">
            <a:extLst xmlns:a="http://schemas.openxmlformats.org/drawingml/2006/main">
              <a:ext uri="{FF2B5EF4-FFF2-40B4-BE49-F238E27FC236}">
                <a16:creationId xmlns:a16="http://schemas.microsoft.com/office/drawing/2014/main" id="{FD42AE97-135A-4E8C-AF3C-69AD7EB5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`-- ...</a:t>
            </a:r>
          </a:p>
        </p:txBody>
      </p:sp>
      <p:sp>
        <p:nvSpPr>
          <p:cNvPr id="23" name="text-2195">
            <a:extLst xmlns:a="http://schemas.openxmlformats.org/drawingml/2006/main">
              <a:ext uri="{FF2B5EF4-FFF2-40B4-BE49-F238E27FC236}">
                <a16:creationId xmlns:a16="http://schemas.microsoft.com/office/drawing/2014/main" id="{E1F8149E-10DE-4958-97DE-D53C7621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62150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建置後的交付內容</a:t>
            </a:r>
          </a:p>
        </p:txBody>
      </p:sp>
      <p:sp>
        <p:nvSpPr>
          <p:cNvPr id="24" name="shape-2196">
            <a:extLst xmlns:a="http://schemas.openxmlformats.org/drawingml/2006/main">
              <a:ext uri="{FF2B5EF4-FFF2-40B4-BE49-F238E27FC236}">
                <a16:creationId xmlns:a16="http://schemas.microsoft.com/office/drawing/2014/main" id="{19892B6E-EFB6-4515-8FB3-B1D0A048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5257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ED6DC"/>
            </a:solidFill>
            <a:prstDash val="solid"/>
          </a:ln>
        </p:spPr>
      </p:sp>
      <p:sp>
        <p:nvSpPr>
          <p:cNvPr id="25" name="text-2197">
            <a:extLst xmlns:a="http://schemas.openxmlformats.org/drawingml/2006/main">
              <a:ext uri="{FF2B5EF4-FFF2-40B4-BE49-F238E27FC236}">
                <a16:creationId xmlns:a16="http://schemas.microsoft.com/office/drawing/2014/main" id="{582FCF9D-CEBF-4A5D-8760-AFD73D1D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app-ui/dist/</a:t>
            </a:r>
          </a:p>
        </p:txBody>
      </p:sp>
      <p:sp>
        <p:nvSpPr>
          <p:cNvPr id="26" name="text-2198">
            <a:extLst xmlns:a="http://schemas.openxmlformats.org/drawingml/2006/main">
              <a:ext uri="{FF2B5EF4-FFF2-40B4-BE49-F238E27FC236}">
                <a16:creationId xmlns:a16="http://schemas.microsoft.com/office/drawing/2014/main" id="{83FFA098-1894-4AD1-9301-5295344C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|-- components/</a:t>
            </a:r>
          </a:p>
        </p:txBody>
      </p:sp>
      <p:sp>
        <p:nvSpPr>
          <p:cNvPr id="27" name="text-2199">
            <a:extLst xmlns:a="http://schemas.openxmlformats.org/drawingml/2006/main">
              <a:ext uri="{FF2B5EF4-FFF2-40B4-BE49-F238E27FC236}">
                <a16:creationId xmlns:a16="http://schemas.microsoft.com/office/drawing/2014/main" id="{2BFFB0EB-20A4-4623-8F61-DB0C60AC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33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   `-- AppButton.vue.d.ts</a:t>
            </a:r>
          </a:p>
        </p:txBody>
      </p:sp>
      <p:sp>
        <p:nvSpPr>
          <p:cNvPr id="28" name="text-2200">
            <a:extLst xmlns:a="http://schemas.openxmlformats.org/drawingml/2006/main">
              <a:ext uri="{FF2B5EF4-FFF2-40B4-BE49-F238E27FC236}">
                <a16:creationId xmlns:a16="http://schemas.microsoft.com/office/drawing/2014/main" id="{BE7684AB-2E65-4949-81AF-7305D2CF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527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|-- index.js</a:t>
            </a:r>
          </a:p>
        </p:txBody>
      </p:sp>
      <p:sp>
        <p:nvSpPr>
          <p:cNvPr id="29" name="text-2201">
            <a:extLst xmlns:a="http://schemas.openxmlformats.org/drawingml/2006/main">
              <a:ext uri="{FF2B5EF4-FFF2-40B4-BE49-F238E27FC236}">
                <a16:creationId xmlns:a16="http://schemas.microsoft.com/office/drawing/2014/main" id="{BC7F3BBB-20EF-4C67-B714-D28155D0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|-- index.d.ts</a:t>
            </a:r>
          </a:p>
        </p:txBody>
      </p:sp>
      <p:sp>
        <p:nvSpPr>
          <p:cNvPr id="30" name="text-2202">
            <a:extLst xmlns:a="http://schemas.openxmlformats.org/drawingml/2006/main">
              <a:ext uri="{FF2B5EF4-FFF2-40B4-BE49-F238E27FC236}">
                <a16:creationId xmlns:a16="http://schemas.microsoft.com/office/drawing/2014/main" id="{836E84F4-4E93-4DD7-90D6-B6B72FD9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909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|-- style.css</a:t>
            </a:r>
          </a:p>
        </p:txBody>
      </p:sp>
      <p:sp>
        <p:nvSpPr>
          <p:cNvPr id="31" name="text-2203">
            <a:extLst xmlns:a="http://schemas.openxmlformats.org/drawingml/2006/main">
              <a:ext uri="{FF2B5EF4-FFF2-40B4-BE49-F238E27FC236}">
                <a16:creationId xmlns:a16="http://schemas.microsoft.com/office/drawing/2014/main" id="{CC43A4C8-DF1B-4613-BD58-166FF0ED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|-- tokens.css</a:t>
            </a:r>
          </a:p>
        </p:txBody>
      </p:sp>
      <p:sp>
        <p:nvSpPr>
          <p:cNvPr id="32" name="text-2204">
            <a:extLst xmlns:a="http://schemas.openxmlformats.org/drawingml/2006/main">
              <a:ext uri="{FF2B5EF4-FFF2-40B4-BE49-F238E27FC236}">
                <a16:creationId xmlns:a16="http://schemas.microsoft.com/office/drawing/2014/main" id="{D938C15D-AD79-42D9-B60F-03F961E0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290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333333"/>
                </a:solidFill>
                <a:latin typeface="DejaVu Sans Mono"/>
                <a:ea typeface="DejaVu Sans Mono"/>
                <a:cs typeface="DejaVu Sans Mono"/>
              </a:rPr>
              <a:t>`-- element-plus.css</a:t>
            </a:r>
          </a:p>
        </p:txBody>
      </p:sp>
      <p:sp>
        <p:nvSpPr>
          <p:cNvPr id="33" name="shape-2205">
            <a:extLst xmlns:a="http://schemas.openxmlformats.org/drawingml/2006/main">
              <a:ext uri="{FF2B5EF4-FFF2-40B4-BE49-F238E27FC236}">
                <a16:creationId xmlns:a16="http://schemas.microsoft.com/office/drawing/2014/main" id="{0E82B6CE-A312-43F1-B05B-DABD69A2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29125"/>
            <a:ext cx="5257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ED6DC"/>
            </a:solidFill>
            <a:prstDash val="solid"/>
          </a:ln>
        </p:spPr>
      </p:sp>
      <p:sp>
        <p:nvSpPr>
          <p:cNvPr id="34" name="text-2206">
            <a:extLst xmlns:a="http://schemas.openxmlformats.org/drawingml/2006/main">
              <a:ext uri="{FF2B5EF4-FFF2-40B4-BE49-F238E27FC236}">
                <a16:creationId xmlns:a16="http://schemas.microsoft.com/office/drawing/2014/main" id="{928D32E9-67A3-4ED0-A754-4924D7F1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4342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008000"/>
                </a:solidFill>
                <a:latin typeface="DejaVu Sans Mono"/>
                <a:ea typeface="DejaVu Sans Mono"/>
                <a:cs typeface="DejaVu Sans Mono"/>
              </a:rPr>
              <a:t>// src/index.ts</a:t>
            </a:r>
          </a:p>
        </p:txBody>
      </p:sp>
      <p:sp>
        <p:nvSpPr>
          <p:cNvPr id="35" name="text-2207">
            <a:extLst xmlns:a="http://schemas.openxmlformats.org/drawingml/2006/main">
              <a:ext uri="{FF2B5EF4-FFF2-40B4-BE49-F238E27FC236}">
                <a16:creationId xmlns:a16="http://schemas.microsoft.com/office/drawing/2014/main" id="{AA6CC341-0474-48CB-A9F4-3AC16B5C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7202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AF00DB"/>
                </a:solidFill>
                <a:latin typeface="DejaVu Sans Mono"/>
                <a:ea typeface="DejaVu Sans Mono"/>
                <a:cs typeface="DejaVu Sans Mono"/>
              </a:rPr>
              <a:t>export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{ </a:t>
            </a:r>
            <a:r>
              <a:rPr sz="1500">
                <a:solidFill>
                  <a:srgbClr val="AF00DB"/>
                </a:solidFill>
                <a:latin typeface="DejaVu Sans Mono"/>
                <a:ea typeface="DejaVu Sans Mono"/>
                <a:cs typeface="DejaVu Sans Mono"/>
              </a:rPr>
              <a:t>default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00">
                <a:solidFill>
                  <a:srgbClr val="AF00DB"/>
                </a:solidFill>
                <a:latin typeface="DejaVu Sans Mono"/>
                <a:ea typeface="DejaVu Sans Mono"/>
                <a:cs typeface="DejaVu Sans Mono"/>
              </a:rPr>
              <a:t>as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00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AppButton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}</a:t>
            </a:r>
          </a:p>
        </p:txBody>
      </p:sp>
      <p:sp>
        <p:nvSpPr>
          <p:cNvPr id="36" name="text-2208">
            <a:extLst xmlns:a="http://schemas.openxmlformats.org/drawingml/2006/main">
              <a:ext uri="{FF2B5EF4-FFF2-40B4-BE49-F238E27FC236}">
                <a16:creationId xmlns:a16="http://schemas.microsoft.com/office/drawing/2014/main" id="{B0DEF12A-FDC1-41EF-8796-598D8B4D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0062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00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from</a:t>
            </a:r>
            <a:r>
              <a:rPr sz="1500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00">
                <a:solidFill>
                  <a:srgbClr val="A31515"/>
                </a:solidFill>
                <a:latin typeface="DejaVu Sans Mono"/>
                <a:ea typeface="DejaVu Sans Mono"/>
                <a:cs typeface="DejaVu Sans Mono"/>
              </a:rPr>
              <a:t>'./components/AppButton.vue'</a:t>
            </a:r>
          </a:p>
        </p:txBody>
      </p:sp>
      <p:sp>
        <p:nvSpPr>
          <p:cNvPr id="37" name="shape-2209">
            <a:extLst xmlns:a="http://schemas.openxmlformats.org/drawingml/2006/main">
              <a:ext uri="{FF2B5EF4-FFF2-40B4-BE49-F238E27FC236}">
                <a16:creationId xmlns:a16="http://schemas.microsoft.com/office/drawing/2014/main" id="{29E599FF-C92C-4A14-A732-197063F5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hape-2210">
            <a:extLst xmlns:a="http://schemas.openxmlformats.org/drawingml/2006/main">
              <a:ext uri="{FF2B5EF4-FFF2-40B4-BE49-F238E27FC236}">
                <a16:creationId xmlns:a16="http://schemas.microsoft.com/office/drawing/2014/main" id="{A07E9311-51B8-49AD-B28F-CDC9F45D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-2211">
            <a:extLst xmlns:a="http://schemas.openxmlformats.org/drawingml/2006/main">
              <a:ext uri="{FF2B5EF4-FFF2-40B4-BE49-F238E27FC236}">
                <a16:creationId xmlns:a16="http://schemas.microsoft.com/office/drawing/2014/main" id="{E7764D38-6267-4CE4-8345-90D73E39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原始碼編譯為 dist，package.json 定義組件與 CSS 的對外入口</a:t>
            </a:r>
          </a:p>
        </p:txBody>
      </p:sp>
    </p:spTree>
    <p:extLst>
      <p:ext uri="{BB962C8B-B14F-4D97-AF65-F5344CB8AC3E}">
        <p14:creationId xmlns:p14="http://schemas.microsoft.com/office/powerpoint/2010/main" val="2420992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hape-2212">
            <a:extLst xmlns:a="http://schemas.openxmlformats.org/drawingml/2006/main">
              <a:ext uri="{FF2B5EF4-FFF2-40B4-BE49-F238E27FC236}">
                <a16:creationId xmlns:a16="http://schemas.microsoft.com/office/drawing/2014/main" id="{A7C6FA3F-A399-40DD-87AA-5EE7415A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213">
            <a:extLst xmlns:a="http://schemas.openxmlformats.org/drawingml/2006/main">
              <a:ext uri="{FF2B5EF4-FFF2-40B4-BE49-F238E27FC236}">
                <a16:creationId xmlns:a16="http://schemas.microsoft.com/office/drawing/2014/main" id="{FD3F247F-7BEC-436E-AD4B-C87DF18A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>
                <a:solidFill>
                  <a:srgbClr val="142B3B"/>
                </a:solidFill>
                <a:latin typeface="Noto Sans CJK TC"/>
                <a:ea typeface="Noto Sans CJK TC"/>
                <a:cs typeface="Noto Sans CJK TC"/>
              </a:rPr>
              <a:t>新專案安裝與使用套件</a:t>
            </a:r>
          </a:p>
        </p:txBody>
      </p:sp>
      <p:sp>
        <p:nvSpPr>
          <p:cNvPr id="3" name="text-2214">
            <a:extLst xmlns:a="http://schemas.openxmlformats.org/drawingml/2006/main">
              <a:ext uri="{FF2B5EF4-FFF2-40B4-BE49-F238E27FC236}">
                <a16:creationId xmlns:a16="http://schemas.microsoft.com/office/drawing/2014/main" id="{3857DE9E-A7B5-43AA-ACE4-7F189549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使用端只改組件來源，共用規格由指定套件版本提供</a:t>
            </a:r>
          </a:p>
        </p:txBody>
      </p:sp>
      <p:sp>
        <p:nvSpPr>
          <p:cNvPr id="4" name="shape-2215">
            <a:extLst xmlns:a="http://schemas.openxmlformats.org/drawingml/2006/main">
              <a:ext uri="{FF2B5EF4-FFF2-40B4-BE49-F238E27FC236}">
                <a16:creationId xmlns:a16="http://schemas.microsoft.com/office/drawing/2014/main" id="{A26E438E-2B52-456C-B982-D29808CF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216">
            <a:extLst xmlns:a="http://schemas.openxmlformats.org/drawingml/2006/main">
              <a:ext uri="{FF2B5EF4-FFF2-40B4-BE49-F238E27FC236}">
                <a16:creationId xmlns:a16="http://schemas.microsoft.com/office/drawing/2014/main" id="{5149994B-8E39-41CC-837D-D2CD056A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UI 組件封裝與導入規劃</a:t>
            </a:r>
          </a:p>
        </p:txBody>
      </p:sp>
      <p:sp>
        <p:nvSpPr>
          <p:cNvPr id="6" name="text-2217">
            <a:extLst xmlns:a="http://schemas.openxmlformats.org/drawingml/2006/main">
              <a:ext uri="{FF2B5EF4-FFF2-40B4-BE49-F238E27FC236}">
                <a16:creationId xmlns:a16="http://schemas.microsoft.com/office/drawing/2014/main" id="{65796D3A-7722-4A04-9514-5503FC62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E6E76"/>
                </a:solidFill>
                <a:latin typeface="Noto Sans CJK TC"/>
                <a:ea typeface="Noto Sans CJK TC"/>
                <a:cs typeface="Noto Sans CJK TC"/>
              </a:rPr>
              <a:t>22</a:t>
            </a:r>
          </a:p>
        </p:txBody>
      </p:sp>
      <p:sp>
        <p:nvSpPr>
          <p:cNvPr id="7" name="text-2218">
            <a:extLst xmlns:a="http://schemas.openxmlformats.org/drawingml/2006/main">
              <a:ext uri="{FF2B5EF4-FFF2-40B4-BE49-F238E27FC236}">
                <a16:creationId xmlns:a16="http://schemas.microsoft.com/office/drawing/2014/main" id="{4554C4D1-BD5B-4F60-9675-25668000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57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安裝、全域 CSS 與專案目錄</a:t>
            </a:r>
          </a:p>
        </p:txBody>
      </p:sp>
      <p:sp>
        <p:nvSpPr>
          <p:cNvPr id="8" name="shape-2219">
            <a:extLst xmlns:a="http://schemas.openxmlformats.org/drawingml/2006/main">
              <a:ext uri="{FF2B5EF4-FFF2-40B4-BE49-F238E27FC236}">
                <a16:creationId xmlns:a16="http://schemas.microsoft.com/office/drawing/2014/main" id="{8E56263B-E253-4147-9293-758BF715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572125" cy="305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ED6DC"/>
            </a:solidFill>
            <a:prstDash val="solid"/>
          </a:ln>
        </p:spPr>
      </p:sp>
      <p:sp>
        <p:nvSpPr>
          <p:cNvPr id="9" name="text-2220">
            <a:extLst xmlns:a="http://schemas.openxmlformats.org/drawingml/2006/main">
              <a:ext uri="{FF2B5EF4-FFF2-40B4-BE49-F238E27FC236}">
                <a16:creationId xmlns:a16="http://schemas.microsoft.com/office/drawing/2014/main" id="{8B4D1CA3-AFAE-4756-9FED-C237929C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5267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npm</a:t>
            </a:r>
            <a:r>
              <a:rPr sz="142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425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install</a:t>
            </a:r>
            <a:r>
              <a:rPr sz="142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--</a:t>
            </a:r>
            <a:r>
              <a:rPr sz="1425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save</a:t>
            </a:r>
            <a:r>
              <a:rPr sz="142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-</a:t>
            </a:r>
            <a:r>
              <a:rPr sz="1425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exact</a:t>
            </a:r>
            <a:r>
              <a:rPr sz="142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@</a:t>
            </a:r>
            <a:r>
              <a:rPr sz="1425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company</a:t>
            </a:r>
            <a:r>
              <a:rPr sz="142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/</a:t>
            </a:r>
            <a:r>
              <a:rPr sz="1425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ui</a:t>
            </a:r>
            <a:r>
              <a:rPr sz="142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@</a:t>
            </a:r>
            <a:r>
              <a:rPr sz="1425">
                <a:solidFill>
                  <a:srgbClr val="098658"/>
                </a:solidFill>
                <a:latin typeface="DejaVu Sans Mono"/>
                <a:ea typeface="DejaVu Sans Mono"/>
                <a:cs typeface="DejaVu Sans Mono"/>
              </a:rPr>
              <a:t>0.1</a:t>
            </a:r>
            <a:r>
              <a:rPr sz="142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425">
                <a:solidFill>
                  <a:srgbClr val="098658"/>
                </a:solidFill>
                <a:latin typeface="DejaVu Sans Mono"/>
                <a:ea typeface="DejaVu Sans Mono"/>
                <a:cs typeface="DejaVu Sans Mono"/>
              </a:rPr>
              <a:t>0</a:t>
            </a:r>
          </a:p>
        </p:txBody>
      </p:sp>
      <p:sp>
        <p:nvSpPr>
          <p:cNvPr id="10" name="text-2221">
            <a:extLst xmlns:a="http://schemas.openxmlformats.org/drawingml/2006/main">
              <a:ext uri="{FF2B5EF4-FFF2-40B4-BE49-F238E27FC236}">
                <a16:creationId xmlns:a16="http://schemas.microsoft.com/office/drawing/2014/main" id="{3C31EA47-765C-48BD-9D11-B535E990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5267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</a:p>
        </p:txBody>
      </p:sp>
      <p:sp>
        <p:nvSpPr>
          <p:cNvPr id="11" name="text-2222">
            <a:extLst xmlns:a="http://schemas.openxmlformats.org/drawingml/2006/main">
              <a:ext uri="{FF2B5EF4-FFF2-40B4-BE49-F238E27FC236}">
                <a16:creationId xmlns:a16="http://schemas.microsoft.com/office/drawing/2014/main" id="{CCF8B799-3447-4A66-AF6F-CE2CD43B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5267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>
                <a:solidFill>
                  <a:srgbClr val="008000"/>
                </a:solidFill>
                <a:latin typeface="DejaVu Sans Mono"/>
                <a:ea typeface="DejaVu Sans Mono"/>
                <a:cs typeface="DejaVu Sans Mono"/>
              </a:rPr>
              <a:t>// nuxt.config.ts</a:t>
            </a:r>
          </a:p>
        </p:txBody>
      </p:sp>
      <p:sp>
        <p:nvSpPr>
          <p:cNvPr id="12" name="text-2223">
            <a:extLst xmlns:a="http://schemas.openxmlformats.org/drawingml/2006/main">
              <a:ext uri="{FF2B5EF4-FFF2-40B4-BE49-F238E27FC236}">
                <a16:creationId xmlns:a16="http://schemas.microsoft.com/office/drawing/2014/main" id="{882C7AD0-EA49-405D-9E4A-98B731F4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5267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>
                <a:solidFill>
                  <a:srgbClr val="AF00DB"/>
                </a:solidFill>
                <a:latin typeface="DejaVu Sans Mono"/>
                <a:ea typeface="DejaVu Sans Mono"/>
                <a:cs typeface="DejaVu Sans Mono"/>
              </a:rPr>
              <a:t>export</a:t>
            </a:r>
            <a:r>
              <a:rPr sz="142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425">
                <a:solidFill>
                  <a:srgbClr val="AF00DB"/>
                </a:solidFill>
                <a:latin typeface="DejaVu Sans Mono"/>
                <a:ea typeface="DejaVu Sans Mono"/>
                <a:cs typeface="DejaVu Sans Mono"/>
              </a:rPr>
              <a:t>default</a:t>
            </a:r>
            <a:r>
              <a:rPr sz="142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425">
                <a:solidFill>
                  <a:srgbClr val="795E26"/>
                </a:solidFill>
                <a:latin typeface="DejaVu Sans Mono"/>
                <a:ea typeface="DejaVu Sans Mono"/>
                <a:cs typeface="DejaVu Sans Mono"/>
              </a:rPr>
              <a:t>defineNuxtConfig</a:t>
            </a:r>
            <a:r>
              <a:rPr sz="142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({ </a:t>
            </a:r>
            <a:r>
              <a:rPr sz="1425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css:</a:t>
            </a:r>
            <a:r>
              <a:rPr sz="142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[</a:t>
            </a:r>
          </a:p>
        </p:txBody>
      </p:sp>
      <p:sp>
        <p:nvSpPr>
          <p:cNvPr id="13" name="text-2224">
            <a:extLst xmlns:a="http://schemas.openxmlformats.org/drawingml/2006/main">
              <a:ext uri="{FF2B5EF4-FFF2-40B4-BE49-F238E27FC236}">
                <a16:creationId xmlns:a16="http://schemas.microsoft.com/office/drawing/2014/main" id="{5376C826-3CB9-41D0-B407-EADD77BF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5267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425">
                <a:solidFill>
                  <a:srgbClr val="A31515"/>
                </a:solidFill>
                <a:latin typeface="DejaVu Sans Mono"/>
                <a:ea typeface="DejaVu Sans Mono"/>
                <a:cs typeface="DejaVu Sans Mono"/>
              </a:rPr>
              <a:t>'element-plus/dist/index.css'</a:t>
            </a:r>
            <a:r>
              <a:rPr sz="142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</p:txBody>
      </p:sp>
      <p:sp>
        <p:nvSpPr>
          <p:cNvPr id="14" name="text-2225">
            <a:extLst xmlns:a="http://schemas.openxmlformats.org/drawingml/2006/main">
              <a:ext uri="{FF2B5EF4-FFF2-40B4-BE49-F238E27FC236}">
                <a16:creationId xmlns:a16="http://schemas.microsoft.com/office/drawing/2014/main" id="{072583DC-59FE-4D4A-975E-F0098EAB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5267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425">
                <a:solidFill>
                  <a:srgbClr val="A31515"/>
                </a:solidFill>
                <a:latin typeface="DejaVu Sans Mono"/>
                <a:ea typeface="DejaVu Sans Mono"/>
                <a:cs typeface="DejaVu Sans Mono"/>
              </a:rPr>
              <a:t>'@company/ui/style.css'</a:t>
            </a:r>
          </a:p>
        </p:txBody>
      </p:sp>
      <p:sp>
        <p:nvSpPr>
          <p:cNvPr id="15" name="text-2226">
            <a:extLst xmlns:a="http://schemas.openxmlformats.org/drawingml/2006/main">
              <a:ext uri="{FF2B5EF4-FFF2-40B4-BE49-F238E27FC236}">
                <a16:creationId xmlns:a16="http://schemas.microsoft.com/office/drawing/2014/main" id="{5F15158B-2345-4150-AE80-EFDA4F5A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5267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] })</a:t>
            </a:r>
          </a:p>
        </p:txBody>
      </p:sp>
      <p:sp>
        <p:nvSpPr>
          <p:cNvPr id="16" name="text-2227">
            <a:extLst xmlns:a="http://schemas.openxmlformats.org/drawingml/2006/main">
              <a:ext uri="{FF2B5EF4-FFF2-40B4-BE49-F238E27FC236}">
                <a16:creationId xmlns:a16="http://schemas.microsoft.com/office/drawing/2014/main" id="{BBAEE9FF-5910-4715-BE90-13B8B0E4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5267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</a:p>
        </p:txBody>
      </p:sp>
      <p:sp>
        <p:nvSpPr>
          <p:cNvPr id="17" name="text-2228">
            <a:extLst xmlns:a="http://schemas.openxmlformats.org/drawingml/2006/main">
              <a:ext uri="{FF2B5EF4-FFF2-40B4-BE49-F238E27FC236}">
                <a16:creationId xmlns:a16="http://schemas.microsoft.com/office/drawing/2014/main" id="{DCD61237-1C48-44E8-874C-BC8EC0FC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5267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>
                <a:solidFill>
                  <a:srgbClr val="008000"/>
                </a:solidFill>
                <a:latin typeface="DejaVu Sans Mono"/>
                <a:ea typeface="DejaVu Sans Mono"/>
                <a:cs typeface="DejaVu Sans Mono"/>
              </a:rPr>
              <a:t>// project/</a:t>
            </a:r>
          </a:p>
        </p:txBody>
      </p:sp>
      <p:sp>
        <p:nvSpPr>
          <p:cNvPr id="18" name="text-2229">
            <a:extLst xmlns:a="http://schemas.openxmlformats.org/drawingml/2006/main">
              <a:ext uri="{FF2B5EF4-FFF2-40B4-BE49-F238E27FC236}">
                <a16:creationId xmlns:a16="http://schemas.microsoft.com/office/drawing/2014/main" id="{2A90C976-8B05-4B71-85B4-975C045D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5267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>
                <a:solidFill>
                  <a:srgbClr val="008000"/>
                </a:solidFill>
                <a:latin typeface="DejaVu Sans Mono"/>
                <a:ea typeface="DejaVu Sans Mono"/>
                <a:cs typeface="DejaVu Sans Mono"/>
              </a:rPr>
              <a:t>// |-- nuxt.config.ts</a:t>
            </a:r>
          </a:p>
        </p:txBody>
      </p:sp>
      <p:sp>
        <p:nvSpPr>
          <p:cNvPr id="19" name="text-2230">
            <a:extLst xmlns:a="http://schemas.openxmlformats.org/drawingml/2006/main">
              <a:ext uri="{FF2B5EF4-FFF2-40B4-BE49-F238E27FC236}">
                <a16:creationId xmlns:a16="http://schemas.microsoft.com/office/drawing/2014/main" id="{74C2F2EF-EEC5-4B13-8AB4-C87CDE4E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5267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>
                <a:solidFill>
                  <a:srgbClr val="008000"/>
                </a:solidFill>
                <a:latin typeface="DejaVu Sans Mono"/>
                <a:ea typeface="DejaVu Sans Mono"/>
                <a:cs typeface="DejaVu Sans Mono"/>
              </a:rPr>
              <a:t>// `-- pages/Apply.vue</a:t>
            </a:r>
          </a:p>
        </p:txBody>
      </p:sp>
      <p:sp>
        <p:nvSpPr>
          <p:cNvPr id="20" name="text-2231">
            <a:extLst xmlns:a="http://schemas.openxmlformats.org/drawingml/2006/main">
              <a:ext uri="{FF2B5EF4-FFF2-40B4-BE49-F238E27FC236}">
                <a16:creationId xmlns:a16="http://schemas.microsoft.com/office/drawing/2014/main" id="{C5B93134-2A89-4641-974B-1AE6CD60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962150"/>
            <a:ext cx="5019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pages/Apply.vue（節錄）</a:t>
            </a:r>
          </a:p>
        </p:txBody>
      </p:sp>
      <p:sp>
        <p:nvSpPr>
          <p:cNvPr id="21" name="shape-2232">
            <a:extLst xmlns:a="http://schemas.openxmlformats.org/drawingml/2006/main">
              <a:ext uri="{FF2B5EF4-FFF2-40B4-BE49-F238E27FC236}">
                <a16:creationId xmlns:a16="http://schemas.microsoft.com/office/drawing/2014/main" id="{C4322F6B-4A3E-49FC-9DF9-18ABCBB5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381250"/>
            <a:ext cx="5019675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ED6DC"/>
            </a:solidFill>
            <a:prstDash val="solid"/>
          </a:ln>
        </p:spPr>
      </p:sp>
      <p:sp>
        <p:nvSpPr>
          <p:cNvPr id="22" name="text-2233">
            <a:extLst xmlns:a="http://schemas.openxmlformats.org/drawingml/2006/main">
              <a:ext uri="{FF2B5EF4-FFF2-40B4-BE49-F238E27FC236}">
                <a16:creationId xmlns:a16="http://schemas.microsoft.com/office/drawing/2014/main" id="{2E6EF718-59B9-4750-8663-BD0E3BE5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95550"/>
            <a:ext cx="471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&lt;script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setup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lang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75">
                <a:solidFill>
                  <a:srgbClr val="0000FF"/>
                </a:solidFill>
                <a:latin typeface="DejaVu Sans Mono"/>
                <a:ea typeface="DejaVu Sans Mono"/>
                <a:cs typeface="DejaVu Sans Mono"/>
              </a:rPr>
              <a:t>"ts"</a:t>
            </a:r>
            <a:r>
              <a:rPr sz="1575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&gt;</a:t>
            </a:r>
          </a:p>
        </p:txBody>
      </p:sp>
      <p:sp>
        <p:nvSpPr>
          <p:cNvPr id="23" name="text-2234">
            <a:extLst xmlns:a="http://schemas.openxmlformats.org/drawingml/2006/main">
              <a:ext uri="{FF2B5EF4-FFF2-40B4-BE49-F238E27FC236}">
                <a16:creationId xmlns:a16="http://schemas.microsoft.com/office/drawing/2014/main" id="{078A4FEA-35D5-45CA-A8D7-02D8FAC1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71775"/>
            <a:ext cx="471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AF00DB"/>
                </a:solidFill>
                <a:latin typeface="DejaVu Sans Mono"/>
                <a:ea typeface="DejaVu Sans Mono"/>
                <a:cs typeface="DejaVu Sans Mono"/>
              </a:rPr>
              <a:t>import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{ </a:t>
            </a:r>
            <a:r>
              <a:rPr sz="1575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AppButton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}</a:t>
            </a:r>
          </a:p>
        </p:txBody>
      </p:sp>
      <p:sp>
        <p:nvSpPr>
          <p:cNvPr id="24" name="text-2235">
            <a:extLst xmlns:a="http://schemas.openxmlformats.org/drawingml/2006/main">
              <a:ext uri="{FF2B5EF4-FFF2-40B4-BE49-F238E27FC236}">
                <a16:creationId xmlns:a16="http://schemas.microsoft.com/office/drawing/2014/main" id="{66651BFA-5BB5-49AA-8B86-F86DD025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48000"/>
            <a:ext cx="471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75">
                <a:solidFill>
                  <a:srgbClr val="AF00DB"/>
                </a:solidFill>
                <a:latin typeface="DejaVu Sans Mono"/>
                <a:ea typeface="DejaVu Sans Mono"/>
                <a:cs typeface="DejaVu Sans Mono"/>
              </a:rPr>
              <a:t>from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A31515"/>
                </a:solidFill>
                <a:latin typeface="DejaVu Sans Mono"/>
                <a:ea typeface="DejaVu Sans Mono"/>
                <a:cs typeface="DejaVu Sans Mono"/>
              </a:rPr>
              <a:t>'@company/ui'</a:t>
            </a:r>
          </a:p>
        </p:txBody>
      </p:sp>
      <p:sp>
        <p:nvSpPr>
          <p:cNvPr id="25" name="text-2236">
            <a:extLst xmlns:a="http://schemas.openxmlformats.org/drawingml/2006/main">
              <a:ext uri="{FF2B5EF4-FFF2-40B4-BE49-F238E27FC236}">
                <a16:creationId xmlns:a16="http://schemas.microsoft.com/office/drawing/2014/main" id="{E3B0AB04-AE81-41C0-BCAE-164B2DB3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24225"/>
            <a:ext cx="471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&lt;/script&gt;</a:t>
            </a:r>
          </a:p>
        </p:txBody>
      </p:sp>
      <p:sp>
        <p:nvSpPr>
          <p:cNvPr id="26" name="text-2237">
            <a:extLst xmlns:a="http://schemas.openxmlformats.org/drawingml/2006/main">
              <a:ext uri="{FF2B5EF4-FFF2-40B4-BE49-F238E27FC236}">
                <a16:creationId xmlns:a16="http://schemas.microsoft.com/office/drawing/2014/main" id="{C21CCA92-A8BD-4FD3-80BA-4D5C8E96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00450"/>
            <a:ext cx="471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&lt;template&gt;</a:t>
            </a:r>
          </a:p>
        </p:txBody>
      </p:sp>
      <p:sp>
        <p:nvSpPr>
          <p:cNvPr id="27" name="text-2238">
            <a:extLst xmlns:a="http://schemas.openxmlformats.org/drawingml/2006/main">
              <a:ext uri="{FF2B5EF4-FFF2-40B4-BE49-F238E27FC236}">
                <a16:creationId xmlns:a16="http://schemas.microsoft.com/office/drawing/2014/main" id="{91C4FC87-11DC-45D7-8997-393D269A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76675"/>
            <a:ext cx="471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75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&lt;AppButton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: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loading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  <a:r>
              <a:rPr sz="1575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saving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</a:p>
        </p:txBody>
      </p:sp>
      <p:sp>
        <p:nvSpPr>
          <p:cNvPr id="28" name="text-2239">
            <a:extLst xmlns:a="http://schemas.openxmlformats.org/drawingml/2006/main">
              <a:ext uri="{FF2B5EF4-FFF2-40B4-BE49-F238E27FC236}">
                <a16:creationId xmlns:a16="http://schemas.microsoft.com/office/drawing/2014/main" id="{3AF7C9D9-7AB6-4D40-BB44-0118A7CF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52900"/>
            <a:ext cx="471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  :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disabled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!</a:t>
            </a:r>
            <a:r>
              <a:rPr sz="1575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canSubmit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</a:p>
        </p:txBody>
      </p:sp>
      <p:sp>
        <p:nvSpPr>
          <p:cNvPr id="29" name="text-2240">
            <a:extLst xmlns:a="http://schemas.openxmlformats.org/drawingml/2006/main">
              <a:ext uri="{FF2B5EF4-FFF2-40B4-BE49-F238E27FC236}">
                <a16:creationId xmlns:a16="http://schemas.microsoft.com/office/drawing/2014/main" id="{CB570F9F-28D9-4090-939A-18D0D3E0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29125"/>
            <a:ext cx="471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  @</a:t>
            </a:r>
            <a:r>
              <a:rPr sz="1575">
                <a:solidFill>
                  <a:srgbClr val="E50000"/>
                </a:solidFill>
                <a:latin typeface="DejaVu Sans Mono"/>
                <a:ea typeface="DejaVu Sans Mono"/>
                <a:cs typeface="DejaVu Sans Mono"/>
              </a:rPr>
              <a:t>click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=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  <a:r>
              <a:rPr sz="1575">
                <a:solidFill>
                  <a:srgbClr val="001080"/>
                </a:solidFill>
                <a:latin typeface="DejaVu Sans Mono"/>
                <a:ea typeface="DejaVu Sans Mono"/>
                <a:cs typeface="DejaVu Sans Mono"/>
              </a:rPr>
              <a:t>submit</a:t>
            </a: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"</a:t>
            </a:r>
            <a:r>
              <a:rPr sz="1575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&gt;</a:t>
            </a:r>
          </a:p>
        </p:txBody>
      </p:sp>
      <p:sp>
        <p:nvSpPr>
          <p:cNvPr id="30" name="text-2241">
            <a:extLst xmlns:a="http://schemas.openxmlformats.org/drawingml/2006/main">
              <a:ext uri="{FF2B5EF4-FFF2-40B4-BE49-F238E27FC236}">
                <a16:creationId xmlns:a16="http://schemas.microsoft.com/office/drawing/2014/main" id="{58688566-B835-42FC-91EC-BC2E67BD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05350"/>
            <a:ext cx="471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  送出申請</a:t>
            </a:r>
          </a:p>
        </p:txBody>
      </p:sp>
      <p:sp>
        <p:nvSpPr>
          <p:cNvPr id="31" name="text-2242">
            <a:extLst xmlns:a="http://schemas.openxmlformats.org/drawingml/2006/main">
              <a:ext uri="{FF2B5EF4-FFF2-40B4-BE49-F238E27FC236}">
                <a16:creationId xmlns:a16="http://schemas.microsoft.com/office/drawing/2014/main" id="{B23107CB-1142-4A11-9A30-442B734B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81575"/>
            <a:ext cx="471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000000"/>
                </a:solidFill>
                <a:latin typeface="DejaVu Sans Mono"/>
                <a:ea typeface="DejaVu Sans Mono"/>
                <a:cs typeface="DejaVu Sans Mono"/>
              </a:rPr>
              <a:t>  </a:t>
            </a:r>
            <a:r>
              <a:rPr sz="1575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&lt;/AppButton&gt;</a:t>
            </a:r>
          </a:p>
        </p:txBody>
      </p:sp>
      <p:sp>
        <p:nvSpPr>
          <p:cNvPr id="32" name="text-2243">
            <a:extLst xmlns:a="http://schemas.openxmlformats.org/drawingml/2006/main">
              <a:ext uri="{FF2B5EF4-FFF2-40B4-BE49-F238E27FC236}">
                <a16:creationId xmlns:a16="http://schemas.microsoft.com/office/drawing/2014/main" id="{F1C45BFA-B9F6-4D24-AEBA-CA294959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57800"/>
            <a:ext cx="471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800000"/>
                </a:solidFill>
                <a:latin typeface="DejaVu Sans Mono"/>
                <a:ea typeface="DejaVu Sans Mono"/>
                <a:cs typeface="DejaVu Sans Mono"/>
              </a:rPr>
              <a:t>&lt;/template&gt;</a:t>
            </a:r>
          </a:p>
        </p:txBody>
      </p:sp>
      <p:sp>
        <p:nvSpPr>
          <p:cNvPr id="33" name="shape-2244">
            <a:extLst xmlns:a="http://schemas.openxmlformats.org/drawingml/2006/main">
              <a:ext uri="{FF2B5EF4-FFF2-40B4-BE49-F238E27FC236}">
                <a16:creationId xmlns:a16="http://schemas.microsoft.com/office/drawing/2014/main" id="{DB55B6B6-2A9F-4450-99CA-17DBC11F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hape-2245">
            <a:extLst xmlns:a="http://schemas.openxmlformats.org/drawingml/2006/main">
              <a:ext uri="{FF2B5EF4-FFF2-40B4-BE49-F238E27FC236}">
                <a16:creationId xmlns:a16="http://schemas.microsoft.com/office/drawing/2014/main" id="{96115E47-AFCF-4021-8419-A9F6A60C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2246">
            <a:extLst xmlns:a="http://schemas.openxmlformats.org/drawingml/2006/main">
              <a:ext uri="{FF2B5EF4-FFF2-40B4-BE49-F238E27FC236}">
                <a16:creationId xmlns:a16="http://schemas.microsoft.com/office/drawing/2014/main" id="{4B7B57BB-DF76-4B11-9E79-B32E4C42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>
                <a:solidFill>
                  <a:srgbClr val="007F79"/>
                </a:solidFill>
                <a:latin typeface="Noto Sans CJK TC"/>
                <a:ea typeface="Noto Sans CJK TC"/>
                <a:cs typeface="Noto Sans CJK TC"/>
              </a:rPr>
              <a:t>專案固定使用指定版本，並依文件載入公司樣式及共用組件</a:t>
            </a:r>
          </a:p>
        </p:txBody>
      </p:sp>
    </p:spTree>
    <p:extLst>
      <p:ext uri="{BB962C8B-B14F-4D97-AF65-F5344CB8AC3E}">
        <p14:creationId xmlns:p14="http://schemas.microsoft.com/office/powerpoint/2010/main" val="11799548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2026-10-26T13:53:05.0220000Z</dcterms:created>
  <dcterms:modified xsi:type="dcterms:W3CDTF">2026-10-26T13:53:05.0220000Z</dcterms:modified>
</coreProperties>
</file>